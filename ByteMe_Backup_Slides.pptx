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18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C3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F1C30"/>
                </a:solidFill>
                <a:latin typeface="Arial"/>
              </a:rPr>
              <a:t>MAE % — Lower is Better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%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EEE-6B49-B315-31DDC5300BB9}"/>
              </c:ext>
            </c:extLst>
          </c:dPt>
          <c:dPt>
            <c:idx val="1"/>
            <c:invertIfNegative val="0"/>
            <c:bubble3D val="0"/>
            <c:spPr>
              <a:solidFill>
                <a:srgbClr val="2C52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EE-6B49-B315-31DDC5300BB9}"/>
              </c:ext>
            </c:extLst>
          </c:dPt>
          <c:dPt>
            <c:idx val="2"/>
            <c:invertIfNegative val="0"/>
            <c:bubble3D val="0"/>
            <c:spPr>
              <a:solidFill>
                <a:srgbClr val="1A6B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EEE-6B49-B315-31DDC5300BB9}"/>
              </c:ext>
            </c:extLst>
          </c:dPt>
          <c:dPt>
            <c:idx val="3"/>
            <c:invertIfNegative val="0"/>
            <c:bubble3D val="0"/>
            <c:spPr>
              <a:solidFill>
                <a:srgbClr val="C999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EEE-6B49-B315-31DDC5300BB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XGBoost Baseline</c:v>
                </c:pt>
                <c:pt idx="1">
                  <c:v>LightGBM
(no Transfer)</c:v>
                </c:pt>
                <c:pt idx="2">
                  <c:v>LightGBM
(no Cultural)</c:v>
                </c:pt>
                <c:pt idx="3">
                  <c:v>ByteMe
Full Model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7.98</c:v>
                </c:pt>
                <c:pt idx="1">
                  <c:v>6.9</c:v>
                </c:pt>
                <c:pt idx="2">
                  <c:v>5.8</c:v>
                </c:pt>
                <c:pt idx="3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EEE-6B49-B315-31DDC5300B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5226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C9993A"/>
                </a:solidFill>
              </a:rPr>
              <a:t>APPENDIX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Deep Dive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ByteMe — Computational Intelligence for SE Asian Property Valuation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2926080" cy="36576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· Transfer Learning · Feature Engineering · Cultural AI · Ablation Study · Case Studies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Synergia 2026  |  Saigon Business School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993A"/>
                </a:solidFill>
              </a:rPr>
              <a:t>APPENDIX A  ·  MODEL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C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Two-Stage Transfer Learning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57200" cy="45720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ByteMe learns from Singapore to value Philippine properties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011680" cy="192024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66420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SOURCE DATA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transactions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patterns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600200"/>
            <a:ext cx="2011680" cy="1920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79192" y="166420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PRE-TRAIN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97480" y="20574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on SG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boost rounds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0.05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600200"/>
            <a:ext cx="2011680" cy="192024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10912" y="166420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KNOWLEDGE TRANSFER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sg_prior feature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model predicts on PH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injected into PH training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69480" y="1600200"/>
            <a:ext cx="201168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42632" y="166420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PH FINE-TUNE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60920" y="20574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on PH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rounds (early stop)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0.03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0" y="2560320"/>
            <a:ext cx="320040" cy="0"/>
          </a:xfrm>
          <a:prstGeom prst="line">
            <a:avLst/>
          </a:prstGeom>
          <a:noFill/>
          <a:ln w="31750">
            <a:solidFill>
              <a:srgbClr val="C999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244144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993A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2560320"/>
            <a:ext cx="320040" cy="0"/>
          </a:xfrm>
          <a:prstGeom prst="line">
            <a:avLst/>
          </a:prstGeom>
          <a:noFill/>
          <a:ln w="31750">
            <a:solidFill>
              <a:srgbClr val="C999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44144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993A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2560320"/>
            <a:ext cx="320040" cy="0"/>
          </a:xfrm>
          <a:prstGeom prst="line">
            <a:avLst/>
          </a:prstGeom>
          <a:noFill/>
          <a:ln w="31750">
            <a:solidFill>
              <a:srgbClr val="C999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244144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993A"/>
                </a:solidFill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703320"/>
            <a:ext cx="859536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7307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 →  LightGBM + Cultural Adjustment Layer  →  Price/sqm (PHP) with ±3.8% MAE · 68% false-positive reduction · 2.1× vs XGBoost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993A"/>
                </a:solidFill>
              </a:rPr>
              <a:t>APPENDIX A  ·  MODEL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C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LightGBM Hyperparameters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57200" cy="45720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(SG pre-training) vs Stage 2 (PH fine-tuning)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8595360" cy="321868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 — Singapore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 — Philippines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price/sqm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preferred over RMSE for outlier robustness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gbdt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gbdt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boosted decision trees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LR in fine-tune → prevents SG over-writing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num_leaves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leaves for richer PH geography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min_data_in_leaf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threshold — smaller PH 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feature_fraction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Sub-feature sampling → reduces overfitting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bagging_fraction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sampling added in PH fine-tune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num_boost_round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(early stop 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 guards against overfitting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sg_prior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 model output injected as knowledge prior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993A"/>
                </a:solidFill>
              </a:rPr>
              <a:t>APPENDIX B  ·  FEATURE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C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Input Features Explained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57200" cy="45720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structural + five cultural/spatial + one transfer prior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777240" cy="42062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5448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Structural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97280" y="15636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area_sqm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area in square metres — primary price driver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777240" cy="42062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031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Structural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97280" y="21122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23134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bedrooms; label-encoded integer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651760"/>
            <a:ext cx="777240" cy="42062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5176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Structural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97280" y="26609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28620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bathrooms; correlated with luxury tier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777240" cy="42062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20040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Structural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97280" y="32095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location_encoded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4107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 of district/barangay level location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749040"/>
            <a:ext cx="777240" cy="42062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74904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Structural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97280" y="37581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property_type_encoded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" y="39593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 / House / Townhouse / Lot — label encoded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297680"/>
            <a:ext cx="777240" cy="42062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29768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Cultural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097280" y="43068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tourism_density_score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45079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listing velocity + tourist footfall index (0–100)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1554480"/>
            <a:ext cx="777240" cy="42062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155448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Cultural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532120" y="15636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infrastructure_score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32120" y="17647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quality, bridge readiness, utility coverage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2103120"/>
            <a:ext cx="777240" cy="42062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1031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Cultural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532120" y="21122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employment_zone_score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32120" y="23134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CBD, BPO hubs, economic zones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2651760"/>
            <a:ext cx="777240" cy="42062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265176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Cultural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532120" y="26609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flood_risk_score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32120" y="28620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Sentinel informal reports + DENR data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3200400"/>
            <a:ext cx="777240" cy="42062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20040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Cultural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532120" y="32095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cultural_premium_factor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32120" y="34107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sentiment adj: heritage, surf, Megaworld spillover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9160" y="3749040"/>
            <a:ext cx="777240" cy="420624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374904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Transfer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532120" y="37581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sg_prior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32120" y="39593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Stage-1 Singapore model prediction — knowledge donor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993A"/>
                </a:solidFill>
              </a:rPr>
              <a:t>APPENDIX C  ·  CULTURAL INTELLIGENCE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Sentiment-Aware Cultural Intelligence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qualitative market signals become quantitative price adjustments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8595360" cy="749808"/>
          </a:xfrm>
          <a:prstGeom prst="rect">
            <a:avLst/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920240"/>
            <a:ext cx="914400" cy="109728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920240"/>
            <a:ext cx="777240" cy="109728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189280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93A"/>
                </a:solidFill>
              </a:rPr>
              <a:t>85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4721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Juan — Beach District (La Union)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72821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Hyper-growth  ·  Listings 40% above yield-justified value — speculative risk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720840" y="1527048"/>
            <a:ext cx="123444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5270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30"/>
                </a:solidFill>
              </a:rPr>
              <a:t>OVERPRICED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046720" y="1463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001000" y="196596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Cultural Adj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8595360" cy="749808"/>
          </a:xfrm>
          <a:prstGeom prst="rect">
            <a:avLst/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788920"/>
            <a:ext cx="914400" cy="109728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788920"/>
            <a:ext cx="749808" cy="109728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27614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93A"/>
                </a:solidFill>
              </a:rPr>
              <a:t>82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23408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Iloilo Business Park — Megaworld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2596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Euphoric  ·  31% above ByteMe fundamental — speculative, not yield-driven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20840" y="2395728"/>
            <a:ext cx="123444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23957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30"/>
                </a:solidFill>
              </a:rPr>
              <a:t>OVERPRICED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23317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001000" y="283464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Cultural Adj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74320" y="3154680"/>
            <a:ext cx="8595360" cy="749808"/>
          </a:xfrm>
          <a:prstGeom prst="rect">
            <a:avLst/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657600"/>
            <a:ext cx="914400" cy="109728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657600"/>
            <a:ext cx="621792" cy="109728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61872" y="36301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93A"/>
                </a:solidFill>
              </a:rPr>
              <a:t>68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" y="32095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Juan — Inland Cluster (La Union)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346557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Accumulation  ·  18% undervalued vs fundamental — institutional choice zone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20840" y="3264408"/>
            <a:ext cx="123444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32644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30"/>
                </a:solidFill>
              </a:rPr>
              <a:t>OPPORTUNITY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046720" y="32004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8001000" y="370332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Cultural Adj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74320" y="4023360"/>
            <a:ext cx="8595360" cy="749808"/>
          </a:xfrm>
          <a:prstGeom prst="rect">
            <a:avLst/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526280"/>
            <a:ext cx="914400" cy="109728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526280"/>
            <a:ext cx="576072" cy="109728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61872" y="44988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93A"/>
                </a:solidFill>
              </a:rPr>
              <a:t>63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" y="40782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Jaro — Residential (Iloilo)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" y="433425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 ·  12 informal flood reports in 3 barangays — invisible to DENR maps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20840" y="4133088"/>
            <a:ext cx="1234440" cy="274320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41330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30"/>
                </a:solidFill>
              </a:rPr>
              <a:t>FLOOD RISK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046720" y="40690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−5%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8001000" y="457200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Cultural Adj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993A"/>
                </a:solidFill>
              </a:rPr>
              <a:t>APPENDIX D  ·  PROXY YIELD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C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Gross Rental Yield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57200" cy="45720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Location-calibrated yield tables with area &amp; property-type adjustments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08760"/>
            <a:ext cx="50292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087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15819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Yield by Location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8562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from 726 PH transactions and JLL 2025 ASEAN data. Beach and surf zones carry 6.0–6.5%; Megaworld IBP carries 4.5% (speculative demand suppresses yield).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59152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59152"/>
            <a:ext cx="50292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35915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243230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 Adjustment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70662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table: Studio ×0.85  |  1BR ×0.92  |  2BR ×1.00 (baseline)  |  3BR ×1.06  |  4BR+ ×1.10. Larger units command premium but trade liquidity.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209544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09544"/>
            <a:ext cx="50292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20954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32826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Type Adjustment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55701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 ×1.05  |  House ×1.00  |  Townhouse ×0.95  |  Lot ×0.70. Lot yield estimated from opportunity cost vs gross rental comparables.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059936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059936"/>
            <a:ext cx="50292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05993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8680" y="41330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Rental Value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44074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 = price_per_sqm × area_sqm × gross_yield × bedroom_adj × type_adj. Monthly rent = ARV ÷ 12. Cap rate approximation follows JLL PH yield survey.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993A"/>
                </a:solidFill>
              </a:rPr>
              <a:t>APPENDIX E  ·  COMMUNITY SENTINEL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Sentinel Signal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informal risk intelligence that official datasets miss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62456"/>
            <a:ext cx="4113122" cy="2432304"/>
          </a:xfrm>
          <a:prstGeom prst="rect">
            <a:avLst/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F4444"/>
                </a:solidFill>
              </a:rPr>
              <a:t>THE GAP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sources (DENR, PSA, Lamudi) miss:</a:t>
            </a:r>
            <a:endParaRPr lang="en-US" sz="10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Localized monsoon flooding not in PAGASA maps</a:t>
            </a:r>
            <a:endParaRPr lang="en-US" sz="10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Informal community flood reports per barangay</a:t>
            </a:r>
            <a:endParaRPr lang="en-US" sz="10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Speculative listing language (40% price surge language in SJL)</a:t>
            </a:r>
            <a:endParaRPr lang="en-US" sz="10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Short-term rental velocity shifts before price moves</a:t>
            </a:r>
            <a:endParaRPr lang="en-US" sz="10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Heritage tourism sentiment driving premiums</a:t>
            </a:r>
          </a:p>
        </p:txBody>
      </p:sp>
      <p:sp>
        <p:nvSpPr>
          <p:cNvPr id="9" name="Shape 7"/>
          <p:cNvSpPr/>
          <p:nvPr/>
        </p:nvSpPr>
        <p:spPr>
          <a:xfrm>
            <a:off x="4663440" y="1362456"/>
            <a:ext cx="4206240" cy="2432304"/>
          </a:xfrm>
          <a:prstGeom prst="rect">
            <a:avLst/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508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C55E"/>
                </a:solidFill>
              </a:rPr>
              <a:t>SENTINEL SIGNALS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ByteMe ingests &amp; weights:</a:t>
            </a:r>
            <a:endParaRPr lang="en-US" sz="10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community_sentinel_signals.json — district-level</a:t>
            </a:r>
            <a:endParaRPr lang="en-US" sz="10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Headline NLP scores (surge / correction / stable)</a:t>
            </a:r>
            <a:endParaRPr lang="en-US" sz="10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Flood flag per barangay → negative </a:t>
            </a:r>
            <a:r>
              <a:rPr lang="en-US" sz="10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cultural_premium_factor</a:t>
            </a:r>
            <a:endParaRPr lang="en-US" sz="10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Overpriced flag → seller warning overlay in UI</a:t>
            </a:r>
            <a:endParaRPr lang="en-US" sz="10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Opportunity flag → buyer insight </a:t>
            </a:r>
            <a:r>
              <a:rPr lang="en-US" sz="10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</a:t>
            </a:r>
            <a:endParaRPr lang="en-US" sz="105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3931920"/>
            <a:ext cx="8595360" cy="804672"/>
          </a:xfrm>
          <a:prstGeom prst="rect">
            <a:avLst/>
          </a:prstGeom>
          <a:solidFill>
            <a:srgbClr val="243558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9959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93A"/>
                </a:solidFill>
              </a:rPr>
              <a:t>EXAMPLE  —  Jaro Residential, Iloilo: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42245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informal flood reports across 3 barangays (Rizal, Molo Norte, Santa Rosa) detected via community posts — invisible to official DENR flood maps. ByteMe flags this as flood_risk_score penalty → net cultural adjustment = −5%, UI shows flood warning badge.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993A"/>
                </a:solidFill>
              </a:rPr>
              <a:t>APPENDIX F  ·  ABLATION STUDY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C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Ablation Study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57200" cy="45720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Isolating the contribution of each architectural component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46304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623560" y="1463040"/>
            <a:ext cx="3246120" cy="96012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15000" y="1527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alone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15000" y="17647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MAE from 7.98% → 6.9%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−1.08pp improvement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structural patterns generalise to PH geography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23560" y="2606040"/>
            <a:ext cx="3246120" cy="9601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15000" y="2670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features alone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15000" y="29077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MAE from 6.9% → 5.8%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−1.1pp improvement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Sentiment, flood, tourism signals are real price signals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23560" y="3749040"/>
            <a:ext cx="3246120" cy="960120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15000" y="3813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ByteMe model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15000" y="40507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MAE: 3.8%  (research validated)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2.1× better than XGBoost  ·  68% false-positive drop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components are additive &amp; necessary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993A"/>
                </a:solidFill>
              </a:rPr>
              <a:t>APPENDIX G  ·  VALIDATED CASE STUDY #1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Study: La Union — San Juan Beach District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Province: La Union  ·  Zone: San Juan Beach  ·  Property: 2BR Condominium, 60 sqm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2240280"/>
          </a:xfrm>
          <a:prstGeom prst="rect">
            <a:avLst/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904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93A"/>
                </a:solidFill>
              </a:rPr>
              <a:t>BYTEME PREDICTION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₱38,400 – ₱42,200 /sqm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Total: ~₱2.3M – ₱2.53M for 60 sqm unit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Cultural adj: </a:t>
            </a:r>
            <a:r>
              <a:rPr lang="en-US" sz="1000" b="1" dirty="0">
                <a:solidFill>
                  <a:srgbClr val="C9993A"/>
                </a:solidFill>
              </a:rPr>
              <a:t>+12%  </a:t>
            </a:r>
            <a:r>
              <a:rPr lang="en-US" sz="1000" dirty="0">
                <a:solidFill>
                  <a:srgbClr val="94A3B8"/>
                </a:solidFill>
              </a:rPr>
              <a:t>  Sentiment: </a:t>
            </a:r>
            <a:r>
              <a:rPr lang="en-US" sz="1000" b="1" dirty="0">
                <a:solidFill>
                  <a:srgbClr val="C9993A"/>
                </a:solidFill>
              </a:rPr>
              <a:t>85/100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Flag: OVERPRICED — 40% speculative language surge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priced above yield-justified value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206240" cy="2240280"/>
          </a:xfrm>
          <a:prstGeom prst="rect">
            <a:avLst/>
          </a:prstGeom>
          <a:solidFill>
            <a:srgbClr val="24355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90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2C55E"/>
                </a:solidFill>
              </a:rPr>
              <a:t>FIELD-CONFIRMED MARKET RANGE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7830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₱37,800 – ₱43,500 /sqm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54880" y="2377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Source: JLL PH Beach Corridor Survey 2025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651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ByteMe prediction: </a:t>
            </a:r>
            <a:r>
              <a:rPr lang="en-US" sz="1000" b="1" dirty="0">
                <a:solidFill>
                  <a:srgbClr val="22C55E"/>
                </a:solidFill>
              </a:rPr>
              <a:t>WITHIN confirmed range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9260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Overlap: 100%  ·  Centre deviation: &lt; 1.8%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correctly identified speculative overhang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794760"/>
            <a:ext cx="8595360" cy="868680"/>
          </a:xfrm>
          <a:prstGeom prst="rect">
            <a:avLst/>
          </a:prstGeom>
          <a:solidFill>
            <a:srgbClr val="243558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858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93A"/>
                </a:solidFill>
              </a:rPr>
              <a:t>PROXY YIELD OUTPUT: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409651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yield: 6.5%  ·  Est. monthly rent (60 sqm): ₱12,350 – ₱13,600  ·  Cap rate: 5.8% (JLL-aligned)  ·  Recommended action: HOLD / YIELD PLAY — avoid over-leveraged purchase at speculative peak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993A"/>
                </a:solidFill>
              </a:rPr>
              <a:t>APPENDIX G  ·  VALIDATED CASE STUDY #2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Study: Iloilo — Business Park (Megaworld IBP)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Province: Iloilo  ·  Zone: Megaworld IBP  ·  Property: 2BR Condominium, 55 sqm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2240280"/>
          </a:xfrm>
          <a:prstGeom prst="rect">
            <a:avLst/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904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93A"/>
                </a:solidFill>
              </a:rPr>
              <a:t>BYTEME PREDICTION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₱68,500 – ₱75,000 /sqm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Total: ~₱3.77M – ₱4.13M for 55 sqm unit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Cultural adj: </a:t>
            </a:r>
            <a:r>
              <a:rPr lang="en-US" sz="1000" b="1" dirty="0">
                <a:solidFill>
                  <a:srgbClr val="C9993A"/>
                </a:solidFill>
              </a:rPr>
              <a:t>+15%  </a:t>
            </a:r>
            <a:r>
              <a:rPr lang="en-US" sz="1000" dirty="0">
                <a:solidFill>
                  <a:srgbClr val="94A3B8"/>
                </a:solidFill>
              </a:rPr>
              <a:t>  Sentiment: </a:t>
            </a:r>
            <a:r>
              <a:rPr lang="en-US" sz="1000" b="1" dirty="0">
                <a:solidFill>
                  <a:srgbClr val="C9993A"/>
                </a:solidFill>
              </a:rPr>
              <a:t>82/100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Flag: OVERPRICED — IBP listings 31% above fundamental value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Speculative, not yield-driven demand detected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206240" cy="2240280"/>
          </a:xfrm>
          <a:prstGeom prst="rect">
            <a:avLst/>
          </a:prstGeom>
          <a:solidFill>
            <a:srgbClr val="24355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90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2C55E"/>
                </a:solidFill>
              </a:rPr>
              <a:t>FIELD-CONFIRMED MARKET RANGE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7830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₱67,200 – ₱76,800 /sqm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54880" y="2377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Source: Colliers PH Iloilo Q4 2025 Survey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651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ByteMe prediction: </a:t>
            </a:r>
            <a:r>
              <a:rPr lang="en-US" sz="1000" b="1" dirty="0">
                <a:solidFill>
                  <a:srgbClr val="22C55E"/>
                </a:solidFill>
              </a:rPr>
              <a:t>WITHIN confirmed range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9260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Overlap: 100%  ·  Centre deviation: &lt; 2.3%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flagged speculative premium — buyer caution warranted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794760"/>
            <a:ext cx="8595360" cy="868680"/>
          </a:xfrm>
          <a:prstGeom prst="rect">
            <a:avLst/>
          </a:prstGeom>
          <a:solidFill>
            <a:srgbClr val="243558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858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93A"/>
                </a:solidFill>
              </a:rPr>
              <a:t>PROXY YIELD OUTPUT: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409651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yield: 4.5%  ·  Est. monthly rent (55 sqm): ₱14,100 – ₱15,500  ·  Cap rate: 4.0% (below JLL 5% threshold)  ·  Recommended action: CAUTION — below yield threshold; speculative entry only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993A"/>
                </a:solidFill>
              </a:rPr>
              <a:t>APPENDIX H  ·  DATASETS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C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Composition &amp; Sources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57200" cy="45720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for both transfer learning stages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0690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08760"/>
            <a:ext cx="40690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508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93A"/>
                </a:solidFill>
              </a:rPr>
              <a:t>PHILIPPINES DATASET  (Target Domain)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406908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9385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193852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30"/>
                </a:solidFill>
              </a:rPr>
              <a:t>726 transactions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67712"/>
            <a:ext cx="4069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2677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Regions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226771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30"/>
                </a:solidFill>
              </a:rPr>
              <a:t>La Union + Iloilo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406908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59689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Sources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2596896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30"/>
                </a:solidFill>
              </a:rPr>
              <a:t>Lamudi PH, PropertyPro, field survey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4069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926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Date range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292608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30"/>
                </a:solidFill>
              </a:rPr>
              <a:t>Dec 2024 – Jan 2026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55264"/>
            <a:ext cx="406908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255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Property types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325526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30"/>
                </a:solidFill>
              </a:rPr>
              <a:t>Condo, House, Townhouse, Lot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84448"/>
            <a:ext cx="4069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5844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Districts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83080" y="358444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30"/>
                </a:solidFill>
              </a:rPr>
              <a:t>16 named zones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913632"/>
            <a:ext cx="406908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9136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Features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783080" y="391363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30"/>
                </a:solidFill>
              </a:rPr>
              <a:t>area_sqm, beds, baths, price/sqm, 5 cultural scores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242816"/>
            <a:ext cx="4069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24281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83080" y="4242816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30"/>
                </a:solidFill>
              </a:rPr>
              <a:t>JLL PH 2025 longitudinal + Colliers Q4 2025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1508760"/>
            <a:ext cx="4251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1508760"/>
            <a:ext cx="425196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90872" y="1508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SINGAPORE DATASET  (Source Domain)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1938528"/>
            <a:ext cx="425196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90872" y="19385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Rows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72200" y="1938528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30"/>
                </a:solidFill>
              </a:rPr>
              <a:t>500 transactions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2267712"/>
            <a:ext cx="4251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90872" y="22677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Region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72200" y="2267712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30"/>
                </a:solidFill>
              </a:rPr>
              <a:t>Singapore (mixed districts)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17720" y="2596896"/>
            <a:ext cx="425196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90872" y="25968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Sources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72200" y="2596896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30"/>
                </a:solidFill>
              </a:rPr>
              <a:t>SRX Property, URA data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17720" y="2926080"/>
            <a:ext cx="4251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90872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Purpose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72200" y="292608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30"/>
                </a:solidFill>
              </a:rPr>
              <a:t>Pre-train structural price patterns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17720" y="3255264"/>
            <a:ext cx="425196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90872" y="32552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Key pattern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172200" y="3255264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30"/>
                </a:solidFill>
              </a:rPr>
              <a:t>Size, bedrooms, location → price/sqm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17720" y="3584448"/>
            <a:ext cx="4251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90872" y="35844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Transfer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172200" y="3584448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30"/>
                </a:solidFill>
              </a:rPr>
              <a:t>sg_prior = SG model output on PH data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17720" y="3913632"/>
            <a:ext cx="425196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90872" y="39136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Rationale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172200" y="3913632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30"/>
                </a:solidFill>
              </a:rPr>
              <a:t>SG &amp; PH share structural real estate patterns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17720" y="4242816"/>
            <a:ext cx="4251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90872" y="42428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Limitation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172200" y="4242816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30"/>
                </a:solidFill>
              </a:rPr>
              <a:t>Cultural features differ → hence fine-tuning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993A"/>
                </a:solidFill>
              </a:rPr>
              <a:t>APPENDIX I  ·  PERFORMANCE METRICS &amp; ASEAN BENCHMARKS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Metrics &amp; Cross-Border Context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2024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9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901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(Research Validated)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188720"/>
            <a:ext cx="192024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2344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9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0.043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331720" y="1901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— Std Dev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(Prediction Spread)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188720"/>
            <a:ext cx="192024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12344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9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389120" y="1901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vs Baseline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46520" y="1188720"/>
            <a:ext cx="192024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2344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9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2.1×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46520" y="1901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Baseline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2487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Market Context — USD/sqm Benchmarks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98064"/>
          <a:ext cx="8595360" cy="217627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USD/sqm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ByteMe Coverage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 (source domain)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$8,200 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Pre-training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donor — structural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Bangkok, Thailand (Sukhumvit)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JLL 2025 cross-border reference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 Chi Minh City, Vietnam (Quận 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ASEAN emerging market reference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Kuala Lumpur, Malaysia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tier-2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Iloilo Megaworld IBP (ByteMe)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~$1,320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₱75,000/sqm · Speculative flag 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Union San Juan Beach (ByteMe)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~$730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₱40,000/sqm · Tourism premium applied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1670</Words>
  <Application>Microsoft Macintosh PowerPoint</Application>
  <PresentationFormat>On-screen Show (16:9)</PresentationFormat>
  <Paragraphs>314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ByteMe Technical Backup Slides</dc:title>
  <dc:subject>PptxGenJS Presentation</dc:subject>
  <dc:creator>ByteMe — Synergia 2026</dc:creator>
  <cp:lastModifiedBy>M2</cp:lastModifiedBy>
  <cp:revision>4</cp:revision>
  <dcterms:created xsi:type="dcterms:W3CDTF">2026-05-04T12:40:25Z</dcterms:created>
  <dcterms:modified xsi:type="dcterms:W3CDTF">2026-05-06T14:54:40Z</dcterms:modified>
</cp:coreProperties>
</file>