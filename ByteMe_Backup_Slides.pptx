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C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1C30"/>
                </a:solidFill>
                <a:latin typeface="Arial"/>
              </a:rPr>
              <a:t>MAE %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%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2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6B3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993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XGBoost Baseline</c:v>
                  </c:pt>
                  <c:pt idx="1">
                    <c:v>LightGBM
(no Transfer)</c:v>
                  </c:pt>
                  <c:pt idx="2">
                    <c:v>LightGBM
(no Cultural)</c:v>
                  </c:pt>
                  <c:pt idx="3">
                    <c:v>ByteMe
Full Model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7.98</c:v>
                </c:pt>
                <c:pt idx="1">
                  <c:v>6.9</c:v>
                </c:pt>
                <c:pt idx="2">
                  <c:v>5.8</c:v>
                </c:pt>
                <c:pt idx="3">
                  <c:v>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993A"/>
                </a:solidFill>
              </a:rPr>
              <a:t>APPENDIX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Deep Dive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ByteMe — Computational Intelligence for SE Asian Property Valuation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926080" cy="36576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covered: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· Transfer Learning · Feature Engineering · Cultural AI · Ablation Study · Case Studies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Synergia 2026  |  Saigon Business School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A  ·  MODEL 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C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Two-Stage Transfer Learning Pipeline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57200" cy="457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887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ByteMe learns from Singapore to value Philippine properties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600200"/>
            <a:ext cx="2011680" cy="1920240"/>
          </a:xfrm>
          <a:prstGeom prst="rect">
            <a:avLst/>
          </a:prstGeom>
          <a:solidFill>
            <a:srgbClr val="2C5282"/>
          </a:solidFill>
          <a:ln w="12700">
            <a:solidFill>
              <a:srgbClr val="2C528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" y="1664208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SOURCE DATA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transactions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patterns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06040" y="1600200"/>
            <a:ext cx="2011680" cy="192024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79192" y="1664208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PRE-TRAIN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97480" y="2057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on SG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boost rounds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= 0.05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1600200"/>
            <a:ext cx="2011680" cy="1920240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10912" y="1664208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KNOWLEDGE TRANSFER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sg_prior feature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model predicts on PH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injected into PH training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69480" y="1600200"/>
            <a:ext cx="2011680" cy="1920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42632" y="1664208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PH FINE-TUNE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60920" y="2057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on PH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rounds (early stop)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= 0.03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86000" y="2560320"/>
            <a:ext cx="320040" cy="0"/>
          </a:xfrm>
          <a:prstGeom prst="line">
            <a:avLst/>
          </a:prstGeom>
          <a:noFill/>
          <a:ln w="31750">
            <a:solidFill>
              <a:srgbClr val="C999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42032" y="244144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993A"/>
                </a:solidFill>
              </a:rPr>
              <a:t>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17720" y="2560320"/>
            <a:ext cx="320040" cy="0"/>
          </a:xfrm>
          <a:prstGeom prst="line">
            <a:avLst/>
          </a:prstGeom>
          <a:noFill/>
          <a:ln w="31750">
            <a:solidFill>
              <a:srgbClr val="C999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244144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993A"/>
                </a:solidFill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949440" y="2560320"/>
            <a:ext cx="320040" cy="0"/>
          </a:xfrm>
          <a:prstGeom prst="line">
            <a:avLst/>
          </a:prstGeom>
          <a:noFill/>
          <a:ln w="31750">
            <a:solidFill>
              <a:srgbClr val="C999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05472" y="244144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993A"/>
                </a:solidFill>
              </a:rPr>
              <a:t>▶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3703320"/>
            <a:ext cx="859536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65760" y="373075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  →  LightGBM + Cultural Adjustment Layer  →  Price/sqm (PHP) with ±3.8% MAE · 68% false-positive reduction · 2.1× vs XGBoost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A  ·  MODEL 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C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LightGBM Hyperparameters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57200" cy="457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887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(SG pre-training) vs Stage 2 (PH fine-tuning)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554480"/>
          <a:ext cx="8595360" cy="324612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737360"/>
                <a:gridCol w="3657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— Singapore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 — Philippines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price/sqm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preferred over RMSE for outlier robustness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boosting_type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gbdt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gbdt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boosted decision trees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learning_rate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LR in fine-tune → prevents SG over-writing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num_leaves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leaves for richer PH geography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min_data_in_leaf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threshold — smaller PH dataset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feature_fraction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Sub-feature sampling → reduces overfitting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bagging_fraction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sampling added in PH fine-tune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num_boost_round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(early stop 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stopping guards against overfitting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sg_prior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 model output injected as knowledge prior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B  ·  FEATURE ENGINEERING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C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Input Features Explained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57200" cy="457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887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structural + five cultural/spatial + one transfer prior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554480"/>
            <a:ext cx="777240" cy="420624"/>
          </a:xfrm>
          <a:prstGeom prst="rect">
            <a:avLst/>
          </a:prstGeom>
          <a:solidFill>
            <a:srgbClr val="2C5282"/>
          </a:solidFill>
          <a:ln w="12700">
            <a:solidFill>
              <a:srgbClr val="2C52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55448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Structural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097280" y="156362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area_sqm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17647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area in square metres — primary price driver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2103120"/>
            <a:ext cx="777240" cy="420624"/>
          </a:xfrm>
          <a:prstGeom prst="rect">
            <a:avLst/>
          </a:prstGeom>
          <a:solidFill>
            <a:srgbClr val="2C5282"/>
          </a:solidFill>
          <a:ln w="12700">
            <a:solidFill>
              <a:srgbClr val="2C52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10312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Structural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097280" y="211226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" y="231343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bedrooms; label-encoded integer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51760"/>
            <a:ext cx="777240" cy="420624"/>
          </a:xfrm>
          <a:prstGeom prst="rect">
            <a:avLst/>
          </a:prstGeom>
          <a:solidFill>
            <a:srgbClr val="2C5282"/>
          </a:solidFill>
          <a:ln w="12700">
            <a:solidFill>
              <a:srgbClr val="2C52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5176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Structural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097280" y="266090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bathrooms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97280" y="286207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bathrooms; correlated with luxury tier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200400"/>
            <a:ext cx="777240" cy="420624"/>
          </a:xfrm>
          <a:prstGeom prst="rect">
            <a:avLst/>
          </a:prstGeom>
          <a:solidFill>
            <a:srgbClr val="2C5282"/>
          </a:solidFill>
          <a:ln w="12700">
            <a:solidFill>
              <a:srgbClr val="2C52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320040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Structural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097280" y="320954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location_encoded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97280" y="34107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encoding of district/barangay level location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3749040"/>
            <a:ext cx="777240" cy="420624"/>
          </a:xfrm>
          <a:prstGeom prst="rect">
            <a:avLst/>
          </a:prstGeom>
          <a:solidFill>
            <a:srgbClr val="2C5282"/>
          </a:solidFill>
          <a:ln w="12700">
            <a:solidFill>
              <a:srgbClr val="2C52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74904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Structural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097280" y="37581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property_type_encoded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" y="39593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 / House / Townhouse / Lot — label encoded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297680"/>
            <a:ext cx="777240" cy="42062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29768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Cultural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097280" y="430682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tourism_density_score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97280" y="45079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listing velocity + tourist footfall index (0–100)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1554480"/>
            <a:ext cx="777240" cy="42062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9160" y="155448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Cultural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532120" y="156362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infrastructure_score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532120" y="17647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quality, bridge readiness, utility coverage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2103120"/>
            <a:ext cx="777240" cy="42062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210312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Cultural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532120" y="211226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employment_zone_score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231343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to CBD, BPO hubs, economic zones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09160" y="2651760"/>
            <a:ext cx="777240" cy="42062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265176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Cultural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532120" y="266090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flood_risk_score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532120" y="286207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Sentinel informal reports + DENR data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09160" y="3200400"/>
            <a:ext cx="777240" cy="42062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9160" y="320040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Cultural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532120" y="320954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cultural_premium_factor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532120" y="34107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sentiment adj: heritage, surf, Megaworld spillover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709160" y="3749040"/>
            <a:ext cx="777240" cy="420624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09160" y="374904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Transfer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532120" y="37581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sg_prior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32120" y="39593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Singapore model prediction — knowledge donor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C  ·  CULTURAL INTELLIGENCE LAYER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Sentiment-Aware Cultural Intelligence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0040" y="102412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qualitative market signals become quantitative price adjustments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8595360" cy="749808"/>
          </a:xfrm>
          <a:prstGeom prst="rect">
            <a:avLst/>
          </a:prstGeom>
          <a:solidFill>
            <a:srgbClr val="243558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920240"/>
            <a:ext cx="914400" cy="109728"/>
          </a:xfrm>
          <a:prstGeom prst="rect">
            <a:avLst/>
          </a:prstGeom>
          <a:solidFill>
            <a:srgbClr val="2D4A6E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920240"/>
            <a:ext cx="777240" cy="109728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1872" y="189280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</a:rPr>
              <a:t>85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0040" y="14721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Juan — Beach District (La Union)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1728216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Hyper-growth  ·  Listings 40% above yield-justified value — speculative risk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20840" y="1527048"/>
            <a:ext cx="1234440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0840" y="15270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C30"/>
                </a:solidFill>
              </a:rPr>
              <a:t>OVERPRICED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046720" y="146304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+12%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001000" y="196596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Cultural Adj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74320" y="2286000"/>
            <a:ext cx="8595360" cy="749808"/>
          </a:xfrm>
          <a:prstGeom prst="rect">
            <a:avLst/>
          </a:prstGeom>
          <a:solidFill>
            <a:srgbClr val="243558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788920"/>
            <a:ext cx="914400" cy="109728"/>
          </a:xfrm>
          <a:prstGeom prst="rect">
            <a:avLst/>
          </a:prstGeom>
          <a:solidFill>
            <a:srgbClr val="2D4A6E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788920"/>
            <a:ext cx="749808" cy="109728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61872" y="276148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</a:rPr>
              <a:t>82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0040" y="234086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Iloilo Business Park — Megaworld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2596896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Euphoric  ·  31% above ByteMe fundamental — speculative, not yield-driven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20840" y="2395728"/>
            <a:ext cx="1234440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23957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C30"/>
                </a:solidFill>
              </a:rPr>
              <a:t>OVERPRICED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046720" y="233172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+15%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8001000" y="283464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Cultural Adj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74320" y="3154680"/>
            <a:ext cx="8595360" cy="749808"/>
          </a:xfrm>
          <a:prstGeom prst="rect">
            <a:avLst/>
          </a:prstGeom>
          <a:solidFill>
            <a:srgbClr val="243558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3657600"/>
            <a:ext cx="914400" cy="109728"/>
          </a:xfrm>
          <a:prstGeom prst="rect">
            <a:avLst/>
          </a:prstGeom>
          <a:solidFill>
            <a:srgbClr val="2D4A6E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3657600"/>
            <a:ext cx="621792" cy="109728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61872" y="3630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</a:rPr>
              <a:t>68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" y="320954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Juan — Inland Cluster (La Union)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0040" y="3465576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Accumulation  ·  18% undervalued vs fundamental — institutional choice zone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720840" y="3264408"/>
            <a:ext cx="1234440" cy="274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32644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C30"/>
                </a:solidFill>
              </a:rPr>
              <a:t>OPPORTUNITY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046720" y="320040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+8%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8001000" y="370332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Cultural Adj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74320" y="4023360"/>
            <a:ext cx="8595360" cy="749808"/>
          </a:xfrm>
          <a:prstGeom prst="rect">
            <a:avLst/>
          </a:prstGeom>
          <a:solidFill>
            <a:srgbClr val="243558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0040" y="4526280"/>
            <a:ext cx="914400" cy="109728"/>
          </a:xfrm>
          <a:prstGeom prst="rect">
            <a:avLst/>
          </a:prstGeom>
          <a:solidFill>
            <a:srgbClr val="2D4A6E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" y="4526280"/>
            <a:ext cx="576072" cy="109728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61872" y="449884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</a:rPr>
              <a:t>63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0040" y="40782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Jaro — Residential (Iloilo)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20040" y="4334256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 ·  12 informal flood reports in 3 barangays — invisible to DENR maps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720840" y="4133088"/>
            <a:ext cx="1234440" cy="2743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20840" y="41330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C30"/>
                </a:solidFill>
              </a:rPr>
              <a:t>FLOOD RISK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046720" y="406908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−5%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001000" y="457200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Cultural Adj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D  ·  PROXY YIELD MODEL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C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Gross Rental Yield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57200" cy="457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887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Location-calibrated yield tables with area &amp; property-type adjustments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8595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508760"/>
            <a:ext cx="50292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50876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158191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Yield by Location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185623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from 726 PH transactions and JLL 2025 ASEAN data. Beach and surf zones carry 6.0–6.5%; Megaworld IBP carries 4.5% (speculative demand suppresses yield).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59152"/>
            <a:ext cx="8595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359152"/>
            <a:ext cx="50292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359152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243230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 Adjustment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270662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 table: Studio ×0.85  |  1BR ×0.92  |  2BR ×1.00 (baseline)  |  3BR ×1.06  |  4BR+ ×1.10. Larger units command premium but trade liquidity.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209544"/>
            <a:ext cx="8595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209544"/>
            <a:ext cx="50292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3209544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" y="3282696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Type Adjustment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355701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 ×1.05  |  House ×1.00  |  Townhouse ×0.95  |  Lot ×0.70. Lot yield estimated from opportunity cost vs gross rental comparables.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8595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4059936"/>
            <a:ext cx="50292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4059936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68680" y="41330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C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Rental Value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8680" y="440740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ARV = price_per_sqm × area_sqm × gross_yield × bedroom_adj × type_adj. Monthly rent = ARV ÷ 12. Cap rate approximation follows JLL PH yield survey.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E  ·  COMMUNITY SENTINEL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Community Sentinel Signal System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0040" y="102412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Capturing informal risk intelligence that official datasets miss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4114800" cy="2377440"/>
          </a:xfrm>
          <a:prstGeom prst="rect">
            <a:avLst/>
          </a:prstGeom>
          <a:solidFill>
            <a:srgbClr val="243558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508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F4444"/>
                </a:solidFill>
              </a:rPr>
              <a:t>THE GAP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8288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sources (DENR, PSA, Lamudi) miss:
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Localized monsoon flooding not in PAGASA maps
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Informal community flood reports per barangay
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Speculative listing language (40% price surge language in SJL)
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Short-term rental velocity shifts before price moves
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Heritage tourism sentiment driving premiums
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206240" cy="2377440"/>
          </a:xfrm>
          <a:prstGeom prst="rect">
            <a:avLst/>
          </a:prstGeom>
          <a:solidFill>
            <a:srgbClr val="243558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508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C55E"/>
                </a:solidFill>
              </a:rPr>
              <a:t>SENTINEL SIGNALS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0" y="182880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ByteMe ingests &amp; weights:
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community_sentinel_signals.json — district-level
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Headline NLP scores (surge / correction / stable)
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Flood flag per barangay → negative cultural_premium_factor
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Overpriced flag → seller warning overlay in UI
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Opportunity flag → buyer insight overlay
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3931920"/>
            <a:ext cx="8595360" cy="804672"/>
          </a:xfrm>
          <a:prstGeom prst="rect">
            <a:avLst/>
          </a:prstGeom>
          <a:solidFill>
            <a:srgbClr val="243558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39959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</a:rPr>
              <a:t>EXAMPLE  —  Jaro Residential, Iloilo: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422452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informal flood reports across 3 barangays (Rizal, Molo Norte, Santa Rosa) detected via community posts — invisible to official DENR flood maps. ByteMe flags this as flood_risk_score penalty → net cultural adjustment = −5%, UI shows flood warning badge.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F  ·  ABLATION STUDY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C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Ablation Study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57200" cy="457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887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Isolating the contribution of each architectural component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46304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623560" y="1463040"/>
            <a:ext cx="3246120" cy="960120"/>
          </a:xfrm>
          <a:prstGeom prst="rect">
            <a:avLst/>
          </a:prstGeom>
          <a:solidFill>
            <a:srgbClr val="2C5282"/>
          </a:solidFill>
          <a:ln w="12700">
            <a:solidFill>
              <a:srgbClr val="2C528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15000" y="152704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alone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715000" y="176479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MAE from 7.98% → 6.9%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−1.08pp improvement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structural patterns generalise to PH geography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623560" y="2606040"/>
            <a:ext cx="3246120" cy="96012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715000" y="267004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features alone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715000" y="290779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MAE from 6.9% → 5.8%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−1.1pp improvement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Sentiment, flood, tourism signals are real price signals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23560" y="3749040"/>
            <a:ext cx="3246120" cy="9601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715000" y="381304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ByteMe model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715000" y="405079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MAE: 3.8%  (research validated)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2.1× better than XGBoost  ·  68% false-positive drop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components are additive &amp; necessary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G  ·  VALIDATED CASE STUDY #1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Study: La Union — San Juan Beach District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102412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Province: La Union  ·  Zone: San Juan Beach  ·  Property: 2BR Condominium, 60 sqm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4114800" cy="2240280"/>
          </a:xfrm>
          <a:prstGeom prst="rect">
            <a:avLst/>
          </a:prstGeom>
          <a:solidFill>
            <a:srgbClr val="243558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904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93A"/>
                </a:solidFill>
              </a:rPr>
              <a:t>BYTEME PREDICTION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₱38,400 – ₱42,200 /sqm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Total: ~₱2.3M – ₱2.53M for 60 sqm unit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6517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Cultural adj: </a:t>
            </a:r>
            <a:pPr indent="0" marL="0">
              <a:buNone/>
            </a:pPr>
            <a:r>
              <a:rPr lang="en-US" sz="1000" b="1" dirty="0">
                <a:solidFill>
                  <a:srgbClr val="C9993A"/>
                </a:solidFill>
              </a:rPr>
              <a:t>+12% 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  Sentiment: </a:t>
            </a:r>
            <a:pPr indent="0" marL="0">
              <a:buNone/>
            </a:pPr>
            <a:r>
              <a:rPr lang="en-US" sz="1000" b="1" dirty="0">
                <a:solidFill>
                  <a:srgbClr val="C9993A"/>
                </a:solidFill>
              </a:rPr>
              <a:t>85/100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9260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Flag: OVERPRICED — 40% speculative language surge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priced above yield-justified value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206240" cy="2240280"/>
          </a:xfrm>
          <a:prstGeom prst="rect">
            <a:avLst/>
          </a:prstGeom>
          <a:solidFill>
            <a:srgbClr val="243558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4904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</a:rPr>
              <a:t>FIELD-CONFIRMED MARKET RANGE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1783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₱37,800 – ₱43,500 /sqm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54880" y="23774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Source: JLL PH Beach Corridor Survey 2025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26517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ByteMe prediction: </a:t>
            </a:r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</a:rPr>
              <a:t>WITHIN confirmed range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2926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Overlap: 100%  ·  Centre deviation: &lt; 1.8%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correctly identified speculative overhang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3794760"/>
            <a:ext cx="8595360" cy="868680"/>
          </a:xfrm>
          <a:prstGeom prst="rect">
            <a:avLst/>
          </a:prstGeom>
          <a:solidFill>
            <a:srgbClr val="243558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8587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</a:rPr>
              <a:t>PROXY YIELD OUTPUT: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1480" y="409651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yield: 6.5%  ·  Est. monthly rent (60 sqm): ₱12,350 – ₱13,600  ·  Cap rate: 5.8% (JLL-aligned)  ·  Recommended action: HOLD / YIELD PLAY — avoid over-leveraged purchase at speculative peak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G  ·  VALIDATED CASE STUDY #2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Study: Iloilo — Business Park (Megaworld IBP)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102412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Province: Iloilo  ·  Zone: Megaworld IBP  ·  Property: 2BR Condominium, 55 sqm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4114800" cy="2240280"/>
          </a:xfrm>
          <a:prstGeom prst="rect">
            <a:avLst/>
          </a:prstGeom>
          <a:solidFill>
            <a:srgbClr val="243558"/>
          </a:solidFill>
          <a:ln w="12700">
            <a:solidFill>
              <a:srgbClr val="2D4A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904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93A"/>
                </a:solidFill>
              </a:rPr>
              <a:t>BYTEME PREDICTION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₱68,500 – ₱75,000 /sqm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Total: ~₱3.77M – ₱4.13M for 55 sqm unit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6517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Cultural adj: </a:t>
            </a:r>
            <a:pPr indent="0" marL="0">
              <a:buNone/>
            </a:pPr>
            <a:r>
              <a:rPr lang="en-US" sz="1000" b="1" dirty="0">
                <a:solidFill>
                  <a:srgbClr val="C9993A"/>
                </a:solidFill>
              </a:rPr>
              <a:t>+15% 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  Sentiment: </a:t>
            </a:r>
            <a:pPr indent="0" marL="0">
              <a:buNone/>
            </a:pPr>
            <a:r>
              <a:rPr lang="en-US" sz="1000" b="1" dirty="0">
                <a:solidFill>
                  <a:srgbClr val="C9993A"/>
                </a:solidFill>
              </a:rPr>
              <a:t>82/100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9260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Flag: OVERPRICED — IBP listings 31% above fundamental value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Speculative, not yield-driven demand detected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206240" cy="2240280"/>
          </a:xfrm>
          <a:prstGeom prst="rect">
            <a:avLst/>
          </a:prstGeom>
          <a:solidFill>
            <a:srgbClr val="243558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4904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</a:rPr>
              <a:t>FIELD-CONFIRMED MARKET RANGE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1783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₱67,200 – ₱76,800 /sqm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54880" y="23774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Source: Colliers PH Iloilo Q4 2025 Survey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26517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ByteMe prediction: </a:t>
            </a:r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</a:rPr>
              <a:t>WITHIN confirmed range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2926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Overlap: 100%  ·  Centre deviation: &lt; 2.3%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flagged speculative premium — buyer caution warranted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3794760"/>
            <a:ext cx="8595360" cy="868680"/>
          </a:xfrm>
          <a:prstGeom prst="rect">
            <a:avLst/>
          </a:prstGeom>
          <a:solidFill>
            <a:srgbClr val="243558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8587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993A"/>
                </a:solidFill>
              </a:rPr>
              <a:t>PROXY YIELD OUTPUT: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1480" y="409651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yield: 4.5%  ·  Est. monthly rent (55 sqm): ₱14,100 – ₱15,500  ·  Cap rate: 4.0% (below JLL 5% threshold)  ·  Recommended action: CAUTION — below yield threshold; speculative entry only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H  ·  DATASETS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C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Composition &amp; Sources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57200" cy="457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887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for both transfer learning stages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40690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508760"/>
            <a:ext cx="406908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5087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993A"/>
                </a:solidFill>
              </a:rPr>
              <a:t>PHILIPPINES DATASET  (Target Domain)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938528"/>
            <a:ext cx="4069080" cy="3200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193852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Rows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83080" y="193852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726 transactions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267712"/>
            <a:ext cx="4069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226771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Regions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2267712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La Union + Iloilo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596896"/>
            <a:ext cx="4069080" cy="3200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259689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Sources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2596896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Lamudi PH, PropertyPro, field survey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926080"/>
            <a:ext cx="4069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Date range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292608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Dec 2024 – Jan 2026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3255264"/>
            <a:ext cx="4069080" cy="3200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3255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Property types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83080" y="3255264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Condo, House, Townhouse, Lot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584448"/>
            <a:ext cx="4069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358444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Districts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783080" y="3584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16 named zones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913632"/>
            <a:ext cx="4069080" cy="3200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391363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Features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783080" y="3913632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area_sqm, beds, baths, price/sqm, 5 cultural scores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74320" y="4242816"/>
            <a:ext cx="4069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42428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Validation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783080" y="4242816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JLL PH 2025 longitudinal + Colliers Q4 2025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17720" y="1508760"/>
            <a:ext cx="4251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17720" y="1508760"/>
            <a:ext cx="4251960" cy="34747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90872" y="150876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SINGAPORE DATASET  (Source Domain)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17720" y="1938528"/>
            <a:ext cx="4251960" cy="3200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90872" y="193852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Rows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72200" y="1938528"/>
            <a:ext cx="262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500 transactions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17720" y="2267712"/>
            <a:ext cx="4251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90872" y="22677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Region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72200" y="2267712"/>
            <a:ext cx="262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Singapore (mixed districts)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17720" y="2596896"/>
            <a:ext cx="4251960" cy="3200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0872" y="259689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Sources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72200" y="2596896"/>
            <a:ext cx="262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SRX Property, URA data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617720" y="2926080"/>
            <a:ext cx="4251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90872" y="2926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Purpose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26080"/>
            <a:ext cx="262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Pre-train structural price patterns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617720" y="3255264"/>
            <a:ext cx="4251960" cy="3200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90872" y="325526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Key pattern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172200" y="3255264"/>
            <a:ext cx="262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Size, bedrooms, location → price/sqm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617720" y="3584448"/>
            <a:ext cx="4251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90872" y="35844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Transfer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172200" y="3584448"/>
            <a:ext cx="262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sg_prior = SG model output on PH data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617720" y="3913632"/>
            <a:ext cx="4251960" cy="3200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90872" y="39136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Rationale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172200" y="3913632"/>
            <a:ext cx="262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SG &amp; PH share structural real estate patterns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617720" y="4242816"/>
            <a:ext cx="4251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90872" y="42428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Limitation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172200" y="4242816"/>
            <a:ext cx="262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0"/>
                </a:solidFill>
              </a:rPr>
              <a:t>Cultural features differ → hence fine-tuning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993A"/>
                </a:solidFill>
              </a:rPr>
              <a:t>APPENDIX I  ·  PERFORMANCE METRICS &amp; ASEAN BENCHMARKS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 Metrics &amp; Cross-Border Context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192024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2344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3.8%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74320" y="190195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(Research Validated)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31720" y="1188720"/>
            <a:ext cx="192024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331720" y="12344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331720" y="190195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— Std Dev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(Prediction Spread)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0" y="1188720"/>
            <a:ext cx="192024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89120" y="12344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389120" y="190195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vs Baseline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46520" y="1188720"/>
            <a:ext cx="192024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12344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9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2.1×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46520" y="190195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Baseline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248716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ASEAN Market Context — USD/sqm Benchmarks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98064"/>
          <a:ext cx="8595360" cy="2084832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645920"/>
                <a:gridCol w="3291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USD/sqm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ByteMe 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 (source domain)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$8,200 avg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Pre-training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donor — structural patterns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Bangkok, Thailand (Sukhumvit)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JLL 2025 cross-border reference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 Chi Minh City, Vietnam (Quận 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ASEAN emerging market reference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Kuala Lumpur, Malaysia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tier-2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Iloilo Megaworld IBP (ByteMe)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~$1,320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₱75,000/sqm · Speculative flag active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Union San Juan Beach (ByteMe)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₱40,000/sqm · Tourism premium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4A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55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ByteMe Technical Backup Slides</dc:title>
  <dc:subject>PptxGenJS Presentation</dc:subject>
  <dc:creator>ByteMe — Synergia 2026</dc:creator>
  <cp:lastModifiedBy>ByteMe — Synergia 2026</cp:lastModifiedBy>
  <cp:revision>1</cp:revision>
  <dcterms:created xsi:type="dcterms:W3CDTF">2026-05-04T12:40:25Z</dcterms:created>
  <dcterms:modified xsi:type="dcterms:W3CDTF">2026-05-04T12:40:25Z</dcterms:modified>
</cp:coreProperties>
</file>