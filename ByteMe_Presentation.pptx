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2" d="100"/>
          <a:sy n="152" d="100"/>
        </p:scale>
        <p:origin x="19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B2A4A"/>
                </a:solidFill>
                <a:latin typeface="Arial"/>
              </a:defRPr>
            </a:pPr>
            <a:r>
              <a:rPr lang="en-US" sz="1100" b="0" i="0" u="none" strike="noStrike">
                <a:solidFill>
                  <a:srgbClr val="1B2A4A"/>
                </a:solidFill>
                <a:latin typeface="Arial"/>
              </a:rPr>
              <a:t>Mean Absolute Error (%) by Model</a:t>
            </a:r>
          </a:p>
        </c:rich>
      </c:tx>
      <c:overlay val="0"/>
    </c:title>
    <c:autoTitleDeleted val="0"/>
    <c:plotArea>
      <c:layout/>
      <c:barChart>
        <c:barDir val="col"/>
        <c:grouping val="clustered"/>
        <c:varyColors val="0"/>
        <c:ser>
          <c:idx val="0"/>
          <c:order val="0"/>
          <c:tx>
            <c:strRef>
              <c:f>Sheet1!$B$1</c:f>
              <c:strCache>
                <c:ptCount val="1"/>
                <c:pt idx="0">
                  <c:v>MAE (%)</c:v>
                </c:pt>
              </c:strCache>
            </c:strRef>
          </c:tx>
          <c:spPr>
            <a:solidFill>
              <a:srgbClr val="94A3B8"/>
            </a:solidFill>
            <a:effectLst/>
          </c:spPr>
          <c:invertIfNegative val="0"/>
          <c:dPt>
            <c:idx val="0"/>
            <c:invertIfNegative val="0"/>
            <c:bubble3D val="0"/>
            <c:extLst>
              <c:ext xmlns:c16="http://schemas.microsoft.com/office/drawing/2014/chart" uri="{C3380CC4-5D6E-409C-BE32-E72D297353CC}">
                <c16:uniqueId val="{00000001-DFEC-B045-A2C0-C18071462404}"/>
              </c:ext>
            </c:extLst>
          </c:dPt>
          <c:dPt>
            <c:idx val="1"/>
            <c:invertIfNegative val="0"/>
            <c:bubble3D val="0"/>
            <c:extLst>
              <c:ext xmlns:c16="http://schemas.microsoft.com/office/drawing/2014/chart" uri="{C3380CC4-5D6E-409C-BE32-E72D297353CC}">
                <c16:uniqueId val="{00000003-DFEC-B045-A2C0-C18071462404}"/>
              </c:ext>
            </c:extLst>
          </c:dPt>
          <c:dPt>
            <c:idx val="2"/>
            <c:invertIfNegative val="0"/>
            <c:bubble3D val="0"/>
            <c:spPr>
              <a:solidFill>
                <a:srgbClr val="64748B"/>
              </a:solidFill>
              <a:effectLst/>
            </c:spPr>
            <c:extLst>
              <c:ext xmlns:c16="http://schemas.microsoft.com/office/drawing/2014/chart" uri="{C3380CC4-5D6E-409C-BE32-E72D297353CC}">
                <c16:uniqueId val="{00000005-DFEC-B045-A2C0-C18071462404}"/>
              </c:ext>
            </c:extLst>
          </c:dPt>
          <c:dPt>
            <c:idx val="3"/>
            <c:invertIfNegative val="0"/>
            <c:bubble3D val="0"/>
            <c:spPr>
              <a:solidFill>
                <a:srgbClr val="2A3F6F"/>
              </a:solidFill>
              <a:effectLst/>
            </c:spPr>
            <c:extLst>
              <c:ext xmlns:c16="http://schemas.microsoft.com/office/drawing/2014/chart" uri="{C3380CC4-5D6E-409C-BE32-E72D297353CC}">
                <c16:uniqueId val="{00000007-DFEC-B045-A2C0-C18071462404}"/>
              </c:ext>
            </c:extLst>
          </c:dPt>
          <c:dPt>
            <c:idx val="4"/>
            <c:invertIfNegative val="0"/>
            <c:bubble3D val="0"/>
            <c:spPr>
              <a:solidFill>
                <a:srgbClr val="D4A017"/>
              </a:solidFill>
              <a:effectLst/>
            </c:spPr>
            <c:extLst>
              <c:ext xmlns:c16="http://schemas.microsoft.com/office/drawing/2014/chart" uri="{C3380CC4-5D6E-409C-BE32-E72D297353CC}">
                <c16:uniqueId val="{00000009-DFEC-B045-A2C0-C18071462404}"/>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XGBoost
Baseline</c:v>
                </c:pt>
                <c:pt idx="1">
                  <c:v>Hedonic
Model</c:v>
                </c:pt>
                <c:pt idx="2">
                  <c:v>LightGBM
Base</c:v>
                </c:pt>
                <c:pt idx="3">
                  <c:v>ByteMe
No Sent.</c:v>
                </c:pt>
                <c:pt idx="4">
                  <c:v>ByteMe
Full</c:v>
                </c:pt>
              </c:strCache>
            </c:strRef>
          </c:cat>
          <c:val>
            <c:numRef>
              <c:f>Sheet1!$B$2:$B$6</c:f>
              <c:numCache>
                <c:formatCode>General</c:formatCode>
                <c:ptCount val="5"/>
                <c:pt idx="0">
                  <c:v>18.399999999999999</c:v>
                </c:pt>
                <c:pt idx="1">
                  <c:v>15.2</c:v>
                </c:pt>
                <c:pt idx="2">
                  <c:v>11.7</c:v>
                </c:pt>
                <c:pt idx="3">
                  <c:v>8.3000000000000007</c:v>
                </c:pt>
                <c:pt idx="4">
                  <c:v>3.8</c:v>
                </c:pt>
              </c:numCache>
            </c:numRef>
          </c:val>
          <c:extLst>
            <c:ext xmlns:c16="http://schemas.microsoft.com/office/drawing/2014/chart" uri="{C3380CC4-5D6E-409C-BE32-E72D297353CC}">
              <c16:uniqueId val="{0000000A-DFEC-B045-A2C0-C1807146240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4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ByteMe — a computational intelligence framework designed specifically to address the real estate data void in Southeast Asia. Our team from Saigon Business School brings together expertise in data science, computational modeling, and regional market dynamics. The problem we solve is not just technical — it is fundamentally a problem of equity, transparency, and sustainable economic development in one of the world's fastest-growing regions. We will cover the problem, our four-pillar solution, methodology, results from two Philippine case studies, and the broader implications for management science.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Southeast Asia's real estate market is enormous and growing fast — over $4.7 trillion projected by 2030. Yet it is structurally opaque. There are three interlocking problems. First, information asymmetry: institutional investors access proprietary data that retail investors simply cannot get. Second, opaque transactions: land registries across the Philippines, Vietnam, Indonesia are fragmented and often paper-based. Third, cultural misalignment: every AI tool on the market was built for Western markets. They don't understand feng shui premiums, they don't parse local news for sentiment, they don't know that a property near a cemetery in Vietnam commands a very different price than one in Texas. These three problems compound each other and they disproportionately hurt retail investors and local communities.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hasn't this been solved? The leading platforms fail for the same reason: they were designed for data-rich, culturally homogeneous markets. The cold-start problem is particularly brutal: secondary cities in the Philippines like La Union and Iloilo may have only a few hundred documented transactions per year. You cannot train a hedonic pricing model on that. Our research gap is precise: no framework exists that combines transfer learning for data scarcity, cultural sentiment parsing, and proxy yield modeling into a unified system. The timing matters. SE Asia PropTech investment grew 340% from 2019 to 2024. Whoever defines the standard methodology now will shape the entire market.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ByteMe is not just another property listing aggregator. It is a computational intelligence engine built from the ground up for Southeast Asia. The platform is web-based — accessible to anyone with an internet connection, not just firms with million-dollar Bloomberg terminals. Our design philosophy: computational rigor meets cultural intelligence. You cannot have one without the other in SE Asia. The framework rests on four pillars. LightGBM — the most efficient gradient boosting algorithm for sparse tabular data. Proxy Yield Modeling — because rental data is almost never available, we construct proxies from tourism density, infrastructure investment, and economic indices. Transfer Learning — importing knowledge from Singapore and Malaysia and adapting it to Philippine secondary cities. And the Sentiment-Aware Market Efficiency Index — a cultural parsing layer unique to ByteMe.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each pillar. LightGBM: we chose it over XGBoost and Random Forest because it uses leaf-wise tree growth — it achieves lower loss with the same number of iterations, handles missing values and categorical features natively. Proxy Yield Modeling: in secondary Philippine cities there is almost no published rental data. So we construct yield proxies from tourism density, local infrastructure investment, and regional economic growth indices. Transfer Learning: we train on Singapore and Malaysian data — deep, clean, well-documented — then fine-tune on Philippine data. This reduces required local data volume by approximately 70%. Finally, the Sentiment Index: a Filipino-language NLP pipeline that parses local news, Lamudi listings comments, social media, and legal registry filings. This is the layer that no Western platform has.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LightGBM, the feature engineering is critical. We use four categories. Location proxies capture structural value drivers — distance to CBDs, flood risk maps, school quality indices. Infrastructure indices assess physical capital quality. Amenity scores capture quality of life factors. And price trend signals introduce time-series momentum. For Proxy Yield Modeling, the key insight is that rental data is almost entirely absent in secondary Philippine cities. But we can construct a proxy yield from observable variables. Tourism density is particularly powerful for La Union — it's a major surf destination. We anchor our cap rates to Singapore and Malaysian comparables, then apply local adjustments. The output is a complete investment picture: expected yield, price appreciation, and a divergence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learning is the engine that makes ByteMe possible in data-sparse markets. We start with Singapore and Malaysia — 40,000+ clean transactions. We train a base model that learns fundamental pricing patterns. A domain adaptation layer maps these patterns to Philippine equivalents — for example, Singapore's MRT proximity premium maps to Iloilo's Megaworld township proximity premium. We fine-tune on just 500–1,200 local transactions. The Sentiment-Aware Index is our secret weapon. We built a Filipino-language NLP pipeline that reads local news for zoning announcements, monitors social media, scans legal registries for foreclosure patterns, and applies cultural weighting factors: in some Philippine communities, proximity to a church adds a 12–15% premium; proximity to certain flood-prone barangays applies an automatic discount regardless of official flood maps.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methodology is longitudinal — spanning 2024 data collection through 2025 validation. In Q1-Q2 2024, we collected from six sources: Lamudi.com.ph for property listings, PSA for economic indicators, the Land Registration Authority for transaction history, DENR flood maps, Department of Tourism statistics, and social media. Q3 2024: transfer learning training. Q4 2024: simulations for La Union and Iloilo, generating 2025 price benchmarks. The critical validation step occurred in 2025: we compared our predictions against contemporary academic literature and media reports — including JLL and CBRE Philippines market reports. This is more rigorous than standard cross-validation — it is genuine out-of-sample longitudinal prediction. Our key metric is σ &lt; 0.05: predicted price ranges are extremely stable across test periods.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 Union and Iloilo? These are precisely the markets where the problem is most acute and the opportunity greatest. La Union is fascinating: driven by tourism and the digital nomad economy, short-term rental yields are 2–3× traditional residential yields, but there's almost no documented cap rate data. Our Proxy Yield Model is the only tool that can give an investor a meaningful number here. Iloilo is the other extreme: it has an institutional anchor in Megaworld's development, but the secondary market surrounding that anchor is completely opaque. Rapid gentrification means historical prices are misleading. Transfer learning from Cebu — which went through a very similar development trajectory a decade earlier — gives us the temporal anchoring needed to predict accurately. Both markets validated our approach precisely because they presented such different challenges.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strong. Our headline metric is σ = 0.043 — below our 0.05 threshold. In practical terms, for La Union we predicted ₱38,400–42,200 per sqm for 2025. Contemporary 2025 reports confirm ₱37,800–43,500 — our range sits precisely within the validated range. For Iloilo CBD, we predicted ₱68,500–75,000; actual 2025 benchmarks confirm ₱67,200–76,800. Our mean absolute error of ±3.8% compares to 18.4% for a generic XGBoost baseline — a 2.1× improvement. Critically, the false-positive investment signal reduction of 68% means investors using ByteMe are far less likely to chase properties that appear attractive but are fundamentally overpriced relative to yield-adjusted value.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intelligence findings are where ByteMe's practical value becomes undeniable. In La Union, 23% of sampled listings were overpriced by 15 to 28% relative to yield-adjusted fair value. Nearly 1 in 4 listed properties has a fundamental problem that a naive investor would miss. We also identified undervalued clusters — inland properties with new road access that are 15 to 22% below fair value. For Iloilo, the port expansion finding is compelling: our sentiment index captured the price impact 6 weeks before it showed up in transaction data — a 6-week early warning window. We also caught flood risk signals in three barangays that official DENR maps didn't reflect — potentially protecting investors from catastrophic losses. This is the real-world difference between a culturally-aware system and a generic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of ByteMe is fundamentally about equity. Today, institutional-grade real estate intelligence is locked behind expensive retainers. Small investors — including millions of Overseas Filipino Workers who send remittances home and want to invest in Philippine property — have no access to the same quality of analysis. ByteMe changes that. Every person with internet access can query a property and receive the same depth of analysis that a professional investment firm would commission. The beneficiaries are broad: retail investors, OFW remittance investors, SME developers who can't afford institutional research, local government units making zoning decisions, and urban planners modeling growth corridors. This is not just a fintech product — it is a contribution to economic equity and sustainable regional development.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of contribution. Theoretically: we extend the real estate valuation literature into a domain it has largely ignored — data-scarce, culturally complex emerging markets. Our framework is the first to combine transfer learning, cultural sentiment parsing, and proxy yield modeling. Methodologically: we introduce a novel proxy yield construction methodology and a Filipino-language NLP pipeline adaptable to other regional languages. Our longitudinal validation design is more rigorous than standard cross-validation. Practically: a working web platform, a replicable blueprint for Vietnam and Indonesia, and direct alignment with UN SDGs 10 and 11. Market transparency is not just good for investors — it stabilizes economies, reduces speculative bubbles, and ensures growth benefits communities, not just capital.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Intellectual honesty about limitations is what separates strong research from weak research. Our geographic scope is currently two Philippine cities. This is a deliberate depth-over-breadth choice, but it means generalizability claims must be made cautiously. Our data sources are not all-market — private transactions are invisible to us. Our sentiment NLP has partial Bisaya coverage. And our temporal scope is one economic cycle. On future work: Phase 2 expands to Vietnam and Indonesia. Phase 3 introduces real-time feeds. Phase 4 delivers mobile access. And we intend to open-source the core framework — because the real estate data void in SE Asia is a problem that deserves community-wide solutions, not proprietary moats.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problem of real estate information asymmetry in Southeast Asia is real and significant. ByteMe is our answer. We have demonstrated four things. First, that cultural intelligence and computational rigor must coexist. Second, that σ &lt; 0.05 predictive stability is achievable in data-sparse secondary markets. Third, that transfer learning genuinely solves the cold-start problem — validated against real 2025 market data. Fourth, that the cultural sentiment layer provides a 68% reduction in false positive signals — a number that translates directly into better investment decisions and reduced speculative risk. We invite the research community to build on this work. The data void in SE Asia is too large for any single team to fill. But ByteMe has established that the framework exists to do so.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Anticipated judge questions: (1) How do you validate cultural weights? Calibrated with local real estate brokers and urban economists; 2025 validation confirms the weighting approach. (2) What is the computational cost? LightGBM inference is sub-second per property. (3) Have you compared against professional appraisers? Our ±3.8% MAE compares favorably to licensed appraisers who typically achieve 5–8% variance in secondary PH markets. (4) Can this extend to commercial property? Proxy yield methodology applies directly to commercial — Phase 3 target. (5) How do you handle post-disaster markets like post-typhoon recovery? Sentiment index detects disaster-related legal and social signals quickly; real-time feeds in Phase 3 will enhance this further.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D4A017"/>
          </a:solidFill>
          <a:ln w="12700">
            <a:solidFill>
              <a:srgbClr val="D4A017"/>
            </a:solidFill>
            <a:prstDash val="solid"/>
          </a:ln>
        </p:spPr>
      </p:sp>
      <p:sp>
        <p:nvSpPr>
          <p:cNvPr id="3" name="Shape 1"/>
          <p:cNvSpPr/>
          <p:nvPr/>
        </p:nvSpPr>
        <p:spPr>
          <a:xfrm>
            <a:off x="0" y="5015484"/>
            <a:ext cx="9144000" cy="128016"/>
          </a:xfrm>
          <a:prstGeom prst="rect">
            <a:avLst/>
          </a:prstGeom>
          <a:solidFill>
            <a:srgbClr val="D4A017"/>
          </a:solidFill>
          <a:ln w="12700">
            <a:solidFill>
              <a:srgbClr val="D4A017"/>
            </a:solidFill>
            <a:prstDash val="solid"/>
          </a:ln>
        </p:spPr>
      </p:sp>
      <p:sp>
        <p:nvSpPr>
          <p:cNvPr id="4" name="Shape 2"/>
          <p:cNvSpPr/>
          <p:nvPr/>
        </p:nvSpPr>
        <p:spPr>
          <a:xfrm>
            <a:off x="438912" y="457200"/>
            <a:ext cx="73152" cy="4206240"/>
          </a:xfrm>
          <a:prstGeom prst="rect">
            <a:avLst/>
          </a:prstGeom>
          <a:solidFill>
            <a:srgbClr val="D4A017"/>
          </a:solidFill>
          <a:ln w="12700">
            <a:solidFill>
              <a:srgbClr val="D4A017"/>
            </a:solidFill>
            <a:prstDash val="solid"/>
          </a:ln>
        </p:spPr>
      </p:sp>
      <p:sp>
        <p:nvSpPr>
          <p:cNvPr id="5" name="Shape 3"/>
          <p:cNvSpPr/>
          <p:nvPr/>
        </p:nvSpPr>
        <p:spPr>
          <a:xfrm>
            <a:off x="6903720" y="274320"/>
            <a:ext cx="2011680" cy="347472"/>
          </a:xfrm>
          <a:prstGeom prst="rect">
            <a:avLst/>
          </a:prstGeom>
          <a:solidFill>
            <a:srgbClr val="D4A017"/>
          </a:solidFill>
          <a:ln w="12700">
            <a:solidFill>
              <a:srgbClr val="D4A017"/>
            </a:solidFill>
            <a:prstDash val="solid"/>
          </a:ln>
        </p:spPr>
      </p:sp>
      <p:sp>
        <p:nvSpPr>
          <p:cNvPr id="6" name="Text 4"/>
          <p:cNvSpPr/>
          <p:nvPr/>
        </p:nvSpPr>
        <p:spPr>
          <a:xfrm>
            <a:off x="6903720" y="274320"/>
            <a:ext cx="2011680" cy="347472"/>
          </a:xfrm>
          <a:prstGeom prst="rect">
            <a:avLst/>
          </a:prstGeom>
          <a:noFill/>
          <a:ln/>
        </p:spPr>
        <p:txBody>
          <a:bodyPr wrap="square" lIns="0" tIns="0" rIns="0" bIns="0" rtlCol="0" anchor="ctr"/>
          <a:lstStyle/>
          <a:p>
            <a:pPr marL="0" indent="0" algn="ctr">
              <a:buNone/>
            </a:pPr>
            <a:r>
              <a:rPr lang="en-US" sz="850" b="1" kern="0" spc="150" dirty="0">
                <a:solidFill>
                  <a:srgbClr val="1B2A4A"/>
                </a:solidFill>
                <a:latin typeface="Trebuchet MS" pitchFamily="34" charset="0"/>
                <a:ea typeface="Trebuchet MS" pitchFamily="34" charset="-122"/>
                <a:cs typeface="Trebuchet MS" pitchFamily="34" charset="-120"/>
              </a:rPr>
              <a:t>MANAGEMENT TRACK</a:t>
            </a:r>
            <a:endParaRPr lang="en-US" sz="850" dirty="0"/>
          </a:p>
        </p:txBody>
      </p:sp>
      <p:sp>
        <p:nvSpPr>
          <p:cNvPr id="7" name="Text 5"/>
          <p:cNvSpPr/>
          <p:nvPr/>
        </p:nvSpPr>
        <p:spPr>
          <a:xfrm>
            <a:off x="685800" y="594360"/>
            <a:ext cx="8229600" cy="777240"/>
          </a:xfrm>
          <a:prstGeom prst="rect">
            <a:avLst/>
          </a:prstGeom>
          <a:noFill/>
          <a:ln/>
        </p:spPr>
        <p:txBody>
          <a:bodyPr wrap="square" rtlCol="0" anchor="ctr"/>
          <a:lstStyle/>
          <a:p>
            <a:pPr marL="0" indent="0" algn="l">
              <a:buNone/>
            </a:pPr>
            <a:r>
              <a:rPr lang="en-US" sz="4000" b="1" dirty="0">
                <a:solidFill>
                  <a:srgbClr val="FFFFFF"/>
                </a:solidFill>
                <a:latin typeface="Trebuchet MS" pitchFamily="34" charset="0"/>
                <a:ea typeface="Trebuchet MS" pitchFamily="34" charset="-122"/>
                <a:cs typeface="Trebuchet MS" pitchFamily="34" charset="-120"/>
              </a:rPr>
              <a:t>Bridging the Data Void</a:t>
            </a:r>
            <a:endParaRPr lang="en-US" sz="4000" dirty="0"/>
          </a:p>
        </p:txBody>
      </p:sp>
      <p:sp>
        <p:nvSpPr>
          <p:cNvPr id="8" name="Shape 6"/>
          <p:cNvSpPr/>
          <p:nvPr/>
        </p:nvSpPr>
        <p:spPr>
          <a:xfrm>
            <a:off x="685800" y="1399032"/>
            <a:ext cx="8229600" cy="50292"/>
          </a:xfrm>
          <a:prstGeom prst="rect">
            <a:avLst/>
          </a:prstGeom>
          <a:solidFill>
            <a:srgbClr val="D4A017"/>
          </a:solidFill>
          <a:ln w="12700">
            <a:solidFill>
              <a:srgbClr val="D4A017"/>
            </a:solidFill>
            <a:prstDash val="solid"/>
          </a:ln>
        </p:spPr>
      </p:sp>
      <p:sp>
        <p:nvSpPr>
          <p:cNvPr id="9" name="Text 7"/>
          <p:cNvSpPr/>
          <p:nvPr/>
        </p:nvSpPr>
        <p:spPr>
          <a:xfrm>
            <a:off x="685800" y="1481328"/>
            <a:ext cx="8229600" cy="868680"/>
          </a:xfrm>
          <a:prstGeom prst="rect">
            <a:avLst/>
          </a:prstGeom>
          <a:noFill/>
          <a:ln/>
        </p:spPr>
        <p:txBody>
          <a:bodyPr wrap="square" rtlCol="0" anchor="ctr"/>
          <a:lstStyle/>
          <a:p>
            <a:pPr marL="0" indent="0" algn="l">
              <a:buNone/>
            </a:pPr>
            <a:r>
              <a:rPr lang="en-US" sz="1650" dirty="0">
                <a:solidFill>
                  <a:srgbClr val="F0C84A"/>
                </a:solidFill>
                <a:latin typeface="Trebuchet MS" pitchFamily="34" charset="0"/>
                <a:ea typeface="Trebuchet MS" pitchFamily="34" charset="-122"/>
                <a:cs typeface="Trebuchet MS" pitchFamily="34" charset="-120"/>
              </a:rPr>
              <a:t>A Computational Intelligence Framework for</a:t>
            </a:r>
            <a:endParaRPr lang="en-US" sz="1650" dirty="0"/>
          </a:p>
          <a:p>
            <a:pPr marL="0" indent="0" algn="l">
              <a:buNone/>
            </a:pPr>
            <a:r>
              <a:rPr lang="en-US" sz="1650" dirty="0">
                <a:solidFill>
                  <a:srgbClr val="F0C84A"/>
                </a:solidFill>
                <a:latin typeface="Trebuchet MS" pitchFamily="34" charset="0"/>
                <a:ea typeface="Trebuchet MS" pitchFamily="34" charset="-122"/>
                <a:cs typeface="Trebuchet MS" pitchFamily="34" charset="-120"/>
              </a:rPr>
              <a:t>Culturally Contextualized Real Estate Valuation in Southeast Asia</a:t>
            </a:r>
            <a:endParaRPr lang="en-US" sz="1650" dirty="0"/>
          </a:p>
        </p:txBody>
      </p:sp>
      <p:sp>
        <p:nvSpPr>
          <p:cNvPr id="10" name="Shape 8"/>
          <p:cNvSpPr/>
          <p:nvPr/>
        </p:nvSpPr>
        <p:spPr>
          <a:xfrm>
            <a:off x="685800" y="2542032"/>
            <a:ext cx="5120640" cy="1737360"/>
          </a:xfrm>
          <a:prstGeom prst="rect">
            <a:avLst/>
          </a:prstGeom>
          <a:solidFill>
            <a:srgbClr val="2A3F6F"/>
          </a:solidFill>
          <a:ln w="12700">
            <a:solidFill>
              <a:srgbClr val="3D5A8A"/>
            </a:solidFill>
            <a:prstDash val="solid"/>
          </a:ln>
        </p:spPr>
      </p:sp>
      <p:sp>
        <p:nvSpPr>
          <p:cNvPr id="11" name="Text 9"/>
          <p:cNvSpPr/>
          <p:nvPr/>
        </p:nvSpPr>
        <p:spPr>
          <a:xfrm>
            <a:off x="868680" y="2633472"/>
            <a:ext cx="4754880" cy="1554480"/>
          </a:xfrm>
          <a:prstGeom prst="rect">
            <a:avLst/>
          </a:prstGeom>
          <a:noFill/>
          <a:ln/>
        </p:spPr>
        <p:txBody>
          <a:bodyPr wrap="square" rtlCol="0" anchor="t"/>
          <a:lstStyle/>
          <a:p>
            <a:pPr marL="0" indent="0" algn="l">
              <a:buNone/>
            </a:pPr>
            <a:r>
              <a:rPr lang="en-US" sz="1350" b="1" dirty="0">
                <a:solidFill>
                  <a:srgbClr val="D4A017"/>
                </a:solidFill>
              </a:rPr>
              <a:t>Team ByteMe</a:t>
            </a:r>
            <a:endParaRPr lang="en-US" sz="1350" dirty="0"/>
          </a:p>
          <a:p>
            <a:pPr marL="0" indent="0" algn="l">
              <a:buNone/>
            </a:pPr>
            <a:r>
              <a:rPr lang="en-US" sz="1050" dirty="0">
                <a:solidFill>
                  <a:srgbClr val="FFFFFF"/>
                </a:solidFill>
              </a:rPr>
              <a:t>Honey Thet Htar Zin  ·  Sitt Min Thar  ·  Thu Htet Naing</a:t>
            </a:r>
            <a:endParaRPr lang="en-US" sz="1350" dirty="0"/>
          </a:p>
          <a:p>
            <a:pPr marL="0" indent="0" algn="l">
              <a:buNone/>
            </a:pPr>
            <a:r>
              <a:rPr lang="en-US" sz="400" dirty="0">
                <a:solidFill>
                  <a:srgbClr val="000000"/>
                </a:solidFill>
              </a:rPr>
              <a:t> </a:t>
            </a:r>
            <a:endParaRPr lang="en-US" sz="1350" dirty="0"/>
          </a:p>
          <a:p>
            <a:pPr marL="0" indent="0" algn="l">
              <a:buNone/>
            </a:pPr>
            <a:r>
              <a:rPr lang="en-US" sz="1100" b="1" dirty="0">
                <a:solidFill>
                  <a:srgbClr val="F0C84A"/>
                </a:solidFill>
              </a:rPr>
              <a:t>Saigon Business School</a:t>
            </a:r>
            <a:endParaRPr lang="en-US" sz="1350" dirty="0"/>
          </a:p>
          <a:p>
            <a:pPr marL="0" indent="0" algn="l">
              <a:buNone/>
            </a:pPr>
            <a:r>
              <a:rPr lang="en-US" sz="1000" dirty="0">
                <a:solidFill>
                  <a:srgbClr val="94A3B8"/>
                </a:solidFill>
              </a:rPr>
              <a:t>April 2026</a:t>
            </a:r>
            <a:endParaRPr lang="en-US" sz="1350" dirty="0"/>
          </a:p>
        </p:txBody>
      </p:sp>
      <p:sp>
        <p:nvSpPr>
          <p:cNvPr id="12" name="Shape 10"/>
          <p:cNvSpPr/>
          <p:nvPr/>
        </p:nvSpPr>
        <p:spPr>
          <a:xfrm>
            <a:off x="685800" y="4462272"/>
            <a:ext cx="8229600" cy="292608"/>
          </a:xfrm>
          <a:prstGeom prst="rect">
            <a:avLst/>
          </a:prstGeom>
          <a:solidFill>
            <a:srgbClr val="2A3F6F"/>
          </a:solidFill>
          <a:ln w="12700">
            <a:solidFill>
              <a:srgbClr val="3D5A8A"/>
            </a:solidFill>
            <a:prstDash val="solid"/>
          </a:ln>
        </p:spPr>
      </p:sp>
      <p:sp>
        <p:nvSpPr>
          <p:cNvPr id="13" name="Text 11"/>
          <p:cNvSpPr/>
          <p:nvPr/>
        </p:nvSpPr>
        <p:spPr>
          <a:xfrm>
            <a:off x="685800" y="4462272"/>
            <a:ext cx="8229600" cy="292608"/>
          </a:xfrm>
          <a:prstGeom prst="rect">
            <a:avLst/>
          </a:prstGeom>
          <a:noFill/>
          <a:ln/>
        </p:spPr>
        <p:txBody>
          <a:bodyPr wrap="square" lIns="0" tIns="0" rIns="0" bIns="0" rtlCol="0" anchor="ctr"/>
          <a:lstStyle/>
          <a:p>
            <a:pPr marL="0" indent="0" algn="ctr">
              <a:buNone/>
            </a:pPr>
            <a:r>
              <a:rPr lang="en-US" sz="850" dirty="0">
                <a:solidFill>
                  <a:srgbClr val="94A3B8"/>
                </a:solidFill>
              </a:rPr>
              <a:t>Keywords: Real Estate Intelligence  ·  LightGBM  ·  Proxy Yield Modeling  ·  Information Asymmetry  ·  Southeast Asia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The Problem: Southeast Asia's Real Estate Data Void</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2 / 16</a:t>
            </a:r>
            <a:endParaRPr lang="en-US" sz="750" dirty="0"/>
          </a:p>
        </p:txBody>
      </p:sp>
      <p:sp>
        <p:nvSpPr>
          <p:cNvPr id="8" name="Shape 6"/>
          <p:cNvSpPr/>
          <p:nvPr/>
        </p:nvSpPr>
        <p:spPr>
          <a:xfrm>
            <a:off x="228600" y="987552"/>
            <a:ext cx="8686800" cy="475488"/>
          </a:xfrm>
          <a:prstGeom prst="rect">
            <a:avLst/>
          </a:prstGeom>
          <a:solidFill>
            <a:srgbClr val="1B2A4A"/>
          </a:solidFill>
          <a:ln w="12700">
            <a:solidFill>
              <a:srgbClr val="1B2A4A"/>
            </a:solidFill>
            <a:prstDash val="solid"/>
          </a:ln>
        </p:spPr>
      </p:sp>
      <p:sp>
        <p:nvSpPr>
          <p:cNvPr id="9" name="Text 7"/>
          <p:cNvSpPr/>
          <p:nvPr/>
        </p:nvSpPr>
        <p:spPr>
          <a:xfrm>
            <a:off x="320040" y="987552"/>
            <a:ext cx="8503920" cy="475488"/>
          </a:xfrm>
          <a:prstGeom prst="rect">
            <a:avLst/>
          </a:prstGeom>
          <a:noFill/>
          <a:ln/>
        </p:spPr>
        <p:txBody>
          <a:bodyPr wrap="square" lIns="0" tIns="0" rIns="0" bIns="0" rtlCol="0" anchor="ctr"/>
          <a:lstStyle/>
          <a:p>
            <a:pPr marL="0" indent="0" algn="ctr">
              <a:buNone/>
            </a:pPr>
            <a:r>
              <a:rPr lang="en-US" sz="1150" b="1" i="1" dirty="0">
                <a:solidFill>
                  <a:srgbClr val="F0C84A"/>
                </a:solidFill>
              </a:rPr>
              <a:t>SE Asia's real estate market is projected to exceed $4.7 trillion by 2030 — yet remains structurally opaque to most investors.</a:t>
            </a:r>
            <a:endParaRPr lang="en-US" sz="1150" dirty="0"/>
          </a:p>
        </p:txBody>
      </p:sp>
      <p:sp>
        <p:nvSpPr>
          <p:cNvPr id="10" name="Shape 8"/>
          <p:cNvSpPr/>
          <p:nvPr/>
        </p:nvSpPr>
        <p:spPr>
          <a:xfrm>
            <a:off x="256032" y="1554480"/>
            <a:ext cx="2788920" cy="31546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1" name="Shape 9"/>
          <p:cNvSpPr/>
          <p:nvPr/>
        </p:nvSpPr>
        <p:spPr>
          <a:xfrm>
            <a:off x="256032" y="1554480"/>
            <a:ext cx="2788920" cy="109728"/>
          </a:xfrm>
          <a:prstGeom prst="rect">
            <a:avLst/>
          </a:prstGeom>
          <a:solidFill>
            <a:srgbClr val="C0392B"/>
          </a:solidFill>
          <a:ln w="12700">
            <a:solidFill>
              <a:srgbClr val="C0392B"/>
            </a:solidFill>
            <a:prstDash val="solid"/>
          </a:ln>
        </p:spPr>
      </p:sp>
      <p:sp>
        <p:nvSpPr>
          <p:cNvPr id="12" name="Shape 10"/>
          <p:cNvSpPr/>
          <p:nvPr/>
        </p:nvSpPr>
        <p:spPr>
          <a:xfrm>
            <a:off x="1325880" y="1691640"/>
            <a:ext cx="640080" cy="640080"/>
          </a:xfrm>
          <a:prstGeom prst="ellipse">
            <a:avLst/>
          </a:prstGeom>
          <a:solidFill>
            <a:srgbClr val="1B2A4A"/>
          </a:solidFill>
          <a:ln w="12700">
            <a:solidFill>
              <a:srgbClr val="1B2A4A"/>
            </a:solidFill>
            <a:prstDash val="solid"/>
          </a:ln>
        </p:spPr>
      </p:sp>
      <p:sp>
        <p:nvSpPr>
          <p:cNvPr id="13" name="Text 11"/>
          <p:cNvSpPr/>
          <p:nvPr/>
        </p:nvSpPr>
        <p:spPr>
          <a:xfrm>
            <a:off x="1325880" y="1691640"/>
            <a:ext cx="640080" cy="640080"/>
          </a:xfrm>
          <a:prstGeom prst="rect">
            <a:avLst/>
          </a:prstGeom>
          <a:noFill/>
          <a:ln/>
        </p:spPr>
        <p:txBody>
          <a:bodyPr wrap="square" lIns="0" tIns="0" rIns="0" bIns="0" rtlCol="0" anchor="ctr"/>
          <a:lstStyle/>
          <a:p>
            <a:pPr marL="0" indent="0" algn="ctr">
              <a:buNone/>
            </a:pPr>
            <a:r>
              <a:rPr lang="en-US" sz="2200" b="1" dirty="0">
                <a:solidFill>
                  <a:srgbClr val="D4A017"/>
                </a:solidFill>
              </a:rPr>
              <a:t>1</a:t>
            </a:r>
            <a:endParaRPr lang="en-US" sz="2200" dirty="0"/>
          </a:p>
        </p:txBody>
      </p:sp>
      <p:sp>
        <p:nvSpPr>
          <p:cNvPr id="14" name="Text 12"/>
          <p:cNvSpPr/>
          <p:nvPr/>
        </p:nvSpPr>
        <p:spPr>
          <a:xfrm>
            <a:off x="347472" y="2395728"/>
            <a:ext cx="2606040" cy="502920"/>
          </a:xfrm>
          <a:prstGeom prst="rect">
            <a:avLst/>
          </a:prstGeom>
          <a:noFill/>
          <a:ln/>
        </p:spPr>
        <p:txBody>
          <a:bodyPr wrap="square" rtlCol="0" anchor="ctr"/>
          <a:lstStyle/>
          <a:p>
            <a:pPr marL="0" indent="0" algn="ctr">
              <a:buNone/>
            </a:pPr>
            <a:r>
              <a:rPr lang="en-US" sz="1300" b="1" dirty="0">
                <a:solidFill>
                  <a:srgbClr val="1B2A4A"/>
                </a:solidFill>
                <a:latin typeface="Trebuchet MS" pitchFamily="34" charset="0"/>
                <a:ea typeface="Trebuchet MS" pitchFamily="34" charset="-122"/>
                <a:cs typeface="Trebuchet MS" pitchFamily="34" charset="-120"/>
              </a:rPr>
              <a:t>Information</a:t>
            </a:r>
            <a:endParaRPr lang="en-US" sz="1300" dirty="0"/>
          </a:p>
          <a:p>
            <a:pPr marL="0" indent="0" algn="ctr">
              <a:buNone/>
            </a:pPr>
            <a:r>
              <a:rPr lang="en-US" sz="1300" b="1" dirty="0">
                <a:solidFill>
                  <a:srgbClr val="1B2A4A"/>
                </a:solidFill>
                <a:latin typeface="Trebuchet MS" pitchFamily="34" charset="0"/>
                <a:ea typeface="Trebuchet MS" pitchFamily="34" charset="-122"/>
                <a:cs typeface="Trebuchet MS" pitchFamily="34" charset="-120"/>
              </a:rPr>
              <a:t>Asymmetry</a:t>
            </a:r>
            <a:endParaRPr lang="en-US" sz="1300" dirty="0"/>
          </a:p>
        </p:txBody>
      </p:sp>
      <p:sp>
        <p:nvSpPr>
          <p:cNvPr id="15" name="Text 13"/>
          <p:cNvSpPr/>
          <p:nvPr/>
        </p:nvSpPr>
        <p:spPr>
          <a:xfrm>
            <a:off x="365760" y="2926080"/>
            <a:ext cx="2578608" cy="1691640"/>
          </a:xfrm>
          <a:prstGeom prst="rect">
            <a:avLst/>
          </a:prstGeom>
          <a:noFill/>
          <a:ln/>
        </p:spPr>
        <p:txBody>
          <a:bodyPr wrap="square" rtlCol="0" anchor="t"/>
          <a:lstStyle/>
          <a:p>
            <a:pPr marL="0" indent="0" algn="l">
              <a:buNone/>
            </a:pPr>
            <a:r>
              <a:rPr lang="en-US" sz="950" dirty="0">
                <a:solidFill>
                  <a:srgbClr val="2D3748"/>
                </a:solidFill>
              </a:rPr>
              <a:t>Institutional investors access proprietary data that retail investors cannot. Price signals are opaque and gated behind expensive market research retainers.</a:t>
            </a:r>
            <a:endParaRPr lang="en-US" sz="950" dirty="0"/>
          </a:p>
          <a:p>
            <a:pPr marL="0" indent="0" algn="l">
              <a:buNone/>
            </a:pPr>
            <a:endParaRPr lang="en-US" sz="950" dirty="0"/>
          </a:p>
          <a:p>
            <a:pPr marL="0" indent="0" algn="l">
              <a:buNone/>
            </a:pPr>
            <a:r>
              <a:rPr lang="en-US" sz="950" dirty="0">
                <a:solidFill>
                  <a:srgbClr val="2D3748"/>
                </a:solidFill>
              </a:rPr>
              <a:t>The result: a two-tier market where capital advantages compound themselves.</a:t>
            </a:r>
            <a:endParaRPr lang="en-US" sz="950" dirty="0"/>
          </a:p>
        </p:txBody>
      </p:sp>
      <p:sp>
        <p:nvSpPr>
          <p:cNvPr id="16" name="Shape 14"/>
          <p:cNvSpPr/>
          <p:nvPr/>
        </p:nvSpPr>
        <p:spPr>
          <a:xfrm>
            <a:off x="3163824" y="1554480"/>
            <a:ext cx="2788920" cy="31546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7" name="Shape 15"/>
          <p:cNvSpPr/>
          <p:nvPr/>
        </p:nvSpPr>
        <p:spPr>
          <a:xfrm>
            <a:off x="3163824" y="1554480"/>
            <a:ext cx="2788920" cy="109728"/>
          </a:xfrm>
          <a:prstGeom prst="rect">
            <a:avLst/>
          </a:prstGeom>
          <a:solidFill>
            <a:srgbClr val="D4A017"/>
          </a:solidFill>
          <a:ln w="12700">
            <a:solidFill>
              <a:srgbClr val="D4A017"/>
            </a:solidFill>
            <a:prstDash val="solid"/>
          </a:ln>
        </p:spPr>
      </p:sp>
      <p:sp>
        <p:nvSpPr>
          <p:cNvPr id="18" name="Shape 16"/>
          <p:cNvSpPr/>
          <p:nvPr/>
        </p:nvSpPr>
        <p:spPr>
          <a:xfrm>
            <a:off x="4233672" y="1691640"/>
            <a:ext cx="640080" cy="640080"/>
          </a:xfrm>
          <a:prstGeom prst="ellipse">
            <a:avLst/>
          </a:prstGeom>
          <a:solidFill>
            <a:srgbClr val="1B2A4A"/>
          </a:solidFill>
          <a:ln w="12700">
            <a:solidFill>
              <a:srgbClr val="1B2A4A"/>
            </a:solidFill>
            <a:prstDash val="solid"/>
          </a:ln>
        </p:spPr>
      </p:sp>
      <p:sp>
        <p:nvSpPr>
          <p:cNvPr id="19" name="Text 17"/>
          <p:cNvSpPr/>
          <p:nvPr/>
        </p:nvSpPr>
        <p:spPr>
          <a:xfrm>
            <a:off x="4233672" y="1691640"/>
            <a:ext cx="640080" cy="640080"/>
          </a:xfrm>
          <a:prstGeom prst="rect">
            <a:avLst/>
          </a:prstGeom>
          <a:noFill/>
          <a:ln/>
        </p:spPr>
        <p:txBody>
          <a:bodyPr wrap="square" lIns="0" tIns="0" rIns="0" bIns="0" rtlCol="0" anchor="ctr"/>
          <a:lstStyle/>
          <a:p>
            <a:pPr marL="0" indent="0" algn="ctr">
              <a:buNone/>
            </a:pPr>
            <a:r>
              <a:rPr lang="en-US" sz="2200" b="1" dirty="0">
                <a:solidFill>
                  <a:srgbClr val="D4A017"/>
                </a:solidFill>
              </a:rPr>
              <a:t>2</a:t>
            </a:r>
            <a:endParaRPr lang="en-US" sz="2200" dirty="0"/>
          </a:p>
        </p:txBody>
      </p:sp>
      <p:sp>
        <p:nvSpPr>
          <p:cNvPr id="20" name="Text 18"/>
          <p:cNvSpPr/>
          <p:nvPr/>
        </p:nvSpPr>
        <p:spPr>
          <a:xfrm>
            <a:off x="3255264" y="2395728"/>
            <a:ext cx="2606040" cy="502920"/>
          </a:xfrm>
          <a:prstGeom prst="rect">
            <a:avLst/>
          </a:prstGeom>
          <a:noFill/>
          <a:ln/>
        </p:spPr>
        <p:txBody>
          <a:bodyPr wrap="square" rtlCol="0" anchor="ctr"/>
          <a:lstStyle/>
          <a:p>
            <a:pPr marL="0" indent="0" algn="ctr">
              <a:buNone/>
            </a:pPr>
            <a:r>
              <a:rPr lang="en-US" sz="1300" b="1" dirty="0">
                <a:solidFill>
                  <a:srgbClr val="1B2A4A"/>
                </a:solidFill>
                <a:latin typeface="Trebuchet MS" pitchFamily="34" charset="0"/>
                <a:ea typeface="Trebuchet MS" pitchFamily="34" charset="-122"/>
                <a:cs typeface="Trebuchet MS" pitchFamily="34" charset="-120"/>
              </a:rPr>
              <a:t>Opaque</a:t>
            </a:r>
            <a:endParaRPr lang="en-US" sz="1300" dirty="0"/>
          </a:p>
          <a:p>
            <a:pPr marL="0" indent="0" algn="ctr">
              <a:buNone/>
            </a:pPr>
            <a:r>
              <a:rPr lang="en-US" sz="1300" b="1" dirty="0">
                <a:solidFill>
                  <a:srgbClr val="1B2A4A"/>
                </a:solidFill>
                <a:latin typeface="Trebuchet MS" pitchFamily="34" charset="0"/>
                <a:ea typeface="Trebuchet MS" pitchFamily="34" charset="-122"/>
                <a:cs typeface="Trebuchet MS" pitchFamily="34" charset="-120"/>
              </a:rPr>
              <a:t>Transactions</a:t>
            </a:r>
            <a:endParaRPr lang="en-US" sz="1300" dirty="0"/>
          </a:p>
        </p:txBody>
      </p:sp>
      <p:sp>
        <p:nvSpPr>
          <p:cNvPr id="21" name="Text 19"/>
          <p:cNvSpPr/>
          <p:nvPr/>
        </p:nvSpPr>
        <p:spPr>
          <a:xfrm>
            <a:off x="3273552" y="2926080"/>
            <a:ext cx="2578608" cy="1691640"/>
          </a:xfrm>
          <a:prstGeom prst="rect">
            <a:avLst/>
          </a:prstGeom>
          <a:noFill/>
          <a:ln/>
        </p:spPr>
        <p:txBody>
          <a:bodyPr wrap="square" rtlCol="0" anchor="t"/>
          <a:lstStyle/>
          <a:p>
            <a:pPr marL="0" indent="0" algn="l">
              <a:buNone/>
            </a:pPr>
            <a:r>
              <a:rPr lang="en-US" sz="950" dirty="0">
                <a:solidFill>
                  <a:srgbClr val="2D3748"/>
                </a:solidFill>
              </a:rPr>
              <a:t>Land registry records in the Philippines, Vietnam, and Indonesia are incomplete, fragmented, and often paper-based. Digital transaction trails are sparse and inconsistent.</a:t>
            </a:r>
            <a:endParaRPr lang="en-US" sz="950" dirty="0"/>
          </a:p>
          <a:p>
            <a:pPr marL="0" indent="0" algn="l">
              <a:buNone/>
            </a:pPr>
            <a:endParaRPr lang="en-US" sz="950" dirty="0"/>
          </a:p>
          <a:p>
            <a:pPr marL="0" indent="0" algn="l">
              <a:buNone/>
            </a:pPr>
            <a:r>
              <a:rPr lang="en-US" sz="950" dirty="0">
                <a:solidFill>
                  <a:srgbClr val="2D3748"/>
                </a:solidFill>
              </a:rPr>
              <a:t>No data = no reliable model = no fair valuation.</a:t>
            </a:r>
            <a:endParaRPr lang="en-US" sz="950" dirty="0"/>
          </a:p>
        </p:txBody>
      </p:sp>
      <p:sp>
        <p:nvSpPr>
          <p:cNvPr id="22" name="Shape 20"/>
          <p:cNvSpPr/>
          <p:nvPr/>
        </p:nvSpPr>
        <p:spPr>
          <a:xfrm>
            <a:off x="6071616" y="1554480"/>
            <a:ext cx="2788920" cy="31546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3" name="Shape 21"/>
          <p:cNvSpPr/>
          <p:nvPr/>
        </p:nvSpPr>
        <p:spPr>
          <a:xfrm>
            <a:off x="6071616" y="1554480"/>
            <a:ext cx="2788920" cy="109728"/>
          </a:xfrm>
          <a:prstGeom prst="rect">
            <a:avLst/>
          </a:prstGeom>
          <a:solidFill>
            <a:srgbClr val="2A3F6F"/>
          </a:solidFill>
          <a:ln w="12700">
            <a:solidFill>
              <a:srgbClr val="2A3F6F"/>
            </a:solidFill>
            <a:prstDash val="solid"/>
          </a:ln>
        </p:spPr>
      </p:sp>
      <p:sp>
        <p:nvSpPr>
          <p:cNvPr id="24" name="Shape 22"/>
          <p:cNvSpPr/>
          <p:nvPr/>
        </p:nvSpPr>
        <p:spPr>
          <a:xfrm>
            <a:off x="7141464" y="1691640"/>
            <a:ext cx="640080" cy="640080"/>
          </a:xfrm>
          <a:prstGeom prst="ellipse">
            <a:avLst/>
          </a:prstGeom>
          <a:solidFill>
            <a:srgbClr val="1B2A4A"/>
          </a:solidFill>
          <a:ln w="12700">
            <a:solidFill>
              <a:srgbClr val="1B2A4A"/>
            </a:solidFill>
            <a:prstDash val="solid"/>
          </a:ln>
        </p:spPr>
      </p:sp>
      <p:sp>
        <p:nvSpPr>
          <p:cNvPr id="25" name="Text 23"/>
          <p:cNvSpPr/>
          <p:nvPr/>
        </p:nvSpPr>
        <p:spPr>
          <a:xfrm>
            <a:off x="7141464" y="1691640"/>
            <a:ext cx="640080" cy="640080"/>
          </a:xfrm>
          <a:prstGeom prst="rect">
            <a:avLst/>
          </a:prstGeom>
          <a:noFill/>
          <a:ln/>
        </p:spPr>
        <p:txBody>
          <a:bodyPr wrap="square" lIns="0" tIns="0" rIns="0" bIns="0" rtlCol="0" anchor="ctr"/>
          <a:lstStyle/>
          <a:p>
            <a:pPr marL="0" indent="0" algn="ctr">
              <a:buNone/>
            </a:pPr>
            <a:r>
              <a:rPr lang="en-US" sz="2200" b="1" dirty="0">
                <a:solidFill>
                  <a:srgbClr val="D4A017"/>
                </a:solidFill>
              </a:rPr>
              <a:t>3</a:t>
            </a:r>
            <a:endParaRPr lang="en-US" sz="2200" dirty="0"/>
          </a:p>
        </p:txBody>
      </p:sp>
      <p:sp>
        <p:nvSpPr>
          <p:cNvPr id="26" name="Text 24"/>
          <p:cNvSpPr/>
          <p:nvPr/>
        </p:nvSpPr>
        <p:spPr>
          <a:xfrm>
            <a:off x="6163056" y="2395728"/>
            <a:ext cx="2606040" cy="502920"/>
          </a:xfrm>
          <a:prstGeom prst="rect">
            <a:avLst/>
          </a:prstGeom>
          <a:noFill/>
          <a:ln/>
        </p:spPr>
        <p:txBody>
          <a:bodyPr wrap="square" rtlCol="0" anchor="ctr"/>
          <a:lstStyle/>
          <a:p>
            <a:pPr marL="0" indent="0" algn="ctr">
              <a:buNone/>
            </a:pPr>
            <a:r>
              <a:rPr lang="en-US" sz="1300" b="1" dirty="0">
                <a:solidFill>
                  <a:srgbClr val="1B2A4A"/>
                </a:solidFill>
                <a:latin typeface="Trebuchet MS" pitchFamily="34" charset="0"/>
                <a:ea typeface="Trebuchet MS" pitchFamily="34" charset="-122"/>
                <a:cs typeface="Trebuchet MS" pitchFamily="34" charset="-120"/>
              </a:rPr>
              <a:t>Cultural</a:t>
            </a:r>
            <a:endParaRPr lang="en-US" sz="1300" dirty="0"/>
          </a:p>
          <a:p>
            <a:pPr marL="0" indent="0" algn="ctr">
              <a:buNone/>
            </a:pPr>
            <a:r>
              <a:rPr lang="en-US" sz="1300" b="1" dirty="0">
                <a:solidFill>
                  <a:srgbClr val="1B2A4A"/>
                </a:solidFill>
                <a:latin typeface="Trebuchet MS" pitchFamily="34" charset="0"/>
                <a:ea typeface="Trebuchet MS" pitchFamily="34" charset="-122"/>
                <a:cs typeface="Trebuchet MS" pitchFamily="34" charset="-120"/>
              </a:rPr>
              <a:t>Misalignment</a:t>
            </a:r>
            <a:endParaRPr lang="en-US" sz="1300" dirty="0"/>
          </a:p>
        </p:txBody>
      </p:sp>
      <p:sp>
        <p:nvSpPr>
          <p:cNvPr id="27" name="Text 25"/>
          <p:cNvSpPr/>
          <p:nvPr/>
        </p:nvSpPr>
        <p:spPr>
          <a:xfrm>
            <a:off x="6181344" y="2926080"/>
            <a:ext cx="2578608" cy="1691640"/>
          </a:xfrm>
          <a:prstGeom prst="rect">
            <a:avLst/>
          </a:prstGeom>
          <a:noFill/>
          <a:ln/>
        </p:spPr>
        <p:txBody>
          <a:bodyPr wrap="square" rtlCol="0" anchor="t"/>
          <a:lstStyle/>
          <a:p>
            <a:pPr marL="0" indent="0" algn="l">
              <a:buNone/>
            </a:pPr>
            <a:r>
              <a:rPr lang="en-US" sz="950" dirty="0">
                <a:solidFill>
                  <a:srgbClr val="2D3748"/>
                </a:solidFill>
              </a:rPr>
              <a:t>Every AI valuation tool on the market was built for US, UK, or Australian markets. They fail to capture feng shui premiums, ancestral land rules, cemetery proximity discounts, and informal pricing norms.</a:t>
            </a:r>
            <a:endParaRPr lang="en-US" sz="950" dirty="0"/>
          </a:p>
          <a:p>
            <a:pPr marL="0" indent="0" algn="l">
              <a:buNone/>
            </a:pPr>
            <a:endParaRPr lang="en-US" sz="950" dirty="0"/>
          </a:p>
          <a:p>
            <a:pPr marL="0" indent="0" algn="l">
              <a:buNone/>
            </a:pPr>
            <a:r>
              <a:rPr lang="en-US" sz="950" dirty="0">
                <a:solidFill>
                  <a:srgbClr val="2D3748"/>
                </a:solidFill>
              </a:rPr>
              <a:t>Wrong context = wrong price.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Research Gap &amp; Motivation</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3 / 16</a:t>
            </a:r>
            <a:endParaRPr lang="en-US" sz="750" dirty="0"/>
          </a:p>
        </p:txBody>
      </p:sp>
      <p:sp>
        <p:nvSpPr>
          <p:cNvPr id="8" name="Shape 6"/>
          <p:cNvSpPr/>
          <p:nvPr/>
        </p:nvSpPr>
        <p:spPr>
          <a:xfrm>
            <a:off x="228600" y="1005840"/>
            <a:ext cx="41605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4160520" cy="365760"/>
          </a:xfrm>
          <a:prstGeom prst="rect">
            <a:avLst/>
          </a:prstGeom>
          <a:solidFill>
            <a:srgbClr val="C0392B"/>
          </a:solidFill>
          <a:ln w="12700">
            <a:solidFill>
              <a:srgbClr val="C0392B"/>
            </a:solidFill>
            <a:prstDash val="solid"/>
          </a:ln>
        </p:spPr>
      </p:sp>
      <p:sp>
        <p:nvSpPr>
          <p:cNvPr id="10" name="Text 8"/>
          <p:cNvSpPr/>
          <p:nvPr/>
        </p:nvSpPr>
        <p:spPr>
          <a:xfrm>
            <a:off x="320040" y="1005840"/>
            <a:ext cx="3977640" cy="365760"/>
          </a:xfrm>
          <a:prstGeom prst="rect">
            <a:avLst/>
          </a:prstGeom>
          <a:noFill/>
          <a:ln/>
        </p:spPr>
        <p:txBody>
          <a:bodyPr wrap="square" lIns="0" tIns="0" rIns="0" bIns="0" rtlCol="0" anchor="ctr"/>
          <a:lstStyle/>
          <a:p>
            <a:pPr marL="0" indent="0" algn="ctr">
              <a:buNone/>
            </a:pPr>
            <a:r>
              <a:rPr lang="en-US" sz="1100" b="1" dirty="0">
                <a:solidFill>
                  <a:srgbClr val="FFFFFF"/>
                </a:solidFill>
              </a:rPr>
              <a:t>EXISTING SOLUTIONS FAIL</a:t>
            </a:r>
            <a:endParaRPr lang="en-US" sz="1100" dirty="0"/>
          </a:p>
        </p:txBody>
      </p:sp>
      <p:sp>
        <p:nvSpPr>
          <p:cNvPr id="11" name="Shape 9"/>
          <p:cNvSpPr/>
          <p:nvPr/>
        </p:nvSpPr>
        <p:spPr>
          <a:xfrm>
            <a:off x="292608" y="1444752"/>
            <a:ext cx="73152" cy="594360"/>
          </a:xfrm>
          <a:prstGeom prst="rect">
            <a:avLst/>
          </a:prstGeom>
          <a:solidFill>
            <a:srgbClr val="C0392B"/>
          </a:solidFill>
          <a:ln w="12700">
            <a:solidFill>
              <a:srgbClr val="C0392B"/>
            </a:solidFill>
            <a:prstDash val="solid"/>
          </a:ln>
        </p:spPr>
      </p:sp>
      <p:sp>
        <p:nvSpPr>
          <p:cNvPr id="12" name="Text 10"/>
          <p:cNvSpPr/>
          <p:nvPr/>
        </p:nvSpPr>
        <p:spPr>
          <a:xfrm>
            <a:off x="438912" y="1444752"/>
            <a:ext cx="3840480" cy="274320"/>
          </a:xfrm>
          <a:prstGeom prst="rect">
            <a:avLst/>
          </a:prstGeom>
          <a:noFill/>
          <a:ln/>
        </p:spPr>
        <p:txBody>
          <a:bodyPr wrap="square" rtlCol="0" anchor="ctr"/>
          <a:lstStyle/>
          <a:p>
            <a:pPr marL="0" indent="0">
              <a:buNone/>
            </a:pPr>
            <a:r>
              <a:rPr lang="en-US" sz="1100" b="1" dirty="0">
                <a:solidFill>
                  <a:srgbClr val="1B2A4A"/>
                </a:solidFill>
              </a:rPr>
              <a:t>Zillow / Zestimate</a:t>
            </a:r>
            <a:endParaRPr lang="en-US" sz="1100" dirty="0"/>
          </a:p>
        </p:txBody>
      </p:sp>
      <p:sp>
        <p:nvSpPr>
          <p:cNvPr id="13" name="Text 11"/>
          <p:cNvSpPr/>
          <p:nvPr/>
        </p:nvSpPr>
        <p:spPr>
          <a:xfrm>
            <a:off x="438912" y="1709928"/>
            <a:ext cx="3840480" cy="411480"/>
          </a:xfrm>
          <a:prstGeom prst="rect">
            <a:avLst/>
          </a:prstGeom>
          <a:noFill/>
          <a:ln/>
        </p:spPr>
        <p:txBody>
          <a:bodyPr wrap="square" rtlCol="0" anchor="ctr"/>
          <a:lstStyle/>
          <a:p>
            <a:pPr marL="0" indent="0">
              <a:buNone/>
            </a:pPr>
            <a:r>
              <a:rPr lang="en-US" sz="950" dirty="0">
                <a:solidFill>
                  <a:srgbClr val="2D3748"/>
                </a:solidFill>
              </a:rPr>
              <a:t>Built for US market. No cultural layer. Cold-start failure on sparse SE Asian data.</a:t>
            </a:r>
            <a:endParaRPr lang="en-US" sz="950" dirty="0"/>
          </a:p>
        </p:txBody>
      </p:sp>
      <p:sp>
        <p:nvSpPr>
          <p:cNvPr id="14" name="Shape 12"/>
          <p:cNvSpPr/>
          <p:nvPr/>
        </p:nvSpPr>
        <p:spPr>
          <a:xfrm>
            <a:off x="292608" y="2221992"/>
            <a:ext cx="73152" cy="594360"/>
          </a:xfrm>
          <a:prstGeom prst="rect">
            <a:avLst/>
          </a:prstGeom>
          <a:solidFill>
            <a:srgbClr val="C0392B"/>
          </a:solidFill>
          <a:ln w="12700">
            <a:solidFill>
              <a:srgbClr val="C0392B"/>
            </a:solidFill>
            <a:prstDash val="solid"/>
          </a:ln>
        </p:spPr>
      </p:sp>
      <p:sp>
        <p:nvSpPr>
          <p:cNvPr id="15" name="Text 13"/>
          <p:cNvSpPr/>
          <p:nvPr/>
        </p:nvSpPr>
        <p:spPr>
          <a:xfrm>
            <a:off x="438912" y="2221992"/>
            <a:ext cx="3840480" cy="274320"/>
          </a:xfrm>
          <a:prstGeom prst="rect">
            <a:avLst/>
          </a:prstGeom>
          <a:noFill/>
          <a:ln/>
        </p:spPr>
        <p:txBody>
          <a:bodyPr wrap="square" rtlCol="0" anchor="ctr"/>
          <a:lstStyle/>
          <a:p>
            <a:pPr marL="0" indent="0">
              <a:buNone/>
            </a:pPr>
            <a:r>
              <a:rPr lang="en-US" sz="1100" b="1" dirty="0">
                <a:solidFill>
                  <a:srgbClr val="1B2A4A"/>
                </a:solidFill>
              </a:rPr>
              <a:t>PropTech Asia Platforms</a:t>
            </a:r>
            <a:endParaRPr lang="en-US" sz="1100" dirty="0"/>
          </a:p>
        </p:txBody>
      </p:sp>
      <p:sp>
        <p:nvSpPr>
          <p:cNvPr id="16" name="Text 14"/>
          <p:cNvSpPr/>
          <p:nvPr/>
        </p:nvSpPr>
        <p:spPr>
          <a:xfrm>
            <a:off x="438912" y="2487168"/>
            <a:ext cx="3840480" cy="411480"/>
          </a:xfrm>
          <a:prstGeom prst="rect">
            <a:avLst/>
          </a:prstGeom>
          <a:noFill/>
          <a:ln/>
        </p:spPr>
        <p:txBody>
          <a:bodyPr wrap="square" rtlCol="0" anchor="ctr"/>
          <a:lstStyle/>
          <a:p>
            <a:pPr marL="0" indent="0">
              <a:buNone/>
            </a:pPr>
            <a:r>
              <a:rPr lang="en-US" sz="950" dirty="0">
                <a:solidFill>
                  <a:srgbClr val="2D3748"/>
                </a:solidFill>
              </a:rPr>
              <a:t>Aggregate listings but provide zero valuation intelligence or divergence analysis.</a:t>
            </a:r>
            <a:endParaRPr lang="en-US" sz="950" dirty="0"/>
          </a:p>
        </p:txBody>
      </p:sp>
      <p:sp>
        <p:nvSpPr>
          <p:cNvPr id="17" name="Shape 15"/>
          <p:cNvSpPr/>
          <p:nvPr/>
        </p:nvSpPr>
        <p:spPr>
          <a:xfrm>
            <a:off x="292608" y="2999232"/>
            <a:ext cx="73152" cy="594360"/>
          </a:xfrm>
          <a:prstGeom prst="rect">
            <a:avLst/>
          </a:prstGeom>
          <a:solidFill>
            <a:srgbClr val="C0392B"/>
          </a:solidFill>
          <a:ln w="12700">
            <a:solidFill>
              <a:srgbClr val="C0392B"/>
            </a:solidFill>
            <a:prstDash val="solid"/>
          </a:ln>
        </p:spPr>
      </p:sp>
      <p:sp>
        <p:nvSpPr>
          <p:cNvPr id="18" name="Text 16"/>
          <p:cNvSpPr/>
          <p:nvPr/>
        </p:nvSpPr>
        <p:spPr>
          <a:xfrm>
            <a:off x="438912" y="2999232"/>
            <a:ext cx="3840480" cy="274320"/>
          </a:xfrm>
          <a:prstGeom prst="rect">
            <a:avLst/>
          </a:prstGeom>
          <a:noFill/>
          <a:ln/>
        </p:spPr>
        <p:txBody>
          <a:bodyPr wrap="square" rtlCol="0" anchor="ctr"/>
          <a:lstStyle/>
          <a:p>
            <a:pPr marL="0" indent="0">
              <a:buNone/>
            </a:pPr>
            <a:r>
              <a:rPr lang="en-US" sz="1100" b="1" dirty="0">
                <a:solidFill>
                  <a:srgbClr val="1B2A4A"/>
                </a:solidFill>
              </a:rPr>
              <a:t>Hedonic Pricing Models</a:t>
            </a:r>
            <a:endParaRPr lang="en-US" sz="1100" dirty="0"/>
          </a:p>
        </p:txBody>
      </p:sp>
      <p:sp>
        <p:nvSpPr>
          <p:cNvPr id="19" name="Text 17"/>
          <p:cNvSpPr/>
          <p:nvPr/>
        </p:nvSpPr>
        <p:spPr>
          <a:xfrm>
            <a:off x="438912" y="3264408"/>
            <a:ext cx="3840480" cy="411480"/>
          </a:xfrm>
          <a:prstGeom prst="rect">
            <a:avLst/>
          </a:prstGeom>
          <a:noFill/>
          <a:ln/>
        </p:spPr>
        <p:txBody>
          <a:bodyPr wrap="square" rtlCol="0" anchor="ctr"/>
          <a:lstStyle/>
          <a:p>
            <a:pPr marL="0" indent="0">
              <a:buNone/>
            </a:pPr>
            <a:r>
              <a:rPr lang="en-US" sz="950" dirty="0">
                <a:solidFill>
                  <a:srgbClr val="2D3748"/>
                </a:solidFill>
              </a:rPr>
              <a:t>Require deep, clean historical data — unavailable in secondary SE Asian cities.</a:t>
            </a:r>
            <a:endParaRPr lang="en-US" sz="950" dirty="0"/>
          </a:p>
        </p:txBody>
      </p:sp>
      <p:sp>
        <p:nvSpPr>
          <p:cNvPr id="20" name="Shape 18"/>
          <p:cNvSpPr/>
          <p:nvPr/>
        </p:nvSpPr>
        <p:spPr>
          <a:xfrm>
            <a:off x="292608" y="3776472"/>
            <a:ext cx="73152" cy="594360"/>
          </a:xfrm>
          <a:prstGeom prst="rect">
            <a:avLst/>
          </a:prstGeom>
          <a:solidFill>
            <a:srgbClr val="C0392B"/>
          </a:solidFill>
          <a:ln w="12700">
            <a:solidFill>
              <a:srgbClr val="C0392B"/>
            </a:solidFill>
            <a:prstDash val="solid"/>
          </a:ln>
        </p:spPr>
      </p:sp>
      <p:sp>
        <p:nvSpPr>
          <p:cNvPr id="21" name="Text 19"/>
          <p:cNvSpPr/>
          <p:nvPr/>
        </p:nvSpPr>
        <p:spPr>
          <a:xfrm>
            <a:off x="438912" y="3776472"/>
            <a:ext cx="3840480" cy="274320"/>
          </a:xfrm>
          <a:prstGeom prst="rect">
            <a:avLst/>
          </a:prstGeom>
          <a:noFill/>
          <a:ln/>
        </p:spPr>
        <p:txBody>
          <a:bodyPr wrap="square" rtlCol="0" anchor="ctr"/>
          <a:lstStyle/>
          <a:p>
            <a:pPr marL="0" indent="0">
              <a:buNone/>
            </a:pPr>
            <a:r>
              <a:rPr lang="en-US" sz="1100" b="1" dirty="0">
                <a:solidFill>
                  <a:srgbClr val="1B2A4A"/>
                </a:solidFill>
              </a:rPr>
              <a:t>AutoML / XGBoost Baselines</a:t>
            </a:r>
            <a:endParaRPr lang="en-US" sz="1100" dirty="0"/>
          </a:p>
        </p:txBody>
      </p:sp>
      <p:sp>
        <p:nvSpPr>
          <p:cNvPr id="22" name="Text 20"/>
          <p:cNvSpPr/>
          <p:nvPr/>
        </p:nvSpPr>
        <p:spPr>
          <a:xfrm>
            <a:off x="438912" y="4041648"/>
            <a:ext cx="3840480" cy="411480"/>
          </a:xfrm>
          <a:prstGeom prst="rect">
            <a:avLst/>
          </a:prstGeom>
          <a:noFill/>
          <a:ln/>
        </p:spPr>
        <p:txBody>
          <a:bodyPr wrap="square" rtlCol="0" anchor="ctr"/>
          <a:lstStyle/>
          <a:p>
            <a:pPr marL="0" indent="0">
              <a:buNone/>
            </a:pPr>
            <a:r>
              <a:rPr lang="en-US" sz="950" dirty="0">
                <a:solidFill>
                  <a:srgbClr val="2D3748"/>
                </a:solidFill>
              </a:rPr>
              <a:t>Generic models ignore cultural signals, produce high false-positive investment rates.</a:t>
            </a:r>
            <a:endParaRPr lang="en-US" sz="950" dirty="0"/>
          </a:p>
        </p:txBody>
      </p:sp>
      <p:sp>
        <p:nvSpPr>
          <p:cNvPr id="23" name="Shape 21"/>
          <p:cNvSpPr/>
          <p:nvPr/>
        </p:nvSpPr>
        <p:spPr>
          <a:xfrm>
            <a:off x="4617720" y="1005840"/>
            <a:ext cx="4297680" cy="1508760"/>
          </a:xfrm>
          <a:prstGeom prst="rect">
            <a:avLst/>
          </a:prstGeom>
          <a:solidFill>
            <a:srgbClr val="1B2A4A"/>
          </a:solidFill>
          <a:ln w="12700">
            <a:solidFill>
              <a:srgbClr val="1B2A4A"/>
            </a:solidFill>
            <a:prstDash val="solid"/>
          </a:ln>
          <a:effectLst>
            <a:outerShdw blurRad="101600" dist="25400" dir="8100000" algn="bl" rotWithShape="0">
              <a:srgbClr val="000000">
                <a:alpha val="10000"/>
              </a:srgbClr>
            </a:outerShdw>
          </a:effectLst>
        </p:spPr>
      </p:sp>
      <p:sp>
        <p:nvSpPr>
          <p:cNvPr id="24" name="Text 22"/>
          <p:cNvSpPr/>
          <p:nvPr/>
        </p:nvSpPr>
        <p:spPr>
          <a:xfrm>
            <a:off x="4709160" y="1042416"/>
            <a:ext cx="4114800" cy="365760"/>
          </a:xfrm>
          <a:prstGeom prst="rect">
            <a:avLst/>
          </a:prstGeom>
          <a:noFill/>
          <a:ln/>
        </p:spPr>
        <p:txBody>
          <a:bodyPr wrap="square" rtlCol="0" anchor="ctr"/>
          <a:lstStyle/>
          <a:p>
            <a:pPr marL="0" indent="0">
              <a:buNone/>
            </a:pPr>
            <a:r>
              <a:rPr lang="en-US" sz="1400" b="1" dirty="0">
                <a:solidFill>
                  <a:srgbClr val="D4A017"/>
                </a:solidFill>
                <a:latin typeface="Trebuchet MS" pitchFamily="34" charset="0"/>
                <a:ea typeface="Trebuchet MS" pitchFamily="34" charset="-122"/>
                <a:cs typeface="Trebuchet MS" pitchFamily="34" charset="-120"/>
              </a:rPr>
              <a:t>The Cold-Start Problem</a:t>
            </a:r>
            <a:endParaRPr lang="en-US" sz="1400" dirty="0"/>
          </a:p>
        </p:txBody>
      </p:sp>
      <p:sp>
        <p:nvSpPr>
          <p:cNvPr id="25" name="Text 23"/>
          <p:cNvSpPr/>
          <p:nvPr/>
        </p:nvSpPr>
        <p:spPr>
          <a:xfrm>
            <a:off x="4709160" y="1426464"/>
            <a:ext cx="4114800" cy="1005840"/>
          </a:xfrm>
          <a:prstGeom prst="rect">
            <a:avLst/>
          </a:prstGeom>
          <a:noFill/>
          <a:ln/>
        </p:spPr>
        <p:txBody>
          <a:bodyPr wrap="square" rtlCol="0" anchor="ctr"/>
          <a:lstStyle/>
          <a:p>
            <a:pPr marL="0" indent="0">
              <a:buNone/>
            </a:pPr>
            <a:r>
              <a:rPr lang="en-US" sz="950" dirty="0">
                <a:solidFill>
                  <a:srgbClr val="FFFFFF"/>
                </a:solidFill>
              </a:rPr>
              <a:t>Secondary SE Asian cities lack 5+ years of clean transaction data. Standard ML models need thousands of labeled samples. ByteMe's Transfer Learning bridges this gap by importing knowledge from mature markets (Singapore, Malaysia) and adapting it to emerging ones (Philippines, Vietnam).</a:t>
            </a:r>
            <a:endParaRPr lang="en-US" sz="950" dirty="0"/>
          </a:p>
        </p:txBody>
      </p:sp>
      <p:sp>
        <p:nvSpPr>
          <p:cNvPr id="26" name="Shape 24"/>
          <p:cNvSpPr/>
          <p:nvPr/>
        </p:nvSpPr>
        <p:spPr>
          <a:xfrm>
            <a:off x="4617720" y="2651760"/>
            <a:ext cx="4297680" cy="1143000"/>
          </a:xfrm>
          <a:prstGeom prst="rect">
            <a:avLst/>
          </a:prstGeom>
          <a:solidFill>
            <a:srgbClr val="D4A017"/>
          </a:solidFill>
          <a:ln w="12700">
            <a:solidFill>
              <a:srgbClr val="D4A017"/>
            </a:solidFill>
            <a:prstDash val="solid"/>
          </a:ln>
          <a:effectLst>
            <a:outerShdw blurRad="101600" dist="25400" dir="8100000" algn="bl" rotWithShape="0">
              <a:srgbClr val="000000">
                <a:alpha val="10000"/>
              </a:srgbClr>
            </a:outerShdw>
          </a:effectLst>
        </p:spPr>
      </p:sp>
      <p:sp>
        <p:nvSpPr>
          <p:cNvPr id="27" name="Text 25"/>
          <p:cNvSpPr/>
          <p:nvPr/>
        </p:nvSpPr>
        <p:spPr>
          <a:xfrm>
            <a:off x="4709160" y="2688336"/>
            <a:ext cx="4114800" cy="347472"/>
          </a:xfrm>
          <a:prstGeom prst="rect">
            <a:avLst/>
          </a:prstGeom>
          <a:noFill/>
          <a:ln/>
        </p:spPr>
        <p:txBody>
          <a:bodyPr wrap="square"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The Unaddressed Research Gap</a:t>
            </a:r>
            <a:endParaRPr lang="en-US" sz="1300" dirty="0"/>
          </a:p>
        </p:txBody>
      </p:sp>
      <p:sp>
        <p:nvSpPr>
          <p:cNvPr id="28" name="Text 26"/>
          <p:cNvSpPr/>
          <p:nvPr/>
        </p:nvSpPr>
        <p:spPr>
          <a:xfrm>
            <a:off x="4709160" y="3035808"/>
            <a:ext cx="4114800" cy="685800"/>
          </a:xfrm>
          <a:prstGeom prst="rect">
            <a:avLst/>
          </a:prstGeom>
          <a:noFill/>
          <a:ln/>
        </p:spPr>
        <p:txBody>
          <a:bodyPr wrap="square" rtlCol="0" anchor="ctr"/>
          <a:lstStyle/>
          <a:p>
            <a:pPr marL="0" indent="0">
              <a:buNone/>
            </a:pPr>
            <a:r>
              <a:rPr lang="en-US" sz="950" dirty="0">
                <a:solidFill>
                  <a:srgbClr val="1B2A4A"/>
                </a:solidFill>
              </a:rPr>
              <a:t>No existing framework simultaneously addresses (1) data scarcity via transfer learning, (2) cultural context via sentiment parsing, and (3) actionable yield intelligence via proxy modeling.</a:t>
            </a:r>
            <a:endParaRPr lang="en-US" sz="950" dirty="0"/>
          </a:p>
        </p:txBody>
      </p:sp>
      <p:sp>
        <p:nvSpPr>
          <p:cNvPr id="29" name="Shape 27"/>
          <p:cNvSpPr/>
          <p:nvPr/>
        </p:nvSpPr>
        <p:spPr>
          <a:xfrm>
            <a:off x="4617720" y="3931920"/>
            <a:ext cx="4297680" cy="658368"/>
          </a:xfrm>
          <a:prstGeom prst="rect">
            <a:avLst/>
          </a:prstGeom>
          <a:solidFill>
            <a:srgbClr val="2A3F6F"/>
          </a:solidFill>
          <a:ln w="12700">
            <a:solidFill>
              <a:srgbClr val="3D5A8A"/>
            </a:solidFill>
            <a:prstDash val="solid"/>
          </a:ln>
        </p:spPr>
      </p:sp>
      <p:sp>
        <p:nvSpPr>
          <p:cNvPr id="30" name="Text 28"/>
          <p:cNvSpPr/>
          <p:nvPr/>
        </p:nvSpPr>
        <p:spPr>
          <a:xfrm>
            <a:off x="4709160" y="3931920"/>
            <a:ext cx="4114800" cy="658368"/>
          </a:xfrm>
          <a:prstGeom prst="rect">
            <a:avLst/>
          </a:prstGeom>
          <a:noFill/>
          <a:ln/>
        </p:spPr>
        <p:txBody>
          <a:bodyPr wrap="square" rtlCol="0" anchor="ctr"/>
          <a:lstStyle/>
          <a:p>
            <a:pPr marL="0" indent="0">
              <a:buNone/>
            </a:pPr>
            <a:r>
              <a:rPr lang="en-US" sz="1000" i="1" dirty="0">
                <a:solidFill>
                  <a:srgbClr val="F0C84A"/>
                </a:solidFill>
              </a:rPr>
              <a:t>SE Asia PropTech investment grew 340% from 2019–2024. The window to define the methodology standard is NOW.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sp>
      <p:sp>
        <p:nvSpPr>
          <p:cNvPr id="3" name="Shape 1"/>
          <p:cNvSpPr/>
          <p:nvPr/>
        </p:nvSpPr>
        <p:spPr>
          <a:xfrm>
            <a:off x="0" y="5033772"/>
            <a:ext cx="9144000" cy="109728"/>
          </a:xfrm>
          <a:prstGeom prst="rect">
            <a:avLst/>
          </a:prstGeom>
          <a:solidFill>
            <a:srgbClr val="D4A017"/>
          </a:solidFill>
          <a:ln w="12700">
            <a:solidFill>
              <a:srgbClr val="D4A017"/>
            </a:solidFill>
            <a:prstDash val="solid"/>
          </a:ln>
        </p:spPr>
      </p:sp>
      <p:sp>
        <p:nvSpPr>
          <p:cNvPr id="4" name="Text 2"/>
          <p:cNvSpPr/>
          <p:nvPr/>
        </p:nvSpPr>
        <p:spPr>
          <a:xfrm>
            <a:off x="457200" y="256032"/>
            <a:ext cx="8229600" cy="402336"/>
          </a:xfrm>
          <a:prstGeom prst="rect">
            <a:avLst/>
          </a:prstGeom>
          <a:noFill/>
          <a:ln/>
        </p:spPr>
        <p:txBody>
          <a:bodyPr wrap="square" rtlCol="0" anchor="ctr"/>
          <a:lstStyle/>
          <a:p>
            <a:pPr marL="0" indent="0" algn="ctr">
              <a:buNone/>
            </a:pPr>
            <a:r>
              <a:rPr lang="en-US" sz="1700" kern="0" spc="300" dirty="0">
                <a:solidFill>
                  <a:srgbClr val="94A3B8"/>
                </a:solidFill>
                <a:latin typeface="Trebuchet MS" pitchFamily="34" charset="0"/>
                <a:ea typeface="Trebuchet MS" pitchFamily="34" charset="-122"/>
                <a:cs typeface="Trebuchet MS" pitchFamily="34" charset="-120"/>
              </a:rPr>
              <a:t>Introducing</a:t>
            </a:r>
            <a:endParaRPr lang="en-US" sz="1700" dirty="0"/>
          </a:p>
        </p:txBody>
      </p:sp>
      <p:sp>
        <p:nvSpPr>
          <p:cNvPr id="5" name="Text 3"/>
          <p:cNvSpPr/>
          <p:nvPr/>
        </p:nvSpPr>
        <p:spPr>
          <a:xfrm>
            <a:off x="457200" y="594360"/>
            <a:ext cx="8229600" cy="914400"/>
          </a:xfrm>
          <a:prstGeom prst="rect">
            <a:avLst/>
          </a:prstGeom>
          <a:noFill/>
          <a:ln/>
        </p:spPr>
        <p:txBody>
          <a:bodyPr wrap="square" rtlCol="0" anchor="ctr"/>
          <a:lstStyle/>
          <a:p>
            <a:pPr marL="0" indent="0" algn="ctr">
              <a:buNone/>
            </a:pPr>
            <a:r>
              <a:rPr lang="en-US" sz="6200" b="1" dirty="0">
                <a:solidFill>
                  <a:srgbClr val="D4A017"/>
                </a:solidFill>
                <a:latin typeface="Trebuchet MS" pitchFamily="34" charset="0"/>
                <a:ea typeface="Trebuchet MS" pitchFamily="34" charset="-122"/>
                <a:cs typeface="Trebuchet MS" pitchFamily="34" charset="-120"/>
              </a:rPr>
              <a:t>ByteMe</a:t>
            </a:r>
            <a:endParaRPr lang="en-US" sz="6200" dirty="0"/>
          </a:p>
        </p:txBody>
      </p:sp>
      <p:sp>
        <p:nvSpPr>
          <p:cNvPr id="6" name="Shape 4"/>
          <p:cNvSpPr/>
          <p:nvPr/>
        </p:nvSpPr>
        <p:spPr>
          <a:xfrm>
            <a:off x="2286000" y="1572768"/>
            <a:ext cx="4572000" cy="50292"/>
          </a:xfrm>
          <a:prstGeom prst="rect">
            <a:avLst/>
          </a:prstGeom>
          <a:solidFill>
            <a:srgbClr val="D4A017"/>
          </a:solidFill>
          <a:ln w="12700">
            <a:solidFill>
              <a:srgbClr val="D4A017"/>
            </a:solidFill>
            <a:prstDash val="solid"/>
          </a:ln>
        </p:spPr>
      </p:sp>
      <p:sp>
        <p:nvSpPr>
          <p:cNvPr id="7" name="Text 5"/>
          <p:cNvSpPr/>
          <p:nvPr/>
        </p:nvSpPr>
        <p:spPr>
          <a:xfrm>
            <a:off x="914400" y="1664208"/>
            <a:ext cx="7315200" cy="594360"/>
          </a:xfrm>
          <a:prstGeom prst="rect">
            <a:avLst/>
          </a:prstGeom>
          <a:noFill/>
          <a:ln/>
        </p:spPr>
        <p:txBody>
          <a:bodyPr wrap="square" rtlCol="0" anchor="ctr"/>
          <a:lstStyle/>
          <a:p>
            <a:pPr marL="0" indent="0" algn="ctr">
              <a:buNone/>
            </a:pPr>
            <a:r>
              <a:rPr lang="en-US" sz="1350" i="1" dirty="0">
                <a:solidFill>
                  <a:srgbClr val="FFFFFF"/>
                </a:solidFill>
                <a:latin typeface="Trebuchet MS" pitchFamily="34" charset="0"/>
                <a:ea typeface="Trebuchet MS" pitchFamily="34" charset="-122"/>
                <a:cs typeface="Trebuchet MS" pitchFamily="34" charset="-120"/>
              </a:rPr>
              <a:t>Web-based computational intelligence that democratizes institutional-grade real estate analysis for Southeast Asia</a:t>
            </a:r>
            <a:endParaRPr lang="en-US" sz="1350" dirty="0"/>
          </a:p>
        </p:txBody>
      </p:sp>
      <p:sp>
        <p:nvSpPr>
          <p:cNvPr id="8" name="Shape 6"/>
          <p:cNvSpPr/>
          <p:nvPr/>
        </p:nvSpPr>
        <p:spPr>
          <a:xfrm>
            <a:off x="438912" y="2423160"/>
            <a:ext cx="1938528" cy="2331720"/>
          </a:xfrm>
          <a:prstGeom prst="rect">
            <a:avLst/>
          </a:prstGeom>
          <a:solidFill>
            <a:srgbClr val="2A3F6F"/>
          </a:solidFill>
          <a:ln w="12700">
            <a:solidFill>
              <a:srgbClr val="3D5A8A"/>
            </a:solidFill>
            <a:prstDash val="solid"/>
          </a:ln>
        </p:spPr>
      </p:sp>
      <p:sp>
        <p:nvSpPr>
          <p:cNvPr id="9" name="Shape 7"/>
          <p:cNvSpPr/>
          <p:nvPr/>
        </p:nvSpPr>
        <p:spPr>
          <a:xfrm>
            <a:off x="438912" y="2423160"/>
            <a:ext cx="1938528" cy="91440"/>
          </a:xfrm>
          <a:prstGeom prst="rect">
            <a:avLst/>
          </a:prstGeom>
          <a:solidFill>
            <a:srgbClr val="D4A017"/>
          </a:solidFill>
          <a:ln w="12700">
            <a:solidFill>
              <a:srgbClr val="D4A017"/>
            </a:solidFill>
            <a:prstDash val="solid"/>
          </a:ln>
        </p:spPr>
      </p:sp>
      <p:sp>
        <p:nvSpPr>
          <p:cNvPr id="10" name="Text 8"/>
          <p:cNvSpPr/>
          <p:nvPr/>
        </p:nvSpPr>
        <p:spPr>
          <a:xfrm>
            <a:off x="438912" y="2542032"/>
            <a:ext cx="1938528" cy="475488"/>
          </a:xfrm>
          <a:prstGeom prst="rect">
            <a:avLst/>
          </a:prstGeom>
          <a:noFill/>
          <a:ln/>
        </p:spPr>
        <p:txBody>
          <a:bodyPr wrap="square" rtlCol="0" anchor="ctr"/>
          <a:lstStyle/>
          <a:p>
            <a:pPr marL="0" indent="0" algn="ctr">
              <a:buNone/>
            </a:pPr>
            <a:r>
              <a:rPr lang="en-US" sz="3000" b="1" dirty="0">
                <a:solidFill>
                  <a:srgbClr val="D4A017"/>
                </a:solidFill>
                <a:latin typeface="Trebuchet MS" pitchFamily="34" charset="0"/>
                <a:ea typeface="Trebuchet MS" pitchFamily="34" charset="-122"/>
                <a:cs typeface="Trebuchet MS" pitchFamily="34" charset="-120"/>
              </a:rPr>
              <a:t>01</a:t>
            </a:r>
            <a:endParaRPr lang="en-US" sz="3000" dirty="0"/>
          </a:p>
        </p:txBody>
      </p:sp>
      <p:sp>
        <p:nvSpPr>
          <p:cNvPr id="11" name="Text 9"/>
          <p:cNvSpPr/>
          <p:nvPr/>
        </p:nvSpPr>
        <p:spPr>
          <a:xfrm>
            <a:off x="493776" y="3044952"/>
            <a:ext cx="1828800" cy="594360"/>
          </a:xfrm>
          <a:prstGeom prst="rect">
            <a:avLst/>
          </a:prstGeom>
          <a:noFill/>
          <a:ln/>
        </p:spPr>
        <p:txBody>
          <a:bodyPr wrap="square" rtlCol="0" anchor="ctr"/>
          <a:lstStyle/>
          <a:p>
            <a:pPr marL="0" indent="0" algn="ctr">
              <a:buNone/>
            </a:pPr>
            <a:r>
              <a:rPr lang="en-US" sz="1150" b="1" dirty="0">
                <a:solidFill>
                  <a:srgbClr val="FFFFFF"/>
                </a:solidFill>
              </a:rPr>
              <a:t>LightGBM</a:t>
            </a:r>
            <a:endParaRPr lang="en-US" sz="1150" dirty="0"/>
          </a:p>
          <a:p>
            <a:pPr marL="0" indent="0" algn="ctr">
              <a:buNone/>
            </a:pPr>
            <a:r>
              <a:rPr lang="en-US" sz="1150" b="1" dirty="0">
                <a:solidFill>
                  <a:srgbClr val="FFFFFF"/>
                </a:solidFill>
              </a:rPr>
              <a:t>Regressor</a:t>
            </a:r>
            <a:endParaRPr lang="en-US" sz="1150" dirty="0"/>
          </a:p>
        </p:txBody>
      </p:sp>
      <p:sp>
        <p:nvSpPr>
          <p:cNvPr id="12" name="Text 10"/>
          <p:cNvSpPr/>
          <p:nvPr/>
        </p:nvSpPr>
        <p:spPr>
          <a:xfrm>
            <a:off x="493776" y="3657600"/>
            <a:ext cx="1828800" cy="960120"/>
          </a:xfrm>
          <a:prstGeom prst="rect">
            <a:avLst/>
          </a:prstGeom>
          <a:noFill/>
          <a:ln/>
        </p:spPr>
        <p:txBody>
          <a:bodyPr wrap="square" rtlCol="0" anchor="ctr"/>
          <a:lstStyle/>
          <a:p>
            <a:pPr marL="0" indent="0" algn="ctr">
              <a:buNone/>
            </a:pPr>
            <a:r>
              <a:rPr lang="en-US" sz="900" dirty="0">
                <a:solidFill>
                  <a:srgbClr val="94A3B8"/>
                </a:solidFill>
              </a:rPr>
              <a:t>State-of-the-art gradient boosting for sparse tabular data</a:t>
            </a:r>
            <a:endParaRPr lang="en-US" sz="900" dirty="0"/>
          </a:p>
        </p:txBody>
      </p:sp>
      <p:sp>
        <p:nvSpPr>
          <p:cNvPr id="13" name="Shape 11"/>
          <p:cNvSpPr/>
          <p:nvPr/>
        </p:nvSpPr>
        <p:spPr>
          <a:xfrm>
            <a:off x="2523744" y="2423160"/>
            <a:ext cx="1938528" cy="2331720"/>
          </a:xfrm>
          <a:prstGeom prst="rect">
            <a:avLst/>
          </a:prstGeom>
          <a:solidFill>
            <a:srgbClr val="2A3F6F"/>
          </a:solidFill>
          <a:ln w="12700">
            <a:solidFill>
              <a:srgbClr val="3D5A8A"/>
            </a:solidFill>
            <a:prstDash val="solid"/>
          </a:ln>
        </p:spPr>
      </p:sp>
      <p:sp>
        <p:nvSpPr>
          <p:cNvPr id="14" name="Shape 12"/>
          <p:cNvSpPr/>
          <p:nvPr/>
        </p:nvSpPr>
        <p:spPr>
          <a:xfrm>
            <a:off x="2523744" y="2423160"/>
            <a:ext cx="1938528" cy="91440"/>
          </a:xfrm>
          <a:prstGeom prst="rect">
            <a:avLst/>
          </a:prstGeom>
          <a:solidFill>
            <a:srgbClr val="D4A017"/>
          </a:solidFill>
          <a:ln w="12700">
            <a:solidFill>
              <a:srgbClr val="D4A017"/>
            </a:solidFill>
            <a:prstDash val="solid"/>
          </a:ln>
        </p:spPr>
      </p:sp>
      <p:sp>
        <p:nvSpPr>
          <p:cNvPr id="15" name="Text 13"/>
          <p:cNvSpPr/>
          <p:nvPr/>
        </p:nvSpPr>
        <p:spPr>
          <a:xfrm>
            <a:off x="2523744" y="2542032"/>
            <a:ext cx="1938528" cy="475488"/>
          </a:xfrm>
          <a:prstGeom prst="rect">
            <a:avLst/>
          </a:prstGeom>
          <a:noFill/>
          <a:ln/>
        </p:spPr>
        <p:txBody>
          <a:bodyPr wrap="square" rtlCol="0" anchor="ctr"/>
          <a:lstStyle/>
          <a:p>
            <a:pPr marL="0" indent="0" algn="ctr">
              <a:buNone/>
            </a:pPr>
            <a:r>
              <a:rPr lang="en-US" sz="3000" b="1" dirty="0">
                <a:solidFill>
                  <a:srgbClr val="D4A017"/>
                </a:solidFill>
                <a:latin typeface="Trebuchet MS" pitchFamily="34" charset="0"/>
                <a:ea typeface="Trebuchet MS" pitchFamily="34" charset="-122"/>
                <a:cs typeface="Trebuchet MS" pitchFamily="34" charset="-120"/>
              </a:rPr>
              <a:t>02</a:t>
            </a:r>
            <a:endParaRPr lang="en-US" sz="3000" dirty="0"/>
          </a:p>
        </p:txBody>
      </p:sp>
      <p:sp>
        <p:nvSpPr>
          <p:cNvPr id="16" name="Text 14"/>
          <p:cNvSpPr/>
          <p:nvPr/>
        </p:nvSpPr>
        <p:spPr>
          <a:xfrm>
            <a:off x="2578608" y="3044952"/>
            <a:ext cx="1828800" cy="594360"/>
          </a:xfrm>
          <a:prstGeom prst="rect">
            <a:avLst/>
          </a:prstGeom>
          <a:noFill/>
          <a:ln/>
        </p:spPr>
        <p:txBody>
          <a:bodyPr wrap="square" rtlCol="0" anchor="ctr"/>
          <a:lstStyle/>
          <a:p>
            <a:pPr marL="0" indent="0" algn="ctr">
              <a:buNone/>
            </a:pPr>
            <a:r>
              <a:rPr lang="en-US" sz="1150" b="1" dirty="0">
                <a:solidFill>
                  <a:srgbClr val="FFFFFF"/>
                </a:solidFill>
              </a:rPr>
              <a:t>Proxy Yield</a:t>
            </a:r>
            <a:endParaRPr lang="en-US" sz="1150" dirty="0"/>
          </a:p>
          <a:p>
            <a:pPr marL="0" indent="0" algn="ctr">
              <a:buNone/>
            </a:pPr>
            <a:r>
              <a:rPr lang="en-US" sz="1150" b="1" dirty="0">
                <a:solidFill>
                  <a:srgbClr val="FFFFFF"/>
                </a:solidFill>
              </a:rPr>
              <a:t>Modeling</a:t>
            </a:r>
            <a:endParaRPr lang="en-US" sz="1150" dirty="0"/>
          </a:p>
        </p:txBody>
      </p:sp>
      <p:sp>
        <p:nvSpPr>
          <p:cNvPr id="17" name="Text 15"/>
          <p:cNvSpPr/>
          <p:nvPr/>
        </p:nvSpPr>
        <p:spPr>
          <a:xfrm>
            <a:off x="2578608" y="3657600"/>
            <a:ext cx="1828800" cy="960120"/>
          </a:xfrm>
          <a:prstGeom prst="rect">
            <a:avLst/>
          </a:prstGeom>
          <a:noFill/>
          <a:ln/>
        </p:spPr>
        <p:txBody>
          <a:bodyPr wrap="square" rtlCol="0" anchor="ctr"/>
          <a:lstStyle/>
          <a:p>
            <a:pPr marL="0" indent="0" algn="ctr">
              <a:buNone/>
            </a:pPr>
            <a:r>
              <a:rPr lang="en-US" sz="900" dirty="0">
                <a:solidFill>
                  <a:srgbClr val="94A3B8"/>
                </a:solidFill>
              </a:rPr>
              <a:t>Investment returns without direct rental data</a:t>
            </a:r>
            <a:endParaRPr lang="en-US" sz="900" dirty="0"/>
          </a:p>
        </p:txBody>
      </p:sp>
      <p:sp>
        <p:nvSpPr>
          <p:cNvPr id="18" name="Shape 16"/>
          <p:cNvSpPr/>
          <p:nvPr/>
        </p:nvSpPr>
        <p:spPr>
          <a:xfrm>
            <a:off x="4608576" y="2423160"/>
            <a:ext cx="1938528" cy="2331720"/>
          </a:xfrm>
          <a:prstGeom prst="rect">
            <a:avLst/>
          </a:prstGeom>
          <a:solidFill>
            <a:srgbClr val="2A3F6F"/>
          </a:solidFill>
          <a:ln w="12700">
            <a:solidFill>
              <a:srgbClr val="3D5A8A"/>
            </a:solidFill>
            <a:prstDash val="solid"/>
          </a:ln>
        </p:spPr>
      </p:sp>
      <p:sp>
        <p:nvSpPr>
          <p:cNvPr id="19" name="Shape 17"/>
          <p:cNvSpPr/>
          <p:nvPr/>
        </p:nvSpPr>
        <p:spPr>
          <a:xfrm>
            <a:off x="4608576" y="2423160"/>
            <a:ext cx="1938528" cy="91440"/>
          </a:xfrm>
          <a:prstGeom prst="rect">
            <a:avLst/>
          </a:prstGeom>
          <a:solidFill>
            <a:srgbClr val="D4A017"/>
          </a:solidFill>
          <a:ln w="12700">
            <a:solidFill>
              <a:srgbClr val="D4A017"/>
            </a:solidFill>
            <a:prstDash val="solid"/>
          </a:ln>
        </p:spPr>
      </p:sp>
      <p:sp>
        <p:nvSpPr>
          <p:cNvPr id="20" name="Text 18"/>
          <p:cNvSpPr/>
          <p:nvPr/>
        </p:nvSpPr>
        <p:spPr>
          <a:xfrm>
            <a:off x="4608576" y="2542032"/>
            <a:ext cx="1938528" cy="475488"/>
          </a:xfrm>
          <a:prstGeom prst="rect">
            <a:avLst/>
          </a:prstGeom>
          <a:noFill/>
          <a:ln/>
        </p:spPr>
        <p:txBody>
          <a:bodyPr wrap="square" rtlCol="0" anchor="ctr"/>
          <a:lstStyle/>
          <a:p>
            <a:pPr marL="0" indent="0" algn="ctr">
              <a:buNone/>
            </a:pPr>
            <a:r>
              <a:rPr lang="en-US" sz="3000" b="1" dirty="0">
                <a:solidFill>
                  <a:srgbClr val="D4A017"/>
                </a:solidFill>
                <a:latin typeface="Trebuchet MS" pitchFamily="34" charset="0"/>
                <a:ea typeface="Trebuchet MS" pitchFamily="34" charset="-122"/>
                <a:cs typeface="Trebuchet MS" pitchFamily="34" charset="-120"/>
              </a:rPr>
              <a:t>03</a:t>
            </a:r>
            <a:endParaRPr lang="en-US" sz="3000" dirty="0"/>
          </a:p>
        </p:txBody>
      </p:sp>
      <p:sp>
        <p:nvSpPr>
          <p:cNvPr id="21" name="Text 19"/>
          <p:cNvSpPr/>
          <p:nvPr/>
        </p:nvSpPr>
        <p:spPr>
          <a:xfrm>
            <a:off x="4663440" y="3044952"/>
            <a:ext cx="1828800" cy="594360"/>
          </a:xfrm>
          <a:prstGeom prst="rect">
            <a:avLst/>
          </a:prstGeom>
          <a:noFill/>
          <a:ln/>
        </p:spPr>
        <p:txBody>
          <a:bodyPr wrap="square" rtlCol="0" anchor="ctr"/>
          <a:lstStyle/>
          <a:p>
            <a:pPr marL="0" indent="0" algn="ctr">
              <a:buNone/>
            </a:pPr>
            <a:r>
              <a:rPr lang="en-US" sz="1150" b="1" dirty="0">
                <a:solidFill>
                  <a:srgbClr val="FFFFFF"/>
                </a:solidFill>
              </a:rPr>
              <a:t>Transfer</a:t>
            </a:r>
            <a:endParaRPr lang="en-US" sz="1150" dirty="0"/>
          </a:p>
          <a:p>
            <a:pPr marL="0" indent="0" algn="ctr">
              <a:buNone/>
            </a:pPr>
            <a:r>
              <a:rPr lang="en-US" sz="1150" b="1" dirty="0">
                <a:solidFill>
                  <a:srgbClr val="FFFFFF"/>
                </a:solidFill>
              </a:rPr>
              <a:t>Learning</a:t>
            </a:r>
            <a:endParaRPr lang="en-US" sz="1150" dirty="0"/>
          </a:p>
        </p:txBody>
      </p:sp>
      <p:sp>
        <p:nvSpPr>
          <p:cNvPr id="22" name="Text 20"/>
          <p:cNvSpPr/>
          <p:nvPr/>
        </p:nvSpPr>
        <p:spPr>
          <a:xfrm>
            <a:off x="4663440" y="3657600"/>
            <a:ext cx="1828800" cy="960120"/>
          </a:xfrm>
          <a:prstGeom prst="rect">
            <a:avLst/>
          </a:prstGeom>
          <a:noFill/>
          <a:ln/>
        </p:spPr>
        <p:txBody>
          <a:bodyPr wrap="square" rtlCol="0" anchor="ctr"/>
          <a:lstStyle/>
          <a:p>
            <a:pPr marL="0" indent="0" algn="ctr">
              <a:buNone/>
            </a:pPr>
            <a:r>
              <a:rPr lang="en-US" sz="900" dirty="0">
                <a:solidFill>
                  <a:srgbClr val="94A3B8"/>
                </a:solidFill>
              </a:rPr>
              <a:t>Mature market knowledge → emerging market predictions</a:t>
            </a:r>
            <a:endParaRPr lang="en-US" sz="900" dirty="0"/>
          </a:p>
        </p:txBody>
      </p:sp>
      <p:sp>
        <p:nvSpPr>
          <p:cNvPr id="23" name="Shape 21"/>
          <p:cNvSpPr/>
          <p:nvPr/>
        </p:nvSpPr>
        <p:spPr>
          <a:xfrm>
            <a:off x="6693408" y="2423160"/>
            <a:ext cx="1938528" cy="2331720"/>
          </a:xfrm>
          <a:prstGeom prst="rect">
            <a:avLst/>
          </a:prstGeom>
          <a:solidFill>
            <a:srgbClr val="2A3F6F"/>
          </a:solidFill>
          <a:ln w="12700">
            <a:solidFill>
              <a:srgbClr val="3D5A8A"/>
            </a:solidFill>
            <a:prstDash val="solid"/>
          </a:ln>
        </p:spPr>
      </p:sp>
      <p:sp>
        <p:nvSpPr>
          <p:cNvPr id="24" name="Shape 22"/>
          <p:cNvSpPr/>
          <p:nvPr/>
        </p:nvSpPr>
        <p:spPr>
          <a:xfrm>
            <a:off x="6693408" y="2423160"/>
            <a:ext cx="1938528" cy="91440"/>
          </a:xfrm>
          <a:prstGeom prst="rect">
            <a:avLst/>
          </a:prstGeom>
          <a:solidFill>
            <a:srgbClr val="D4A017"/>
          </a:solidFill>
          <a:ln w="12700">
            <a:solidFill>
              <a:srgbClr val="D4A017"/>
            </a:solidFill>
            <a:prstDash val="solid"/>
          </a:ln>
        </p:spPr>
      </p:sp>
      <p:sp>
        <p:nvSpPr>
          <p:cNvPr id="25" name="Text 23"/>
          <p:cNvSpPr/>
          <p:nvPr/>
        </p:nvSpPr>
        <p:spPr>
          <a:xfrm>
            <a:off x="6693408" y="2542032"/>
            <a:ext cx="1938528" cy="475488"/>
          </a:xfrm>
          <a:prstGeom prst="rect">
            <a:avLst/>
          </a:prstGeom>
          <a:noFill/>
          <a:ln/>
        </p:spPr>
        <p:txBody>
          <a:bodyPr wrap="square" rtlCol="0" anchor="ctr"/>
          <a:lstStyle/>
          <a:p>
            <a:pPr marL="0" indent="0" algn="ctr">
              <a:buNone/>
            </a:pPr>
            <a:r>
              <a:rPr lang="en-US" sz="3000" b="1" dirty="0">
                <a:solidFill>
                  <a:srgbClr val="D4A017"/>
                </a:solidFill>
                <a:latin typeface="Trebuchet MS" pitchFamily="34" charset="0"/>
                <a:ea typeface="Trebuchet MS" pitchFamily="34" charset="-122"/>
                <a:cs typeface="Trebuchet MS" pitchFamily="34" charset="-120"/>
              </a:rPr>
              <a:t>04</a:t>
            </a:r>
            <a:endParaRPr lang="en-US" sz="3000" dirty="0"/>
          </a:p>
        </p:txBody>
      </p:sp>
      <p:sp>
        <p:nvSpPr>
          <p:cNvPr id="26" name="Text 24"/>
          <p:cNvSpPr/>
          <p:nvPr/>
        </p:nvSpPr>
        <p:spPr>
          <a:xfrm>
            <a:off x="6748272" y="3044952"/>
            <a:ext cx="1828800" cy="594360"/>
          </a:xfrm>
          <a:prstGeom prst="rect">
            <a:avLst/>
          </a:prstGeom>
          <a:noFill/>
          <a:ln/>
        </p:spPr>
        <p:txBody>
          <a:bodyPr wrap="square" rtlCol="0" anchor="ctr"/>
          <a:lstStyle/>
          <a:p>
            <a:pPr marL="0" indent="0" algn="ctr">
              <a:buNone/>
            </a:pPr>
            <a:r>
              <a:rPr lang="en-US" sz="1150" b="1" dirty="0">
                <a:solidFill>
                  <a:srgbClr val="FFFFFF"/>
                </a:solidFill>
              </a:rPr>
              <a:t>Sentiment-</a:t>
            </a:r>
            <a:endParaRPr lang="en-US" sz="1150" dirty="0"/>
          </a:p>
          <a:p>
            <a:pPr marL="0" indent="0" algn="ctr">
              <a:buNone/>
            </a:pPr>
            <a:r>
              <a:rPr lang="en-US" sz="1150" b="1" dirty="0">
                <a:solidFill>
                  <a:srgbClr val="FFFFFF"/>
                </a:solidFill>
              </a:rPr>
              <a:t>Aware Index</a:t>
            </a:r>
            <a:endParaRPr lang="en-US" sz="1150" dirty="0"/>
          </a:p>
        </p:txBody>
      </p:sp>
      <p:sp>
        <p:nvSpPr>
          <p:cNvPr id="27" name="Text 25"/>
          <p:cNvSpPr/>
          <p:nvPr/>
        </p:nvSpPr>
        <p:spPr>
          <a:xfrm>
            <a:off x="6748272" y="3657600"/>
            <a:ext cx="1828800" cy="960120"/>
          </a:xfrm>
          <a:prstGeom prst="rect">
            <a:avLst/>
          </a:prstGeom>
          <a:noFill/>
          <a:ln/>
        </p:spPr>
        <p:txBody>
          <a:bodyPr wrap="square" rtlCol="0" anchor="ctr"/>
          <a:lstStyle/>
          <a:p>
            <a:pPr marL="0" indent="0" algn="ctr">
              <a:buNone/>
            </a:pPr>
            <a:r>
              <a:rPr lang="en-US" sz="900" dirty="0">
                <a:solidFill>
                  <a:srgbClr val="94A3B8"/>
                </a:solidFill>
              </a:rPr>
              <a:t>Cultural &amp; legal signal parsing for SE Asia</a:t>
            </a:r>
            <a:endParaRPr lang="en-US" sz="900" dirty="0"/>
          </a:p>
        </p:txBody>
      </p:sp>
      <p:sp>
        <p:nvSpPr>
          <p:cNvPr id="28" name="Shape 26"/>
          <p:cNvSpPr/>
          <p:nvPr/>
        </p:nvSpPr>
        <p:spPr>
          <a:xfrm>
            <a:off x="0" y="4773168"/>
            <a:ext cx="9144000" cy="256032"/>
          </a:xfrm>
          <a:prstGeom prst="rect">
            <a:avLst/>
          </a:prstGeom>
          <a:solidFill>
            <a:srgbClr val="0D1929"/>
          </a:solidFill>
          <a:ln w="12700">
            <a:solidFill>
              <a:srgbClr val="0D1929"/>
            </a:solidFill>
            <a:prstDash val="solid"/>
          </a:ln>
        </p:spPr>
      </p:sp>
      <p:sp>
        <p:nvSpPr>
          <p:cNvPr id="29" name="Text 27"/>
          <p:cNvSpPr/>
          <p:nvPr/>
        </p:nvSpPr>
        <p:spPr>
          <a:xfrm>
            <a:off x="457200" y="4773168"/>
            <a:ext cx="8229600" cy="256032"/>
          </a:xfrm>
          <a:prstGeom prst="rect">
            <a:avLst/>
          </a:prstGeom>
          <a:noFill/>
          <a:ln/>
        </p:spPr>
        <p:txBody>
          <a:bodyPr wrap="square" lIns="0" tIns="0" rIns="0" bIns="0" rtlCol="0" anchor="ctr"/>
          <a:lstStyle/>
          <a:p>
            <a:pPr marL="0" indent="0" algn="ctr">
              <a:buNone/>
            </a:pPr>
            <a:r>
              <a:rPr lang="en-US" sz="950" b="1" dirty="0">
                <a:solidFill>
                  <a:srgbClr val="D4A017"/>
                </a:solidFill>
              </a:rPr>
              <a:t>Design Philosophy: Computational Rigor  +  Cultural Intelligence  =  Market Transparency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Framework Architecture: The Four Pillars</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5 / 16</a:t>
            </a:r>
            <a:endParaRPr lang="en-US" sz="750" dirty="0"/>
          </a:p>
        </p:txBody>
      </p:sp>
      <p:sp>
        <p:nvSpPr>
          <p:cNvPr id="8" name="Shape 6"/>
          <p:cNvSpPr/>
          <p:nvPr/>
        </p:nvSpPr>
        <p:spPr>
          <a:xfrm>
            <a:off x="182880" y="1005840"/>
            <a:ext cx="21031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182880" y="1005840"/>
            <a:ext cx="2103120" cy="804672"/>
          </a:xfrm>
          <a:prstGeom prst="rect">
            <a:avLst/>
          </a:prstGeom>
          <a:solidFill>
            <a:srgbClr val="1B5E8C"/>
          </a:solidFill>
          <a:ln w="12700">
            <a:solidFill>
              <a:srgbClr val="1B5E8C"/>
            </a:solidFill>
            <a:prstDash val="solid"/>
          </a:ln>
        </p:spPr>
      </p:sp>
      <p:sp>
        <p:nvSpPr>
          <p:cNvPr id="10" name="Text 8"/>
          <p:cNvSpPr/>
          <p:nvPr/>
        </p:nvSpPr>
        <p:spPr>
          <a:xfrm>
            <a:off x="237744" y="1005840"/>
            <a:ext cx="548640" cy="804672"/>
          </a:xfrm>
          <a:prstGeom prst="rect">
            <a:avLst/>
          </a:prstGeom>
          <a:noFill/>
          <a:ln/>
        </p:spPr>
        <p:txBody>
          <a:bodyPr wrap="square" lIns="0" tIns="0" rIns="0" bIns="0" rtlCol="0" anchor="ctr"/>
          <a:lstStyle/>
          <a:p>
            <a:pPr marL="0" indent="0" algn="l">
              <a:buNone/>
            </a:pPr>
            <a:r>
              <a:rPr lang="en-US" sz="2600" b="1" dirty="0">
                <a:solidFill>
                  <a:srgbClr val="FFFFFF"/>
                </a:solidFill>
              </a:rPr>
              <a:t>01</a:t>
            </a:r>
            <a:endParaRPr lang="en-US" sz="2600" dirty="0"/>
          </a:p>
        </p:txBody>
      </p:sp>
      <p:sp>
        <p:nvSpPr>
          <p:cNvPr id="11" name="Text 9"/>
          <p:cNvSpPr/>
          <p:nvPr/>
        </p:nvSpPr>
        <p:spPr>
          <a:xfrm>
            <a:off x="274320" y="1847088"/>
            <a:ext cx="1920240" cy="402336"/>
          </a:xfrm>
          <a:prstGeom prst="rect">
            <a:avLst/>
          </a:prstGeom>
          <a:noFill/>
          <a:ln/>
        </p:spPr>
        <p:txBody>
          <a:bodyPr wrap="square" rtlCol="0" anchor="ctr"/>
          <a:lstStyle/>
          <a:p>
            <a:pPr marL="0" indent="0" algn="l">
              <a:buNone/>
            </a:pPr>
            <a:r>
              <a:rPr lang="en-US" sz="1050" b="1" dirty="0">
                <a:solidFill>
                  <a:srgbClr val="1B5E8C"/>
                </a:solidFill>
              </a:rPr>
              <a:t>LightGBM Regressor</a:t>
            </a:r>
            <a:endParaRPr lang="en-US" sz="1050" dirty="0"/>
          </a:p>
        </p:txBody>
      </p:sp>
      <p:sp>
        <p:nvSpPr>
          <p:cNvPr id="12" name="Shape 10"/>
          <p:cNvSpPr/>
          <p:nvPr/>
        </p:nvSpPr>
        <p:spPr>
          <a:xfrm>
            <a:off x="274320" y="2331720"/>
            <a:ext cx="118872" cy="118872"/>
          </a:xfrm>
          <a:prstGeom prst="ellipse">
            <a:avLst/>
          </a:prstGeom>
          <a:solidFill>
            <a:srgbClr val="1B5E8C"/>
          </a:solidFill>
          <a:ln w="12700">
            <a:solidFill>
              <a:srgbClr val="1B5E8C"/>
            </a:solidFill>
            <a:prstDash val="solid"/>
          </a:ln>
        </p:spPr>
      </p:sp>
      <p:sp>
        <p:nvSpPr>
          <p:cNvPr id="13" name="Text 11"/>
          <p:cNvSpPr/>
          <p:nvPr/>
        </p:nvSpPr>
        <p:spPr>
          <a:xfrm>
            <a:off x="438912" y="2276856"/>
            <a:ext cx="1783080" cy="457200"/>
          </a:xfrm>
          <a:prstGeom prst="rect">
            <a:avLst/>
          </a:prstGeom>
          <a:noFill/>
          <a:ln/>
        </p:spPr>
        <p:txBody>
          <a:bodyPr wrap="square" rtlCol="0" anchor="t"/>
          <a:lstStyle/>
          <a:p>
            <a:pPr marL="0" indent="0" algn="l">
              <a:buNone/>
            </a:pPr>
            <a:r>
              <a:rPr lang="en-US" sz="900" dirty="0">
                <a:solidFill>
                  <a:srgbClr val="2D3748"/>
                </a:solidFill>
              </a:rPr>
              <a:t>Leaf-wise tree growth (vs. level-wise)</a:t>
            </a:r>
            <a:endParaRPr lang="en-US" sz="900" dirty="0"/>
          </a:p>
        </p:txBody>
      </p:sp>
      <p:sp>
        <p:nvSpPr>
          <p:cNvPr id="14" name="Shape 12"/>
          <p:cNvSpPr/>
          <p:nvPr/>
        </p:nvSpPr>
        <p:spPr>
          <a:xfrm>
            <a:off x="274320" y="2834640"/>
            <a:ext cx="118872" cy="118872"/>
          </a:xfrm>
          <a:prstGeom prst="ellipse">
            <a:avLst/>
          </a:prstGeom>
          <a:solidFill>
            <a:srgbClr val="1B5E8C"/>
          </a:solidFill>
          <a:ln w="12700">
            <a:solidFill>
              <a:srgbClr val="1B5E8C"/>
            </a:solidFill>
            <a:prstDash val="solid"/>
          </a:ln>
        </p:spPr>
      </p:sp>
      <p:sp>
        <p:nvSpPr>
          <p:cNvPr id="15" name="Text 13"/>
          <p:cNvSpPr/>
          <p:nvPr/>
        </p:nvSpPr>
        <p:spPr>
          <a:xfrm>
            <a:off x="438912" y="2779776"/>
            <a:ext cx="1783080" cy="457200"/>
          </a:xfrm>
          <a:prstGeom prst="rect">
            <a:avLst/>
          </a:prstGeom>
          <a:noFill/>
          <a:ln/>
        </p:spPr>
        <p:txBody>
          <a:bodyPr wrap="square" rtlCol="0" anchor="t"/>
          <a:lstStyle/>
          <a:p>
            <a:pPr marL="0" indent="0" algn="l">
              <a:buNone/>
            </a:pPr>
            <a:r>
              <a:rPr lang="en-US" sz="900" dirty="0">
                <a:solidFill>
                  <a:srgbClr val="2D3748"/>
                </a:solidFill>
              </a:rPr>
              <a:t>Handles sparse &amp; missing data natively</a:t>
            </a:r>
            <a:endParaRPr lang="en-US" sz="900" dirty="0"/>
          </a:p>
        </p:txBody>
      </p:sp>
      <p:sp>
        <p:nvSpPr>
          <p:cNvPr id="16" name="Shape 14"/>
          <p:cNvSpPr/>
          <p:nvPr/>
        </p:nvSpPr>
        <p:spPr>
          <a:xfrm>
            <a:off x="274320" y="3337560"/>
            <a:ext cx="118872" cy="118872"/>
          </a:xfrm>
          <a:prstGeom prst="ellipse">
            <a:avLst/>
          </a:prstGeom>
          <a:solidFill>
            <a:srgbClr val="1B5E8C"/>
          </a:solidFill>
          <a:ln w="12700">
            <a:solidFill>
              <a:srgbClr val="1B5E8C"/>
            </a:solidFill>
            <a:prstDash val="solid"/>
          </a:ln>
        </p:spPr>
      </p:sp>
      <p:sp>
        <p:nvSpPr>
          <p:cNvPr id="17" name="Text 15"/>
          <p:cNvSpPr/>
          <p:nvPr/>
        </p:nvSpPr>
        <p:spPr>
          <a:xfrm>
            <a:off x="438912" y="3282696"/>
            <a:ext cx="1783080" cy="457200"/>
          </a:xfrm>
          <a:prstGeom prst="rect">
            <a:avLst/>
          </a:prstGeom>
          <a:noFill/>
          <a:ln/>
        </p:spPr>
        <p:txBody>
          <a:bodyPr wrap="square" rtlCol="0" anchor="t"/>
          <a:lstStyle/>
          <a:p>
            <a:pPr marL="0" indent="0" algn="l">
              <a:buNone/>
            </a:pPr>
            <a:r>
              <a:rPr lang="en-US" sz="900" dirty="0">
                <a:solidFill>
                  <a:srgbClr val="2D3748"/>
                </a:solidFill>
              </a:rPr>
              <a:t>50× faster than XGBoost on large sets</a:t>
            </a:r>
            <a:endParaRPr lang="en-US" sz="900" dirty="0"/>
          </a:p>
        </p:txBody>
      </p:sp>
      <p:sp>
        <p:nvSpPr>
          <p:cNvPr id="18" name="Shape 16"/>
          <p:cNvSpPr/>
          <p:nvPr/>
        </p:nvSpPr>
        <p:spPr>
          <a:xfrm>
            <a:off x="274320" y="3840480"/>
            <a:ext cx="118872" cy="118872"/>
          </a:xfrm>
          <a:prstGeom prst="ellipse">
            <a:avLst/>
          </a:prstGeom>
          <a:solidFill>
            <a:srgbClr val="1B5E8C"/>
          </a:solidFill>
          <a:ln w="12700">
            <a:solidFill>
              <a:srgbClr val="1B5E8C"/>
            </a:solidFill>
            <a:prstDash val="solid"/>
          </a:ln>
        </p:spPr>
      </p:sp>
      <p:sp>
        <p:nvSpPr>
          <p:cNvPr id="19" name="Text 17"/>
          <p:cNvSpPr/>
          <p:nvPr/>
        </p:nvSpPr>
        <p:spPr>
          <a:xfrm>
            <a:off x="438912" y="3785616"/>
            <a:ext cx="1783080" cy="457200"/>
          </a:xfrm>
          <a:prstGeom prst="rect">
            <a:avLst/>
          </a:prstGeom>
          <a:noFill/>
          <a:ln/>
        </p:spPr>
        <p:txBody>
          <a:bodyPr wrap="square" rtlCol="0" anchor="t"/>
          <a:lstStyle/>
          <a:p>
            <a:pPr marL="0" indent="0" algn="l">
              <a:buNone/>
            </a:pPr>
            <a:r>
              <a:rPr lang="en-US" sz="900" dirty="0">
                <a:solidFill>
                  <a:srgbClr val="2D3748"/>
                </a:solidFill>
              </a:rPr>
              <a:t>Native categorical encoding — no one-hot</a:t>
            </a:r>
            <a:endParaRPr lang="en-US" sz="900" dirty="0"/>
          </a:p>
        </p:txBody>
      </p:sp>
      <p:sp>
        <p:nvSpPr>
          <p:cNvPr id="20" name="Shape 18"/>
          <p:cNvSpPr/>
          <p:nvPr/>
        </p:nvSpPr>
        <p:spPr>
          <a:xfrm>
            <a:off x="182880" y="4206240"/>
            <a:ext cx="2103120" cy="502920"/>
          </a:xfrm>
          <a:prstGeom prst="rect">
            <a:avLst/>
          </a:prstGeom>
          <a:solidFill>
            <a:srgbClr val="1B5E8C"/>
          </a:solidFill>
          <a:ln w="12700">
            <a:solidFill>
              <a:srgbClr val="1B5E8C"/>
            </a:solidFill>
            <a:prstDash val="solid"/>
          </a:ln>
        </p:spPr>
      </p:sp>
      <p:sp>
        <p:nvSpPr>
          <p:cNvPr id="21" name="Text 19"/>
          <p:cNvSpPr/>
          <p:nvPr/>
        </p:nvSpPr>
        <p:spPr>
          <a:xfrm>
            <a:off x="256032" y="4206240"/>
            <a:ext cx="1956816" cy="502920"/>
          </a:xfrm>
          <a:prstGeom prst="rect">
            <a:avLst/>
          </a:prstGeom>
          <a:noFill/>
          <a:ln/>
        </p:spPr>
        <p:txBody>
          <a:bodyPr wrap="square" rtlCol="0" anchor="ctr"/>
          <a:lstStyle/>
          <a:p>
            <a:pPr marL="0" indent="0" algn="l">
              <a:buNone/>
            </a:pPr>
            <a:r>
              <a:rPr lang="en-US" sz="850" i="1" dirty="0">
                <a:solidFill>
                  <a:srgbClr val="FFFFFF"/>
                </a:solidFill>
              </a:rPr>
              <a:t>Ideal for SE Asian data: sparse, categorical, fast iteration needed</a:t>
            </a:r>
            <a:endParaRPr lang="en-US" sz="850" dirty="0"/>
          </a:p>
        </p:txBody>
      </p:sp>
      <p:sp>
        <p:nvSpPr>
          <p:cNvPr id="22" name="Shape 20"/>
          <p:cNvSpPr/>
          <p:nvPr/>
        </p:nvSpPr>
        <p:spPr>
          <a:xfrm>
            <a:off x="2423160" y="1005840"/>
            <a:ext cx="21031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3" name="Shape 21"/>
          <p:cNvSpPr/>
          <p:nvPr/>
        </p:nvSpPr>
        <p:spPr>
          <a:xfrm>
            <a:off x="2423160" y="1005840"/>
            <a:ext cx="2103120" cy="804672"/>
          </a:xfrm>
          <a:prstGeom prst="rect">
            <a:avLst/>
          </a:prstGeom>
          <a:solidFill>
            <a:srgbClr val="8B5E1B"/>
          </a:solidFill>
          <a:ln w="12700">
            <a:solidFill>
              <a:srgbClr val="8B5E1B"/>
            </a:solidFill>
            <a:prstDash val="solid"/>
          </a:ln>
        </p:spPr>
      </p:sp>
      <p:sp>
        <p:nvSpPr>
          <p:cNvPr id="24" name="Text 22"/>
          <p:cNvSpPr/>
          <p:nvPr/>
        </p:nvSpPr>
        <p:spPr>
          <a:xfrm>
            <a:off x="2478024" y="1005840"/>
            <a:ext cx="548640" cy="804672"/>
          </a:xfrm>
          <a:prstGeom prst="rect">
            <a:avLst/>
          </a:prstGeom>
          <a:noFill/>
          <a:ln/>
        </p:spPr>
        <p:txBody>
          <a:bodyPr wrap="square" lIns="0" tIns="0" rIns="0" bIns="0" rtlCol="0" anchor="ctr"/>
          <a:lstStyle/>
          <a:p>
            <a:pPr marL="0" indent="0" algn="l">
              <a:buNone/>
            </a:pPr>
            <a:r>
              <a:rPr lang="en-US" sz="2600" b="1" dirty="0">
                <a:solidFill>
                  <a:srgbClr val="FFFFFF"/>
                </a:solidFill>
              </a:rPr>
              <a:t>02</a:t>
            </a:r>
            <a:endParaRPr lang="en-US" sz="2600" dirty="0"/>
          </a:p>
        </p:txBody>
      </p:sp>
      <p:sp>
        <p:nvSpPr>
          <p:cNvPr id="25" name="Text 23"/>
          <p:cNvSpPr/>
          <p:nvPr/>
        </p:nvSpPr>
        <p:spPr>
          <a:xfrm>
            <a:off x="2514600" y="1847088"/>
            <a:ext cx="1920240" cy="402336"/>
          </a:xfrm>
          <a:prstGeom prst="rect">
            <a:avLst/>
          </a:prstGeom>
          <a:noFill/>
          <a:ln/>
        </p:spPr>
        <p:txBody>
          <a:bodyPr wrap="square" rtlCol="0" anchor="ctr"/>
          <a:lstStyle/>
          <a:p>
            <a:pPr marL="0" indent="0" algn="l">
              <a:buNone/>
            </a:pPr>
            <a:r>
              <a:rPr lang="en-US" sz="1050" b="1" dirty="0">
                <a:solidFill>
                  <a:srgbClr val="8B5E1B"/>
                </a:solidFill>
              </a:rPr>
              <a:t>Proxy Yield Modeling</a:t>
            </a:r>
            <a:endParaRPr lang="en-US" sz="1050" dirty="0"/>
          </a:p>
        </p:txBody>
      </p:sp>
      <p:sp>
        <p:nvSpPr>
          <p:cNvPr id="26" name="Shape 24"/>
          <p:cNvSpPr/>
          <p:nvPr/>
        </p:nvSpPr>
        <p:spPr>
          <a:xfrm>
            <a:off x="2514600" y="2331720"/>
            <a:ext cx="118872" cy="118872"/>
          </a:xfrm>
          <a:prstGeom prst="ellipse">
            <a:avLst/>
          </a:prstGeom>
          <a:solidFill>
            <a:srgbClr val="8B5E1B"/>
          </a:solidFill>
          <a:ln w="12700">
            <a:solidFill>
              <a:srgbClr val="8B5E1B"/>
            </a:solidFill>
            <a:prstDash val="solid"/>
          </a:ln>
        </p:spPr>
      </p:sp>
      <p:sp>
        <p:nvSpPr>
          <p:cNvPr id="27" name="Text 25"/>
          <p:cNvSpPr/>
          <p:nvPr/>
        </p:nvSpPr>
        <p:spPr>
          <a:xfrm>
            <a:off x="2679192" y="2276856"/>
            <a:ext cx="1783080" cy="457200"/>
          </a:xfrm>
          <a:prstGeom prst="rect">
            <a:avLst/>
          </a:prstGeom>
          <a:noFill/>
          <a:ln/>
        </p:spPr>
        <p:txBody>
          <a:bodyPr wrap="square" rtlCol="0" anchor="t"/>
          <a:lstStyle/>
          <a:p>
            <a:pPr marL="0" indent="0" algn="l">
              <a:buNone/>
            </a:pPr>
            <a:r>
              <a:rPr lang="en-US" sz="900" dirty="0">
                <a:solidFill>
                  <a:srgbClr val="2D3748"/>
                </a:solidFill>
              </a:rPr>
              <a:t>Estimates rental yield without rental data</a:t>
            </a:r>
            <a:endParaRPr lang="en-US" sz="900" dirty="0"/>
          </a:p>
        </p:txBody>
      </p:sp>
      <p:sp>
        <p:nvSpPr>
          <p:cNvPr id="28" name="Shape 26"/>
          <p:cNvSpPr/>
          <p:nvPr/>
        </p:nvSpPr>
        <p:spPr>
          <a:xfrm>
            <a:off x="2514600" y="2834640"/>
            <a:ext cx="118872" cy="118872"/>
          </a:xfrm>
          <a:prstGeom prst="ellipse">
            <a:avLst/>
          </a:prstGeom>
          <a:solidFill>
            <a:srgbClr val="8B5E1B"/>
          </a:solidFill>
          <a:ln w="12700">
            <a:solidFill>
              <a:srgbClr val="8B5E1B"/>
            </a:solidFill>
            <a:prstDash val="solid"/>
          </a:ln>
        </p:spPr>
      </p:sp>
      <p:sp>
        <p:nvSpPr>
          <p:cNvPr id="29" name="Text 27"/>
          <p:cNvSpPr/>
          <p:nvPr/>
        </p:nvSpPr>
        <p:spPr>
          <a:xfrm>
            <a:off x="2679192" y="2779776"/>
            <a:ext cx="1783080" cy="457200"/>
          </a:xfrm>
          <a:prstGeom prst="rect">
            <a:avLst/>
          </a:prstGeom>
          <a:noFill/>
          <a:ln/>
        </p:spPr>
        <p:txBody>
          <a:bodyPr wrap="square" rtlCol="0" anchor="t"/>
          <a:lstStyle/>
          <a:p>
            <a:pPr marL="0" indent="0" algn="l">
              <a:buNone/>
            </a:pPr>
            <a:r>
              <a:rPr lang="en-US" sz="900" dirty="0">
                <a:solidFill>
                  <a:srgbClr val="2D3748"/>
                </a:solidFill>
              </a:rPr>
              <a:t>Cap rate proxies from tourism &amp; infrastructure</a:t>
            </a:r>
            <a:endParaRPr lang="en-US" sz="900" dirty="0"/>
          </a:p>
        </p:txBody>
      </p:sp>
      <p:sp>
        <p:nvSpPr>
          <p:cNvPr id="30" name="Shape 28"/>
          <p:cNvSpPr/>
          <p:nvPr/>
        </p:nvSpPr>
        <p:spPr>
          <a:xfrm>
            <a:off x="2514600" y="3337560"/>
            <a:ext cx="118872" cy="118872"/>
          </a:xfrm>
          <a:prstGeom prst="ellipse">
            <a:avLst/>
          </a:prstGeom>
          <a:solidFill>
            <a:srgbClr val="8B5E1B"/>
          </a:solidFill>
          <a:ln w="12700">
            <a:solidFill>
              <a:srgbClr val="8B5E1B"/>
            </a:solidFill>
            <a:prstDash val="solid"/>
          </a:ln>
        </p:spPr>
      </p:sp>
      <p:sp>
        <p:nvSpPr>
          <p:cNvPr id="31" name="Text 29"/>
          <p:cNvSpPr/>
          <p:nvPr/>
        </p:nvSpPr>
        <p:spPr>
          <a:xfrm>
            <a:off x="2679192" y="3282696"/>
            <a:ext cx="1783080" cy="457200"/>
          </a:xfrm>
          <a:prstGeom prst="rect">
            <a:avLst/>
          </a:prstGeom>
          <a:noFill/>
          <a:ln/>
        </p:spPr>
        <p:txBody>
          <a:bodyPr wrap="square" rtlCol="0" anchor="t"/>
          <a:lstStyle/>
          <a:p>
            <a:pPr marL="0" indent="0" algn="l">
              <a:buNone/>
            </a:pPr>
            <a:r>
              <a:rPr lang="en-US" sz="900" dirty="0">
                <a:solidFill>
                  <a:srgbClr val="2D3748"/>
                </a:solidFill>
              </a:rPr>
              <a:t>Investment return modeling (3-yr horizon)</a:t>
            </a:r>
            <a:endParaRPr lang="en-US" sz="900" dirty="0"/>
          </a:p>
        </p:txBody>
      </p:sp>
      <p:sp>
        <p:nvSpPr>
          <p:cNvPr id="32" name="Shape 30"/>
          <p:cNvSpPr/>
          <p:nvPr/>
        </p:nvSpPr>
        <p:spPr>
          <a:xfrm>
            <a:off x="2514600" y="3840480"/>
            <a:ext cx="118872" cy="118872"/>
          </a:xfrm>
          <a:prstGeom prst="ellipse">
            <a:avLst/>
          </a:prstGeom>
          <a:solidFill>
            <a:srgbClr val="8B5E1B"/>
          </a:solidFill>
          <a:ln w="12700">
            <a:solidFill>
              <a:srgbClr val="8B5E1B"/>
            </a:solidFill>
            <a:prstDash val="solid"/>
          </a:ln>
        </p:spPr>
      </p:sp>
      <p:sp>
        <p:nvSpPr>
          <p:cNvPr id="33" name="Text 31"/>
          <p:cNvSpPr/>
          <p:nvPr/>
        </p:nvSpPr>
        <p:spPr>
          <a:xfrm>
            <a:off x="2679192" y="3785616"/>
            <a:ext cx="1783080" cy="457200"/>
          </a:xfrm>
          <a:prstGeom prst="rect">
            <a:avLst/>
          </a:prstGeom>
          <a:noFill/>
          <a:ln/>
        </p:spPr>
        <p:txBody>
          <a:bodyPr wrap="square" rtlCol="0" anchor="t"/>
          <a:lstStyle/>
          <a:p>
            <a:pPr marL="0" indent="0" algn="l">
              <a:buNone/>
            </a:pPr>
            <a:r>
              <a:rPr lang="en-US" sz="900" dirty="0">
                <a:solidFill>
                  <a:srgbClr val="2D3748"/>
                </a:solidFill>
              </a:rPr>
              <a:t>Detects listing price vs. fair value divergence</a:t>
            </a:r>
            <a:endParaRPr lang="en-US" sz="900" dirty="0"/>
          </a:p>
        </p:txBody>
      </p:sp>
      <p:sp>
        <p:nvSpPr>
          <p:cNvPr id="34" name="Shape 32"/>
          <p:cNvSpPr/>
          <p:nvPr/>
        </p:nvSpPr>
        <p:spPr>
          <a:xfrm>
            <a:off x="2423160" y="4206240"/>
            <a:ext cx="2103120" cy="502920"/>
          </a:xfrm>
          <a:prstGeom prst="rect">
            <a:avLst/>
          </a:prstGeom>
          <a:solidFill>
            <a:srgbClr val="8B5E1B"/>
          </a:solidFill>
          <a:ln w="12700">
            <a:solidFill>
              <a:srgbClr val="8B5E1B"/>
            </a:solidFill>
            <a:prstDash val="solid"/>
          </a:ln>
        </p:spPr>
      </p:sp>
      <p:sp>
        <p:nvSpPr>
          <p:cNvPr id="35" name="Text 33"/>
          <p:cNvSpPr/>
          <p:nvPr/>
        </p:nvSpPr>
        <p:spPr>
          <a:xfrm>
            <a:off x="2496312" y="4206240"/>
            <a:ext cx="1956816" cy="502920"/>
          </a:xfrm>
          <a:prstGeom prst="rect">
            <a:avLst/>
          </a:prstGeom>
          <a:noFill/>
          <a:ln/>
        </p:spPr>
        <p:txBody>
          <a:bodyPr wrap="square" rtlCol="0" anchor="ctr"/>
          <a:lstStyle/>
          <a:p>
            <a:pPr marL="0" indent="0" algn="l">
              <a:buNone/>
            </a:pPr>
            <a:r>
              <a:rPr lang="en-US" sz="850" i="1" dirty="0">
                <a:solidFill>
                  <a:srgbClr val="FFFFFF"/>
                </a:solidFill>
              </a:rPr>
              <a:t>Solves missing rental data — the #1 barrier in PH secondary markets</a:t>
            </a:r>
            <a:endParaRPr lang="en-US" sz="850" dirty="0"/>
          </a:p>
        </p:txBody>
      </p:sp>
      <p:sp>
        <p:nvSpPr>
          <p:cNvPr id="36" name="Shape 34"/>
          <p:cNvSpPr/>
          <p:nvPr/>
        </p:nvSpPr>
        <p:spPr>
          <a:xfrm>
            <a:off x="4663440" y="1005840"/>
            <a:ext cx="21031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7" name="Shape 35"/>
          <p:cNvSpPr/>
          <p:nvPr/>
        </p:nvSpPr>
        <p:spPr>
          <a:xfrm>
            <a:off x="4663440" y="1005840"/>
            <a:ext cx="2103120" cy="804672"/>
          </a:xfrm>
          <a:prstGeom prst="rect">
            <a:avLst/>
          </a:prstGeom>
          <a:solidFill>
            <a:srgbClr val="1B6B3A"/>
          </a:solidFill>
          <a:ln w="12700">
            <a:solidFill>
              <a:srgbClr val="1B6B3A"/>
            </a:solidFill>
            <a:prstDash val="solid"/>
          </a:ln>
        </p:spPr>
      </p:sp>
      <p:sp>
        <p:nvSpPr>
          <p:cNvPr id="38" name="Text 36"/>
          <p:cNvSpPr/>
          <p:nvPr/>
        </p:nvSpPr>
        <p:spPr>
          <a:xfrm>
            <a:off x="4718304" y="1005840"/>
            <a:ext cx="548640" cy="804672"/>
          </a:xfrm>
          <a:prstGeom prst="rect">
            <a:avLst/>
          </a:prstGeom>
          <a:noFill/>
          <a:ln/>
        </p:spPr>
        <p:txBody>
          <a:bodyPr wrap="square" lIns="0" tIns="0" rIns="0" bIns="0" rtlCol="0" anchor="ctr"/>
          <a:lstStyle/>
          <a:p>
            <a:pPr marL="0" indent="0" algn="l">
              <a:buNone/>
            </a:pPr>
            <a:r>
              <a:rPr lang="en-US" sz="2600" b="1" dirty="0">
                <a:solidFill>
                  <a:srgbClr val="FFFFFF"/>
                </a:solidFill>
              </a:rPr>
              <a:t>03</a:t>
            </a:r>
            <a:endParaRPr lang="en-US" sz="2600" dirty="0"/>
          </a:p>
        </p:txBody>
      </p:sp>
      <p:sp>
        <p:nvSpPr>
          <p:cNvPr id="39" name="Text 37"/>
          <p:cNvSpPr/>
          <p:nvPr/>
        </p:nvSpPr>
        <p:spPr>
          <a:xfrm>
            <a:off x="4754880" y="1847088"/>
            <a:ext cx="1920240" cy="402336"/>
          </a:xfrm>
          <a:prstGeom prst="rect">
            <a:avLst/>
          </a:prstGeom>
          <a:noFill/>
          <a:ln/>
        </p:spPr>
        <p:txBody>
          <a:bodyPr wrap="square" rtlCol="0" anchor="ctr"/>
          <a:lstStyle/>
          <a:p>
            <a:pPr marL="0" indent="0" algn="l">
              <a:buNone/>
            </a:pPr>
            <a:r>
              <a:rPr lang="en-US" sz="1050" b="1" dirty="0">
                <a:solidFill>
                  <a:srgbClr val="1B6B3A"/>
                </a:solidFill>
              </a:rPr>
              <a:t>Transfer Learning</a:t>
            </a:r>
            <a:endParaRPr lang="en-US" sz="1050" dirty="0"/>
          </a:p>
        </p:txBody>
      </p:sp>
      <p:sp>
        <p:nvSpPr>
          <p:cNvPr id="40" name="Shape 38"/>
          <p:cNvSpPr/>
          <p:nvPr/>
        </p:nvSpPr>
        <p:spPr>
          <a:xfrm>
            <a:off x="4754880" y="2331720"/>
            <a:ext cx="118872" cy="118872"/>
          </a:xfrm>
          <a:prstGeom prst="ellipse">
            <a:avLst/>
          </a:prstGeom>
          <a:solidFill>
            <a:srgbClr val="1B6B3A"/>
          </a:solidFill>
          <a:ln w="12700">
            <a:solidFill>
              <a:srgbClr val="1B6B3A"/>
            </a:solidFill>
            <a:prstDash val="solid"/>
          </a:ln>
        </p:spPr>
      </p:sp>
      <p:sp>
        <p:nvSpPr>
          <p:cNvPr id="41" name="Text 39"/>
          <p:cNvSpPr/>
          <p:nvPr/>
        </p:nvSpPr>
        <p:spPr>
          <a:xfrm>
            <a:off x="4919472" y="2276856"/>
            <a:ext cx="1783080" cy="457200"/>
          </a:xfrm>
          <a:prstGeom prst="rect">
            <a:avLst/>
          </a:prstGeom>
          <a:noFill/>
          <a:ln/>
        </p:spPr>
        <p:txBody>
          <a:bodyPr wrap="square" rtlCol="0" anchor="t"/>
          <a:lstStyle/>
          <a:p>
            <a:pPr marL="0" indent="0" algn="l">
              <a:buNone/>
            </a:pPr>
            <a:r>
              <a:rPr lang="en-US" sz="900" dirty="0">
                <a:solidFill>
                  <a:srgbClr val="2D3748"/>
                </a:solidFill>
              </a:rPr>
              <a:t>Source: Singapore &amp; Malaysia (data-rich)</a:t>
            </a:r>
            <a:endParaRPr lang="en-US" sz="900" dirty="0"/>
          </a:p>
        </p:txBody>
      </p:sp>
      <p:sp>
        <p:nvSpPr>
          <p:cNvPr id="42" name="Shape 40"/>
          <p:cNvSpPr/>
          <p:nvPr/>
        </p:nvSpPr>
        <p:spPr>
          <a:xfrm>
            <a:off x="4754880" y="2834640"/>
            <a:ext cx="118872" cy="118872"/>
          </a:xfrm>
          <a:prstGeom prst="ellipse">
            <a:avLst/>
          </a:prstGeom>
          <a:solidFill>
            <a:srgbClr val="1B6B3A"/>
          </a:solidFill>
          <a:ln w="12700">
            <a:solidFill>
              <a:srgbClr val="1B6B3A"/>
            </a:solidFill>
            <a:prstDash val="solid"/>
          </a:ln>
        </p:spPr>
      </p:sp>
      <p:sp>
        <p:nvSpPr>
          <p:cNvPr id="43" name="Text 41"/>
          <p:cNvSpPr/>
          <p:nvPr/>
        </p:nvSpPr>
        <p:spPr>
          <a:xfrm>
            <a:off x="4919472" y="2779776"/>
            <a:ext cx="1783080" cy="457200"/>
          </a:xfrm>
          <a:prstGeom prst="rect">
            <a:avLst/>
          </a:prstGeom>
          <a:noFill/>
          <a:ln/>
        </p:spPr>
        <p:txBody>
          <a:bodyPr wrap="square" rtlCol="0" anchor="t"/>
          <a:lstStyle/>
          <a:p>
            <a:pPr marL="0" indent="0" algn="l">
              <a:buNone/>
            </a:pPr>
            <a:r>
              <a:rPr lang="en-US" sz="900" dirty="0">
                <a:solidFill>
                  <a:srgbClr val="2D3748"/>
                </a:solidFill>
              </a:rPr>
              <a:t>Target: Philippines, Vietnam (data-sparse)</a:t>
            </a:r>
            <a:endParaRPr lang="en-US" sz="900" dirty="0"/>
          </a:p>
        </p:txBody>
      </p:sp>
      <p:sp>
        <p:nvSpPr>
          <p:cNvPr id="44" name="Shape 42"/>
          <p:cNvSpPr/>
          <p:nvPr/>
        </p:nvSpPr>
        <p:spPr>
          <a:xfrm>
            <a:off x="4754880" y="3337560"/>
            <a:ext cx="118872" cy="118872"/>
          </a:xfrm>
          <a:prstGeom prst="ellipse">
            <a:avLst/>
          </a:prstGeom>
          <a:solidFill>
            <a:srgbClr val="1B6B3A"/>
          </a:solidFill>
          <a:ln w="12700">
            <a:solidFill>
              <a:srgbClr val="1B6B3A"/>
            </a:solidFill>
            <a:prstDash val="solid"/>
          </a:ln>
        </p:spPr>
      </p:sp>
      <p:sp>
        <p:nvSpPr>
          <p:cNvPr id="45" name="Text 43"/>
          <p:cNvSpPr/>
          <p:nvPr/>
        </p:nvSpPr>
        <p:spPr>
          <a:xfrm>
            <a:off x="4919472" y="3282696"/>
            <a:ext cx="1783080" cy="457200"/>
          </a:xfrm>
          <a:prstGeom prst="rect">
            <a:avLst/>
          </a:prstGeom>
          <a:noFill/>
          <a:ln/>
        </p:spPr>
        <p:txBody>
          <a:bodyPr wrap="square" rtlCol="0" anchor="t"/>
          <a:lstStyle/>
          <a:p>
            <a:pPr marL="0" indent="0" algn="l">
              <a:buNone/>
            </a:pPr>
            <a:r>
              <a:rPr lang="en-US" sz="900" dirty="0">
                <a:solidFill>
                  <a:srgbClr val="2D3748"/>
                </a:solidFill>
              </a:rPr>
              <a:t>Domain adaptation for local market patterns</a:t>
            </a:r>
            <a:endParaRPr lang="en-US" sz="900" dirty="0"/>
          </a:p>
        </p:txBody>
      </p:sp>
      <p:sp>
        <p:nvSpPr>
          <p:cNvPr id="46" name="Shape 44"/>
          <p:cNvSpPr/>
          <p:nvPr/>
        </p:nvSpPr>
        <p:spPr>
          <a:xfrm>
            <a:off x="4754880" y="3840480"/>
            <a:ext cx="118872" cy="118872"/>
          </a:xfrm>
          <a:prstGeom prst="ellipse">
            <a:avLst/>
          </a:prstGeom>
          <a:solidFill>
            <a:srgbClr val="1B6B3A"/>
          </a:solidFill>
          <a:ln w="12700">
            <a:solidFill>
              <a:srgbClr val="1B6B3A"/>
            </a:solidFill>
            <a:prstDash val="solid"/>
          </a:ln>
        </p:spPr>
      </p:sp>
      <p:sp>
        <p:nvSpPr>
          <p:cNvPr id="47" name="Text 45"/>
          <p:cNvSpPr/>
          <p:nvPr/>
        </p:nvSpPr>
        <p:spPr>
          <a:xfrm>
            <a:off x="4919472" y="3785616"/>
            <a:ext cx="1783080" cy="457200"/>
          </a:xfrm>
          <a:prstGeom prst="rect">
            <a:avLst/>
          </a:prstGeom>
          <a:noFill/>
          <a:ln/>
        </p:spPr>
        <p:txBody>
          <a:bodyPr wrap="square" rtlCol="0" anchor="t"/>
          <a:lstStyle/>
          <a:p>
            <a:pPr marL="0" indent="0" algn="l">
              <a:buNone/>
            </a:pPr>
            <a:r>
              <a:rPr lang="en-US" sz="900" dirty="0">
                <a:solidFill>
                  <a:srgbClr val="2D3748"/>
                </a:solidFill>
              </a:rPr>
              <a:t>Reduces data requirement by ~70%</a:t>
            </a:r>
            <a:endParaRPr lang="en-US" sz="900" dirty="0"/>
          </a:p>
        </p:txBody>
      </p:sp>
      <p:sp>
        <p:nvSpPr>
          <p:cNvPr id="48" name="Shape 46"/>
          <p:cNvSpPr/>
          <p:nvPr/>
        </p:nvSpPr>
        <p:spPr>
          <a:xfrm>
            <a:off x="4663440" y="4206240"/>
            <a:ext cx="2103120" cy="502920"/>
          </a:xfrm>
          <a:prstGeom prst="rect">
            <a:avLst/>
          </a:prstGeom>
          <a:solidFill>
            <a:srgbClr val="1B6B3A"/>
          </a:solidFill>
          <a:ln w="12700">
            <a:solidFill>
              <a:srgbClr val="1B6B3A"/>
            </a:solidFill>
            <a:prstDash val="solid"/>
          </a:ln>
        </p:spPr>
      </p:sp>
      <p:sp>
        <p:nvSpPr>
          <p:cNvPr id="49" name="Text 47"/>
          <p:cNvSpPr/>
          <p:nvPr/>
        </p:nvSpPr>
        <p:spPr>
          <a:xfrm>
            <a:off x="4736592" y="4206240"/>
            <a:ext cx="1956816" cy="502920"/>
          </a:xfrm>
          <a:prstGeom prst="rect">
            <a:avLst/>
          </a:prstGeom>
          <a:noFill/>
          <a:ln/>
        </p:spPr>
        <p:txBody>
          <a:bodyPr wrap="square" rtlCol="0" anchor="ctr"/>
          <a:lstStyle/>
          <a:p>
            <a:pPr marL="0" indent="0" algn="l">
              <a:buNone/>
            </a:pPr>
            <a:r>
              <a:rPr lang="en-US" sz="850" i="1" dirty="0">
                <a:solidFill>
                  <a:srgbClr val="FFFFFF"/>
                </a:solidFill>
              </a:rPr>
              <a:t>Enables reliable prediction with fewer than 500 local transactions</a:t>
            </a:r>
            <a:endParaRPr lang="en-US" sz="850" dirty="0"/>
          </a:p>
        </p:txBody>
      </p:sp>
      <p:sp>
        <p:nvSpPr>
          <p:cNvPr id="50" name="Shape 48"/>
          <p:cNvSpPr/>
          <p:nvPr/>
        </p:nvSpPr>
        <p:spPr>
          <a:xfrm>
            <a:off x="6903720" y="1005840"/>
            <a:ext cx="21031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51" name="Shape 49"/>
          <p:cNvSpPr/>
          <p:nvPr/>
        </p:nvSpPr>
        <p:spPr>
          <a:xfrm>
            <a:off x="6903720" y="1005840"/>
            <a:ext cx="2103120" cy="804672"/>
          </a:xfrm>
          <a:prstGeom prst="rect">
            <a:avLst/>
          </a:prstGeom>
          <a:solidFill>
            <a:srgbClr val="6B1B5E"/>
          </a:solidFill>
          <a:ln w="12700">
            <a:solidFill>
              <a:srgbClr val="6B1B5E"/>
            </a:solidFill>
            <a:prstDash val="solid"/>
          </a:ln>
        </p:spPr>
      </p:sp>
      <p:sp>
        <p:nvSpPr>
          <p:cNvPr id="52" name="Text 50"/>
          <p:cNvSpPr/>
          <p:nvPr/>
        </p:nvSpPr>
        <p:spPr>
          <a:xfrm>
            <a:off x="6958584" y="1005840"/>
            <a:ext cx="548640" cy="804672"/>
          </a:xfrm>
          <a:prstGeom prst="rect">
            <a:avLst/>
          </a:prstGeom>
          <a:noFill/>
          <a:ln/>
        </p:spPr>
        <p:txBody>
          <a:bodyPr wrap="square" lIns="0" tIns="0" rIns="0" bIns="0" rtlCol="0" anchor="ctr"/>
          <a:lstStyle/>
          <a:p>
            <a:pPr marL="0" indent="0" algn="l">
              <a:buNone/>
            </a:pPr>
            <a:r>
              <a:rPr lang="en-US" sz="2600" b="1" dirty="0">
                <a:solidFill>
                  <a:srgbClr val="FFFFFF"/>
                </a:solidFill>
              </a:rPr>
              <a:t>04</a:t>
            </a:r>
            <a:endParaRPr lang="en-US" sz="2600" dirty="0"/>
          </a:p>
        </p:txBody>
      </p:sp>
      <p:sp>
        <p:nvSpPr>
          <p:cNvPr id="53" name="Text 51"/>
          <p:cNvSpPr/>
          <p:nvPr/>
        </p:nvSpPr>
        <p:spPr>
          <a:xfrm>
            <a:off x="6995160" y="1847088"/>
            <a:ext cx="1920240" cy="402336"/>
          </a:xfrm>
          <a:prstGeom prst="rect">
            <a:avLst/>
          </a:prstGeom>
          <a:noFill/>
          <a:ln/>
        </p:spPr>
        <p:txBody>
          <a:bodyPr wrap="square" rtlCol="0" anchor="ctr"/>
          <a:lstStyle/>
          <a:p>
            <a:pPr marL="0" indent="0" algn="l">
              <a:buNone/>
            </a:pPr>
            <a:r>
              <a:rPr lang="en-US" sz="1050" b="1" dirty="0">
                <a:solidFill>
                  <a:srgbClr val="6B1B5E"/>
                </a:solidFill>
              </a:rPr>
              <a:t>Sentiment-Aware Index</a:t>
            </a:r>
            <a:endParaRPr lang="en-US" sz="1050" dirty="0"/>
          </a:p>
        </p:txBody>
      </p:sp>
      <p:sp>
        <p:nvSpPr>
          <p:cNvPr id="54" name="Shape 52"/>
          <p:cNvSpPr/>
          <p:nvPr/>
        </p:nvSpPr>
        <p:spPr>
          <a:xfrm>
            <a:off x="6995160" y="2331720"/>
            <a:ext cx="118872" cy="118872"/>
          </a:xfrm>
          <a:prstGeom prst="ellipse">
            <a:avLst/>
          </a:prstGeom>
          <a:solidFill>
            <a:srgbClr val="6B1B5E"/>
          </a:solidFill>
          <a:ln w="12700">
            <a:solidFill>
              <a:srgbClr val="6B1B5E"/>
            </a:solidFill>
            <a:prstDash val="solid"/>
          </a:ln>
        </p:spPr>
      </p:sp>
      <p:sp>
        <p:nvSpPr>
          <p:cNvPr id="55" name="Text 53"/>
          <p:cNvSpPr/>
          <p:nvPr/>
        </p:nvSpPr>
        <p:spPr>
          <a:xfrm>
            <a:off x="7159752" y="2276856"/>
            <a:ext cx="1783080" cy="457200"/>
          </a:xfrm>
          <a:prstGeom prst="rect">
            <a:avLst/>
          </a:prstGeom>
          <a:noFill/>
          <a:ln/>
        </p:spPr>
        <p:txBody>
          <a:bodyPr wrap="square" rtlCol="0" anchor="t"/>
          <a:lstStyle/>
          <a:p>
            <a:pPr marL="0" indent="0" algn="l">
              <a:buNone/>
            </a:pPr>
            <a:r>
              <a:rPr lang="en-US" sz="900" dirty="0">
                <a:solidFill>
                  <a:srgbClr val="2D3748"/>
                </a:solidFill>
              </a:rPr>
              <a:t>Filipino-language NLP on news &amp; social media</a:t>
            </a:r>
            <a:endParaRPr lang="en-US" sz="900" dirty="0"/>
          </a:p>
        </p:txBody>
      </p:sp>
      <p:sp>
        <p:nvSpPr>
          <p:cNvPr id="56" name="Shape 54"/>
          <p:cNvSpPr/>
          <p:nvPr/>
        </p:nvSpPr>
        <p:spPr>
          <a:xfrm>
            <a:off x="6995160" y="2834640"/>
            <a:ext cx="118872" cy="118872"/>
          </a:xfrm>
          <a:prstGeom prst="ellipse">
            <a:avLst/>
          </a:prstGeom>
          <a:solidFill>
            <a:srgbClr val="6B1B5E"/>
          </a:solidFill>
          <a:ln w="12700">
            <a:solidFill>
              <a:srgbClr val="6B1B5E"/>
            </a:solidFill>
            <a:prstDash val="solid"/>
          </a:ln>
        </p:spPr>
      </p:sp>
      <p:sp>
        <p:nvSpPr>
          <p:cNvPr id="57" name="Text 55"/>
          <p:cNvSpPr/>
          <p:nvPr/>
        </p:nvSpPr>
        <p:spPr>
          <a:xfrm>
            <a:off x="7159752" y="2779776"/>
            <a:ext cx="1783080" cy="457200"/>
          </a:xfrm>
          <a:prstGeom prst="rect">
            <a:avLst/>
          </a:prstGeom>
          <a:noFill/>
          <a:ln/>
        </p:spPr>
        <p:txBody>
          <a:bodyPr wrap="square" rtlCol="0" anchor="t"/>
          <a:lstStyle/>
          <a:p>
            <a:pPr marL="0" indent="0" algn="l">
              <a:buNone/>
            </a:pPr>
            <a:r>
              <a:rPr lang="en-US" sz="900" dirty="0">
                <a:solidFill>
                  <a:srgbClr val="2D3748"/>
                </a:solidFill>
              </a:rPr>
              <a:t>Legal registry anomaly detection</a:t>
            </a:r>
            <a:endParaRPr lang="en-US" sz="900" dirty="0"/>
          </a:p>
        </p:txBody>
      </p:sp>
      <p:sp>
        <p:nvSpPr>
          <p:cNvPr id="58" name="Shape 56"/>
          <p:cNvSpPr/>
          <p:nvPr/>
        </p:nvSpPr>
        <p:spPr>
          <a:xfrm>
            <a:off x="6995160" y="3337560"/>
            <a:ext cx="118872" cy="118872"/>
          </a:xfrm>
          <a:prstGeom prst="ellipse">
            <a:avLst/>
          </a:prstGeom>
          <a:solidFill>
            <a:srgbClr val="6B1B5E"/>
          </a:solidFill>
          <a:ln w="12700">
            <a:solidFill>
              <a:srgbClr val="6B1B5E"/>
            </a:solidFill>
            <a:prstDash val="solid"/>
          </a:ln>
        </p:spPr>
      </p:sp>
      <p:sp>
        <p:nvSpPr>
          <p:cNvPr id="59" name="Text 57"/>
          <p:cNvSpPr/>
          <p:nvPr/>
        </p:nvSpPr>
        <p:spPr>
          <a:xfrm>
            <a:off x="7159752" y="3282696"/>
            <a:ext cx="1783080" cy="457200"/>
          </a:xfrm>
          <a:prstGeom prst="rect">
            <a:avLst/>
          </a:prstGeom>
          <a:noFill/>
          <a:ln/>
        </p:spPr>
        <p:txBody>
          <a:bodyPr wrap="square" rtlCol="0" anchor="t"/>
          <a:lstStyle/>
          <a:p>
            <a:pPr marL="0" indent="0" algn="l">
              <a:buNone/>
            </a:pPr>
            <a:r>
              <a:rPr lang="en-US" sz="900" dirty="0">
                <a:solidFill>
                  <a:srgbClr val="2D3748"/>
                </a:solidFill>
              </a:rPr>
              <a:t>Cultural pricing premium/discount flags</a:t>
            </a:r>
            <a:endParaRPr lang="en-US" sz="900" dirty="0"/>
          </a:p>
        </p:txBody>
      </p:sp>
      <p:sp>
        <p:nvSpPr>
          <p:cNvPr id="60" name="Shape 58"/>
          <p:cNvSpPr/>
          <p:nvPr/>
        </p:nvSpPr>
        <p:spPr>
          <a:xfrm>
            <a:off x="6995160" y="3840480"/>
            <a:ext cx="118872" cy="118872"/>
          </a:xfrm>
          <a:prstGeom prst="ellipse">
            <a:avLst/>
          </a:prstGeom>
          <a:solidFill>
            <a:srgbClr val="6B1B5E"/>
          </a:solidFill>
          <a:ln w="12700">
            <a:solidFill>
              <a:srgbClr val="6B1B5E"/>
            </a:solidFill>
            <a:prstDash val="solid"/>
          </a:ln>
        </p:spPr>
      </p:sp>
      <p:sp>
        <p:nvSpPr>
          <p:cNvPr id="61" name="Text 59"/>
          <p:cNvSpPr/>
          <p:nvPr/>
        </p:nvSpPr>
        <p:spPr>
          <a:xfrm>
            <a:off x="7159752" y="3785616"/>
            <a:ext cx="1783080" cy="457200"/>
          </a:xfrm>
          <a:prstGeom prst="rect">
            <a:avLst/>
          </a:prstGeom>
          <a:noFill/>
          <a:ln/>
        </p:spPr>
        <p:txBody>
          <a:bodyPr wrap="square" rtlCol="0" anchor="t"/>
          <a:lstStyle/>
          <a:p>
            <a:pPr marL="0" indent="0" algn="l">
              <a:buNone/>
            </a:pPr>
            <a:r>
              <a:rPr lang="en-US" sz="900" dirty="0">
                <a:solidFill>
                  <a:srgbClr val="2D3748"/>
                </a:solidFill>
              </a:rPr>
              <a:t>Cuts false-positive signals by 68%</a:t>
            </a:r>
            <a:endParaRPr lang="en-US" sz="900" dirty="0"/>
          </a:p>
        </p:txBody>
      </p:sp>
      <p:sp>
        <p:nvSpPr>
          <p:cNvPr id="62" name="Shape 60"/>
          <p:cNvSpPr/>
          <p:nvPr/>
        </p:nvSpPr>
        <p:spPr>
          <a:xfrm>
            <a:off x="6903720" y="4206240"/>
            <a:ext cx="2103120" cy="502920"/>
          </a:xfrm>
          <a:prstGeom prst="rect">
            <a:avLst/>
          </a:prstGeom>
          <a:solidFill>
            <a:srgbClr val="6B1B5E"/>
          </a:solidFill>
          <a:ln w="12700">
            <a:solidFill>
              <a:srgbClr val="6B1B5E"/>
            </a:solidFill>
            <a:prstDash val="solid"/>
          </a:ln>
        </p:spPr>
      </p:sp>
      <p:sp>
        <p:nvSpPr>
          <p:cNvPr id="63" name="Text 61"/>
          <p:cNvSpPr/>
          <p:nvPr/>
        </p:nvSpPr>
        <p:spPr>
          <a:xfrm>
            <a:off x="6976872" y="4206240"/>
            <a:ext cx="1956816" cy="502920"/>
          </a:xfrm>
          <a:prstGeom prst="rect">
            <a:avLst/>
          </a:prstGeom>
          <a:noFill/>
          <a:ln/>
        </p:spPr>
        <p:txBody>
          <a:bodyPr wrap="square" rtlCol="0" anchor="ctr"/>
          <a:lstStyle/>
          <a:p>
            <a:pPr marL="0" indent="0" algn="l">
              <a:buNone/>
            </a:pPr>
            <a:r>
              <a:rPr lang="en-US" sz="850" i="1" dirty="0">
                <a:solidFill>
                  <a:srgbClr val="FFFFFF"/>
                </a:solidFill>
              </a:rPr>
              <a:t>The layer that separates ByteMe from every existing solution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Technical Deep Dive: LightGBM &amp; Proxy Yield Modeling</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6 / 16</a:t>
            </a:r>
            <a:endParaRPr lang="en-US" sz="750" dirty="0"/>
          </a:p>
        </p:txBody>
      </p:sp>
      <p:sp>
        <p:nvSpPr>
          <p:cNvPr id="8" name="Shape 6"/>
          <p:cNvSpPr/>
          <p:nvPr/>
        </p:nvSpPr>
        <p:spPr>
          <a:xfrm>
            <a:off x="228600" y="1005840"/>
            <a:ext cx="416052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4160520" cy="365760"/>
          </a:xfrm>
          <a:prstGeom prst="rect">
            <a:avLst/>
          </a:prstGeom>
          <a:solidFill>
            <a:srgbClr val="1B5E8C"/>
          </a:solidFill>
          <a:ln w="12700">
            <a:solidFill>
              <a:srgbClr val="1B5E8C"/>
            </a:solidFill>
            <a:prstDash val="solid"/>
          </a:ln>
        </p:spPr>
      </p:sp>
      <p:sp>
        <p:nvSpPr>
          <p:cNvPr id="10" name="Text 8"/>
          <p:cNvSpPr/>
          <p:nvPr/>
        </p:nvSpPr>
        <p:spPr>
          <a:xfrm>
            <a:off x="320040" y="1005840"/>
            <a:ext cx="3977640" cy="365760"/>
          </a:xfrm>
          <a:prstGeom prst="rect">
            <a:avLst/>
          </a:prstGeom>
          <a:noFill/>
          <a:ln/>
        </p:spPr>
        <p:txBody>
          <a:bodyPr wrap="square" lIns="0" tIns="0" rIns="0" bIns="0" rtlCol="0" anchor="ctr"/>
          <a:lstStyle/>
          <a:p>
            <a:pPr marL="0" indent="0">
              <a:buNone/>
            </a:pPr>
            <a:r>
              <a:rPr lang="en-US" sz="1150" b="1" dirty="0">
                <a:solidFill>
                  <a:srgbClr val="FFFFFF"/>
                </a:solidFill>
              </a:rPr>
              <a:t>LightGBM Regressor — Feature Engineering</a:t>
            </a:r>
            <a:endParaRPr lang="en-US" sz="1150" dirty="0"/>
          </a:p>
        </p:txBody>
      </p:sp>
      <p:sp>
        <p:nvSpPr>
          <p:cNvPr id="11" name="Shape 9"/>
          <p:cNvSpPr/>
          <p:nvPr/>
        </p:nvSpPr>
        <p:spPr>
          <a:xfrm>
            <a:off x="274320" y="1463040"/>
            <a:ext cx="73152" cy="594360"/>
          </a:xfrm>
          <a:prstGeom prst="rect">
            <a:avLst/>
          </a:prstGeom>
          <a:solidFill>
            <a:srgbClr val="1B5E8C"/>
          </a:solidFill>
          <a:ln w="12700">
            <a:solidFill>
              <a:srgbClr val="1B5E8C"/>
            </a:solidFill>
            <a:prstDash val="solid"/>
          </a:ln>
        </p:spPr>
      </p:sp>
      <p:sp>
        <p:nvSpPr>
          <p:cNvPr id="12" name="Text 10"/>
          <p:cNvSpPr/>
          <p:nvPr/>
        </p:nvSpPr>
        <p:spPr>
          <a:xfrm>
            <a:off x="420624" y="1463040"/>
            <a:ext cx="3840480" cy="256032"/>
          </a:xfrm>
          <a:prstGeom prst="rect">
            <a:avLst/>
          </a:prstGeom>
          <a:noFill/>
          <a:ln/>
        </p:spPr>
        <p:txBody>
          <a:bodyPr wrap="square" rtlCol="0" anchor="ctr"/>
          <a:lstStyle/>
          <a:p>
            <a:pPr marL="0" indent="0">
              <a:buNone/>
            </a:pPr>
            <a:r>
              <a:rPr lang="en-US" sz="1050" b="1" dirty="0">
                <a:solidFill>
                  <a:srgbClr val="1B2A4A"/>
                </a:solidFill>
              </a:rPr>
              <a:t>Location Proxies</a:t>
            </a:r>
            <a:endParaRPr lang="en-US" sz="1050" dirty="0"/>
          </a:p>
        </p:txBody>
      </p:sp>
      <p:sp>
        <p:nvSpPr>
          <p:cNvPr id="13" name="Text 11"/>
          <p:cNvSpPr/>
          <p:nvPr/>
        </p:nvSpPr>
        <p:spPr>
          <a:xfrm>
            <a:off x="420624" y="1709928"/>
            <a:ext cx="3840480" cy="365760"/>
          </a:xfrm>
          <a:prstGeom prst="rect">
            <a:avLst/>
          </a:prstGeom>
          <a:noFill/>
          <a:ln/>
        </p:spPr>
        <p:txBody>
          <a:bodyPr wrap="square" rtlCol="0" anchor="ctr"/>
          <a:lstStyle/>
          <a:p>
            <a:pPr marL="0" indent="0">
              <a:buNone/>
            </a:pPr>
            <a:r>
              <a:rPr lang="en-US" sz="950" dirty="0">
                <a:solidFill>
                  <a:srgbClr val="2D3748"/>
                </a:solidFill>
              </a:rPr>
              <a:t>Distance to CBD · Flood zone risk score · School quality index · Transit access</a:t>
            </a:r>
            <a:endParaRPr lang="en-US" sz="950" dirty="0"/>
          </a:p>
        </p:txBody>
      </p:sp>
      <p:sp>
        <p:nvSpPr>
          <p:cNvPr id="14" name="Shape 12"/>
          <p:cNvSpPr/>
          <p:nvPr/>
        </p:nvSpPr>
        <p:spPr>
          <a:xfrm>
            <a:off x="274320" y="2240280"/>
            <a:ext cx="73152" cy="594360"/>
          </a:xfrm>
          <a:prstGeom prst="rect">
            <a:avLst/>
          </a:prstGeom>
          <a:solidFill>
            <a:srgbClr val="1B5E8C"/>
          </a:solidFill>
          <a:ln w="12700">
            <a:solidFill>
              <a:srgbClr val="1B5E8C"/>
            </a:solidFill>
            <a:prstDash val="solid"/>
          </a:ln>
        </p:spPr>
      </p:sp>
      <p:sp>
        <p:nvSpPr>
          <p:cNvPr id="15" name="Text 13"/>
          <p:cNvSpPr/>
          <p:nvPr/>
        </p:nvSpPr>
        <p:spPr>
          <a:xfrm>
            <a:off x="420624" y="2240280"/>
            <a:ext cx="3840480" cy="256032"/>
          </a:xfrm>
          <a:prstGeom prst="rect">
            <a:avLst/>
          </a:prstGeom>
          <a:noFill/>
          <a:ln/>
        </p:spPr>
        <p:txBody>
          <a:bodyPr wrap="square" rtlCol="0" anchor="ctr"/>
          <a:lstStyle/>
          <a:p>
            <a:pPr marL="0" indent="0">
              <a:buNone/>
            </a:pPr>
            <a:r>
              <a:rPr lang="en-US" sz="1050" b="1" dirty="0">
                <a:solidFill>
                  <a:srgbClr val="1B2A4A"/>
                </a:solidFill>
              </a:rPr>
              <a:t>Infrastructure Indices</a:t>
            </a:r>
            <a:endParaRPr lang="en-US" sz="1050" dirty="0"/>
          </a:p>
        </p:txBody>
      </p:sp>
      <p:sp>
        <p:nvSpPr>
          <p:cNvPr id="16" name="Text 14"/>
          <p:cNvSpPr/>
          <p:nvPr/>
        </p:nvSpPr>
        <p:spPr>
          <a:xfrm>
            <a:off x="420624" y="2487168"/>
            <a:ext cx="3840480" cy="365760"/>
          </a:xfrm>
          <a:prstGeom prst="rect">
            <a:avLst/>
          </a:prstGeom>
          <a:noFill/>
          <a:ln/>
        </p:spPr>
        <p:txBody>
          <a:bodyPr wrap="square" rtlCol="0" anchor="ctr"/>
          <a:lstStyle/>
          <a:p>
            <a:pPr marL="0" indent="0">
              <a:buNone/>
            </a:pPr>
            <a:r>
              <a:rPr lang="en-US" sz="950" dirty="0">
                <a:solidFill>
                  <a:srgbClr val="2D3748"/>
                </a:solidFill>
              </a:rPr>
              <a:t>Road quality · Utility reliability · Internet penetration · Port proximity</a:t>
            </a:r>
            <a:endParaRPr lang="en-US" sz="950" dirty="0"/>
          </a:p>
        </p:txBody>
      </p:sp>
      <p:sp>
        <p:nvSpPr>
          <p:cNvPr id="17" name="Shape 15"/>
          <p:cNvSpPr/>
          <p:nvPr/>
        </p:nvSpPr>
        <p:spPr>
          <a:xfrm>
            <a:off x="274320" y="3017520"/>
            <a:ext cx="73152" cy="594360"/>
          </a:xfrm>
          <a:prstGeom prst="rect">
            <a:avLst/>
          </a:prstGeom>
          <a:solidFill>
            <a:srgbClr val="1B5E8C"/>
          </a:solidFill>
          <a:ln w="12700">
            <a:solidFill>
              <a:srgbClr val="1B5E8C"/>
            </a:solidFill>
            <a:prstDash val="solid"/>
          </a:ln>
        </p:spPr>
      </p:sp>
      <p:sp>
        <p:nvSpPr>
          <p:cNvPr id="18" name="Text 16"/>
          <p:cNvSpPr/>
          <p:nvPr/>
        </p:nvSpPr>
        <p:spPr>
          <a:xfrm>
            <a:off x="420624" y="3017520"/>
            <a:ext cx="3840480" cy="256032"/>
          </a:xfrm>
          <a:prstGeom prst="rect">
            <a:avLst/>
          </a:prstGeom>
          <a:noFill/>
          <a:ln/>
        </p:spPr>
        <p:txBody>
          <a:bodyPr wrap="square" rtlCol="0" anchor="ctr"/>
          <a:lstStyle/>
          <a:p>
            <a:pPr marL="0" indent="0">
              <a:buNone/>
            </a:pPr>
            <a:r>
              <a:rPr lang="en-US" sz="1050" b="1" dirty="0">
                <a:solidFill>
                  <a:srgbClr val="1B2A4A"/>
                </a:solidFill>
              </a:rPr>
              <a:t>Amenity Scores</a:t>
            </a:r>
            <a:endParaRPr lang="en-US" sz="1050" dirty="0"/>
          </a:p>
        </p:txBody>
      </p:sp>
      <p:sp>
        <p:nvSpPr>
          <p:cNvPr id="19" name="Text 17"/>
          <p:cNvSpPr/>
          <p:nvPr/>
        </p:nvSpPr>
        <p:spPr>
          <a:xfrm>
            <a:off x="420624" y="3264408"/>
            <a:ext cx="3840480" cy="365760"/>
          </a:xfrm>
          <a:prstGeom prst="rect">
            <a:avLst/>
          </a:prstGeom>
          <a:noFill/>
          <a:ln/>
        </p:spPr>
        <p:txBody>
          <a:bodyPr wrap="square" rtlCol="0" anchor="ctr"/>
          <a:lstStyle/>
          <a:p>
            <a:pPr marL="0" indent="0">
              <a:buNone/>
            </a:pPr>
            <a:r>
              <a:rPr lang="en-US" sz="950" dirty="0">
                <a:solidFill>
                  <a:srgbClr val="2D3748"/>
                </a:solidFill>
              </a:rPr>
              <a:t>Hospital distance · Mall access · Tourism density · Employment zone proximity</a:t>
            </a:r>
            <a:endParaRPr lang="en-US" sz="950" dirty="0"/>
          </a:p>
        </p:txBody>
      </p:sp>
      <p:sp>
        <p:nvSpPr>
          <p:cNvPr id="20" name="Shape 18"/>
          <p:cNvSpPr/>
          <p:nvPr/>
        </p:nvSpPr>
        <p:spPr>
          <a:xfrm>
            <a:off x="274320" y="3794760"/>
            <a:ext cx="73152" cy="594360"/>
          </a:xfrm>
          <a:prstGeom prst="rect">
            <a:avLst/>
          </a:prstGeom>
          <a:solidFill>
            <a:srgbClr val="1B5E8C"/>
          </a:solidFill>
          <a:ln w="12700">
            <a:solidFill>
              <a:srgbClr val="1B5E8C"/>
            </a:solidFill>
            <a:prstDash val="solid"/>
          </a:ln>
        </p:spPr>
      </p:sp>
      <p:sp>
        <p:nvSpPr>
          <p:cNvPr id="21" name="Text 19"/>
          <p:cNvSpPr/>
          <p:nvPr/>
        </p:nvSpPr>
        <p:spPr>
          <a:xfrm>
            <a:off x="420624" y="3794760"/>
            <a:ext cx="3840480" cy="256032"/>
          </a:xfrm>
          <a:prstGeom prst="rect">
            <a:avLst/>
          </a:prstGeom>
          <a:noFill/>
          <a:ln/>
        </p:spPr>
        <p:txBody>
          <a:bodyPr wrap="square" rtlCol="0" anchor="ctr"/>
          <a:lstStyle/>
          <a:p>
            <a:pPr marL="0" indent="0">
              <a:buNone/>
            </a:pPr>
            <a:r>
              <a:rPr lang="en-US" sz="1050" b="1" dirty="0">
                <a:solidFill>
                  <a:srgbClr val="1B2A4A"/>
                </a:solidFill>
              </a:rPr>
              <a:t>Price Trend Signals</a:t>
            </a:r>
            <a:endParaRPr lang="en-US" sz="1050" dirty="0"/>
          </a:p>
        </p:txBody>
      </p:sp>
      <p:sp>
        <p:nvSpPr>
          <p:cNvPr id="22" name="Text 20"/>
          <p:cNvSpPr/>
          <p:nvPr/>
        </p:nvSpPr>
        <p:spPr>
          <a:xfrm>
            <a:off x="420624" y="4041648"/>
            <a:ext cx="3840480" cy="365760"/>
          </a:xfrm>
          <a:prstGeom prst="rect">
            <a:avLst/>
          </a:prstGeom>
          <a:noFill/>
          <a:ln/>
        </p:spPr>
        <p:txBody>
          <a:bodyPr wrap="square" rtlCol="0" anchor="ctr"/>
          <a:lstStyle/>
          <a:p>
            <a:pPr marL="0" indent="0">
              <a:buNone/>
            </a:pPr>
            <a:r>
              <a:rPr lang="en-US" sz="950" dirty="0">
                <a:solidFill>
                  <a:srgbClr val="2D3748"/>
                </a:solidFill>
              </a:rPr>
              <a:t>Quarterly price velocity · Momentum factor · Seasonal correction · YoY change</a:t>
            </a:r>
            <a:endParaRPr lang="en-US" sz="950" dirty="0"/>
          </a:p>
        </p:txBody>
      </p:sp>
      <p:sp>
        <p:nvSpPr>
          <p:cNvPr id="23" name="Text 21"/>
          <p:cNvSpPr/>
          <p:nvPr/>
        </p:nvSpPr>
        <p:spPr>
          <a:xfrm>
            <a:off x="320040" y="4572000"/>
            <a:ext cx="3977640" cy="91440"/>
          </a:xfrm>
          <a:prstGeom prst="rect">
            <a:avLst/>
          </a:prstGeom>
          <a:noFill/>
          <a:ln/>
        </p:spPr>
        <p:txBody>
          <a:bodyPr wrap="square" rtlCol="0" anchor="ctr"/>
          <a:lstStyle/>
          <a:p>
            <a:pPr marL="0" indent="0">
              <a:buNone/>
            </a:pPr>
            <a:r>
              <a:rPr lang="en-US" sz="800" i="1" dirty="0">
                <a:solidFill>
                  <a:srgbClr val="64748B"/>
                </a:solidFill>
              </a:rPr>
              <a:t>Why LightGBM over XGBoost? Leaf-wise growth achieves lower loss per iteration · 50× faster training · Native sparse data support · No one-hot encoding overhead</a:t>
            </a:r>
            <a:endParaRPr lang="en-US" sz="800" dirty="0"/>
          </a:p>
        </p:txBody>
      </p:sp>
      <p:sp>
        <p:nvSpPr>
          <p:cNvPr id="24" name="Shape 22"/>
          <p:cNvSpPr/>
          <p:nvPr/>
        </p:nvSpPr>
        <p:spPr>
          <a:xfrm>
            <a:off x="4617720" y="1005840"/>
            <a:ext cx="4297680"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4617720" y="1005840"/>
            <a:ext cx="4297680" cy="365760"/>
          </a:xfrm>
          <a:prstGeom prst="rect">
            <a:avLst/>
          </a:prstGeom>
          <a:solidFill>
            <a:srgbClr val="8B5E1B"/>
          </a:solidFill>
          <a:ln w="12700">
            <a:solidFill>
              <a:srgbClr val="8B5E1B"/>
            </a:solidFill>
            <a:prstDash val="solid"/>
          </a:ln>
        </p:spPr>
      </p:sp>
      <p:sp>
        <p:nvSpPr>
          <p:cNvPr id="26" name="Text 24"/>
          <p:cNvSpPr/>
          <p:nvPr/>
        </p:nvSpPr>
        <p:spPr>
          <a:xfrm>
            <a:off x="4709160" y="1005840"/>
            <a:ext cx="4114800" cy="365760"/>
          </a:xfrm>
          <a:prstGeom prst="rect">
            <a:avLst/>
          </a:prstGeom>
          <a:noFill/>
          <a:ln/>
        </p:spPr>
        <p:txBody>
          <a:bodyPr wrap="square" lIns="0" tIns="0" rIns="0" bIns="0" rtlCol="0" anchor="ctr"/>
          <a:lstStyle/>
          <a:p>
            <a:pPr marL="0" indent="0">
              <a:buNone/>
            </a:pPr>
            <a:r>
              <a:rPr lang="en-US" sz="1150" b="1" dirty="0">
                <a:solidFill>
                  <a:srgbClr val="FFFFFF"/>
                </a:solidFill>
              </a:rPr>
              <a:t>Proxy Yield Modeling — Methodology</a:t>
            </a:r>
            <a:endParaRPr lang="en-US" sz="1150" dirty="0"/>
          </a:p>
        </p:txBody>
      </p:sp>
      <p:sp>
        <p:nvSpPr>
          <p:cNvPr id="27" name="Shape 25"/>
          <p:cNvSpPr/>
          <p:nvPr/>
        </p:nvSpPr>
        <p:spPr>
          <a:xfrm>
            <a:off x="4709160" y="1463040"/>
            <a:ext cx="4114800" cy="658368"/>
          </a:xfrm>
          <a:prstGeom prst="rect">
            <a:avLst/>
          </a:prstGeom>
          <a:solidFill>
            <a:srgbClr val="FFF8E7"/>
          </a:solidFill>
          <a:ln w="12700">
            <a:solidFill>
              <a:srgbClr val="D4A017"/>
            </a:solidFill>
            <a:prstDash val="solid"/>
          </a:ln>
        </p:spPr>
      </p:sp>
      <p:sp>
        <p:nvSpPr>
          <p:cNvPr id="28" name="Text 26"/>
          <p:cNvSpPr/>
          <p:nvPr/>
        </p:nvSpPr>
        <p:spPr>
          <a:xfrm>
            <a:off x="4754880" y="1481328"/>
            <a:ext cx="4023360" cy="621792"/>
          </a:xfrm>
          <a:prstGeom prst="rect">
            <a:avLst/>
          </a:prstGeom>
          <a:noFill/>
          <a:ln/>
        </p:spPr>
        <p:txBody>
          <a:bodyPr wrap="square" rtlCol="0" anchor="ctr"/>
          <a:lstStyle/>
          <a:p>
            <a:pPr marL="0" indent="0" algn="ctr">
              <a:buNone/>
            </a:pPr>
            <a:r>
              <a:rPr lang="en-US" sz="1000" i="1" dirty="0">
                <a:solidFill>
                  <a:srgbClr val="1B2A4A"/>
                </a:solidFill>
              </a:rPr>
              <a:t>Proxy Yield = (Tourism Density × α) + (Infra Index × β)</a:t>
            </a:r>
            <a:endParaRPr lang="en-US" sz="1000" dirty="0"/>
          </a:p>
          <a:p>
            <a:pPr marL="0" indent="0" algn="ctr">
              <a:buNone/>
            </a:pPr>
            <a:r>
              <a:rPr lang="en-US" sz="1000" i="1" dirty="0">
                <a:solidFill>
                  <a:srgbClr val="1B2A4A"/>
                </a:solidFill>
              </a:rPr>
              <a:t>              + (Employment Score × γ) + ε</a:t>
            </a:r>
            <a:endParaRPr lang="en-US" sz="1000" dirty="0"/>
          </a:p>
        </p:txBody>
      </p:sp>
      <p:sp>
        <p:nvSpPr>
          <p:cNvPr id="29" name="Shape 27"/>
          <p:cNvSpPr/>
          <p:nvPr/>
        </p:nvSpPr>
        <p:spPr>
          <a:xfrm>
            <a:off x="4709160" y="2221992"/>
            <a:ext cx="146304" cy="146304"/>
          </a:xfrm>
          <a:prstGeom prst="ellipse">
            <a:avLst/>
          </a:prstGeom>
          <a:solidFill>
            <a:srgbClr val="8B5E1B"/>
          </a:solidFill>
          <a:ln w="12700">
            <a:solidFill>
              <a:srgbClr val="8B5E1B"/>
            </a:solidFill>
            <a:prstDash val="solid"/>
          </a:ln>
        </p:spPr>
      </p:sp>
      <p:sp>
        <p:nvSpPr>
          <p:cNvPr id="30" name="Text 28"/>
          <p:cNvSpPr/>
          <p:nvPr/>
        </p:nvSpPr>
        <p:spPr>
          <a:xfrm>
            <a:off x="4919472" y="2157984"/>
            <a:ext cx="3886200" cy="256032"/>
          </a:xfrm>
          <a:prstGeom prst="rect">
            <a:avLst/>
          </a:prstGeom>
          <a:noFill/>
          <a:ln/>
        </p:spPr>
        <p:txBody>
          <a:bodyPr wrap="square" rtlCol="0" anchor="ctr"/>
          <a:lstStyle/>
          <a:p>
            <a:pPr marL="0" indent="0">
              <a:buNone/>
            </a:pPr>
            <a:r>
              <a:rPr lang="en-US" sz="1000" b="1" dirty="0">
                <a:solidFill>
                  <a:srgbClr val="1B2A4A"/>
                </a:solidFill>
              </a:rPr>
              <a:t>Rental Income Estimation</a:t>
            </a:r>
            <a:endParaRPr lang="en-US" sz="1000" dirty="0"/>
          </a:p>
        </p:txBody>
      </p:sp>
      <p:sp>
        <p:nvSpPr>
          <p:cNvPr id="31" name="Text 29"/>
          <p:cNvSpPr/>
          <p:nvPr/>
        </p:nvSpPr>
        <p:spPr>
          <a:xfrm>
            <a:off x="4919472" y="2404872"/>
            <a:ext cx="3886200" cy="274320"/>
          </a:xfrm>
          <a:prstGeom prst="rect">
            <a:avLst/>
          </a:prstGeom>
          <a:noFill/>
          <a:ln/>
        </p:spPr>
        <p:txBody>
          <a:bodyPr wrap="square" rtlCol="0" anchor="ctr"/>
          <a:lstStyle/>
          <a:p>
            <a:pPr marL="0" indent="0">
              <a:buNone/>
            </a:pPr>
            <a:r>
              <a:rPr lang="en-US" sz="900" dirty="0">
                <a:solidFill>
                  <a:srgbClr val="2D3748"/>
                </a:solidFill>
              </a:rPr>
              <a:t>Tourism density, AirBnB occupancy proxies, and seasonal signals combined to estimate likely rental income per sqm.</a:t>
            </a:r>
            <a:endParaRPr lang="en-US" sz="900" dirty="0"/>
          </a:p>
        </p:txBody>
      </p:sp>
      <p:sp>
        <p:nvSpPr>
          <p:cNvPr id="32" name="Shape 30"/>
          <p:cNvSpPr/>
          <p:nvPr/>
        </p:nvSpPr>
        <p:spPr>
          <a:xfrm>
            <a:off x="4709160" y="2816352"/>
            <a:ext cx="146304" cy="146304"/>
          </a:xfrm>
          <a:prstGeom prst="ellipse">
            <a:avLst/>
          </a:prstGeom>
          <a:solidFill>
            <a:srgbClr val="8B5E1B"/>
          </a:solidFill>
          <a:ln w="12700">
            <a:solidFill>
              <a:srgbClr val="8B5E1B"/>
            </a:solidFill>
            <a:prstDash val="solid"/>
          </a:ln>
        </p:spPr>
      </p:sp>
      <p:sp>
        <p:nvSpPr>
          <p:cNvPr id="33" name="Text 31"/>
          <p:cNvSpPr/>
          <p:nvPr/>
        </p:nvSpPr>
        <p:spPr>
          <a:xfrm>
            <a:off x="4919472" y="2752344"/>
            <a:ext cx="3886200" cy="256032"/>
          </a:xfrm>
          <a:prstGeom prst="rect">
            <a:avLst/>
          </a:prstGeom>
          <a:noFill/>
          <a:ln/>
        </p:spPr>
        <p:txBody>
          <a:bodyPr wrap="square" rtlCol="0" anchor="ctr"/>
          <a:lstStyle/>
          <a:p>
            <a:pPr marL="0" indent="0">
              <a:buNone/>
            </a:pPr>
            <a:r>
              <a:rPr lang="en-US" sz="1000" b="1" dirty="0">
                <a:solidFill>
                  <a:srgbClr val="1B2A4A"/>
                </a:solidFill>
              </a:rPr>
              <a:t>Capitalization Rate Proxies</a:t>
            </a:r>
            <a:endParaRPr lang="en-US" sz="1000" dirty="0"/>
          </a:p>
        </p:txBody>
      </p:sp>
      <p:sp>
        <p:nvSpPr>
          <p:cNvPr id="34" name="Text 32"/>
          <p:cNvSpPr/>
          <p:nvPr/>
        </p:nvSpPr>
        <p:spPr>
          <a:xfrm>
            <a:off x="4919472" y="2999232"/>
            <a:ext cx="3886200" cy="274320"/>
          </a:xfrm>
          <a:prstGeom prst="rect">
            <a:avLst/>
          </a:prstGeom>
          <a:noFill/>
          <a:ln/>
        </p:spPr>
        <p:txBody>
          <a:bodyPr wrap="square" rtlCol="0" anchor="ctr"/>
          <a:lstStyle/>
          <a:p>
            <a:pPr marL="0" indent="0">
              <a:buNone/>
            </a:pPr>
            <a:r>
              <a:rPr lang="en-US" sz="900" dirty="0">
                <a:solidFill>
                  <a:srgbClr val="2D3748"/>
                </a:solidFill>
              </a:rPr>
              <a:t>Regional GDP growth + employment density + SG/MY cap rate anchors → local cap rate estimates per market.</a:t>
            </a:r>
            <a:endParaRPr lang="en-US" sz="900" dirty="0"/>
          </a:p>
        </p:txBody>
      </p:sp>
      <p:sp>
        <p:nvSpPr>
          <p:cNvPr id="35" name="Shape 33"/>
          <p:cNvSpPr/>
          <p:nvPr/>
        </p:nvSpPr>
        <p:spPr>
          <a:xfrm>
            <a:off x="4709160" y="3410712"/>
            <a:ext cx="146304" cy="146304"/>
          </a:xfrm>
          <a:prstGeom prst="ellipse">
            <a:avLst/>
          </a:prstGeom>
          <a:solidFill>
            <a:srgbClr val="8B5E1B"/>
          </a:solidFill>
          <a:ln w="12700">
            <a:solidFill>
              <a:srgbClr val="8B5E1B"/>
            </a:solidFill>
            <a:prstDash val="solid"/>
          </a:ln>
        </p:spPr>
      </p:sp>
      <p:sp>
        <p:nvSpPr>
          <p:cNvPr id="36" name="Text 34"/>
          <p:cNvSpPr/>
          <p:nvPr/>
        </p:nvSpPr>
        <p:spPr>
          <a:xfrm>
            <a:off x="4919472" y="3346704"/>
            <a:ext cx="3886200" cy="256032"/>
          </a:xfrm>
          <a:prstGeom prst="rect">
            <a:avLst/>
          </a:prstGeom>
          <a:noFill/>
          <a:ln/>
        </p:spPr>
        <p:txBody>
          <a:bodyPr wrap="square" rtlCol="0" anchor="ctr"/>
          <a:lstStyle/>
          <a:p>
            <a:pPr marL="0" indent="0">
              <a:buNone/>
            </a:pPr>
            <a:r>
              <a:rPr lang="en-US" sz="1000" b="1" dirty="0">
                <a:solidFill>
                  <a:srgbClr val="1B2A4A"/>
                </a:solidFill>
              </a:rPr>
              <a:t>3-Year Return Modeling</a:t>
            </a:r>
            <a:endParaRPr lang="en-US" sz="1000" dirty="0"/>
          </a:p>
        </p:txBody>
      </p:sp>
      <p:sp>
        <p:nvSpPr>
          <p:cNvPr id="37" name="Text 35"/>
          <p:cNvSpPr/>
          <p:nvPr/>
        </p:nvSpPr>
        <p:spPr>
          <a:xfrm>
            <a:off x="4919472" y="3593592"/>
            <a:ext cx="3886200" cy="274320"/>
          </a:xfrm>
          <a:prstGeom prst="rect">
            <a:avLst/>
          </a:prstGeom>
          <a:noFill/>
          <a:ln/>
        </p:spPr>
        <p:txBody>
          <a:bodyPr wrap="square" rtlCol="0" anchor="ctr"/>
          <a:lstStyle/>
          <a:p>
            <a:pPr marL="0" indent="0">
              <a:buNone/>
            </a:pPr>
            <a:r>
              <a:rPr lang="en-US" sz="900" dirty="0">
                <a:solidFill>
                  <a:srgbClr val="2D3748"/>
                </a:solidFill>
              </a:rPr>
              <a:t>Proxy yield + LightGBM price appreciation prediction = expected total return for investor decision support.</a:t>
            </a:r>
            <a:endParaRPr lang="en-US" sz="900" dirty="0"/>
          </a:p>
        </p:txBody>
      </p:sp>
      <p:sp>
        <p:nvSpPr>
          <p:cNvPr id="38" name="Shape 36"/>
          <p:cNvSpPr/>
          <p:nvPr/>
        </p:nvSpPr>
        <p:spPr>
          <a:xfrm>
            <a:off x="4709160" y="4005072"/>
            <a:ext cx="146304" cy="146304"/>
          </a:xfrm>
          <a:prstGeom prst="ellipse">
            <a:avLst/>
          </a:prstGeom>
          <a:solidFill>
            <a:srgbClr val="8B5E1B"/>
          </a:solidFill>
          <a:ln w="12700">
            <a:solidFill>
              <a:srgbClr val="8B5E1B"/>
            </a:solidFill>
            <a:prstDash val="solid"/>
          </a:ln>
        </p:spPr>
      </p:sp>
      <p:sp>
        <p:nvSpPr>
          <p:cNvPr id="39" name="Text 37"/>
          <p:cNvSpPr/>
          <p:nvPr/>
        </p:nvSpPr>
        <p:spPr>
          <a:xfrm>
            <a:off x="4919472" y="3941064"/>
            <a:ext cx="3886200" cy="256032"/>
          </a:xfrm>
          <a:prstGeom prst="rect">
            <a:avLst/>
          </a:prstGeom>
          <a:noFill/>
          <a:ln/>
        </p:spPr>
        <p:txBody>
          <a:bodyPr wrap="square" rtlCol="0" anchor="ctr"/>
          <a:lstStyle/>
          <a:p>
            <a:pPr marL="0" indent="0">
              <a:buNone/>
            </a:pPr>
            <a:r>
              <a:rPr lang="en-US" sz="1000" b="1" dirty="0">
                <a:solidFill>
                  <a:srgbClr val="1B2A4A"/>
                </a:solidFill>
              </a:rPr>
              <a:t>Divergence Score</a:t>
            </a:r>
            <a:endParaRPr lang="en-US" sz="1000" dirty="0"/>
          </a:p>
        </p:txBody>
      </p:sp>
      <p:sp>
        <p:nvSpPr>
          <p:cNvPr id="40" name="Text 38"/>
          <p:cNvSpPr/>
          <p:nvPr/>
        </p:nvSpPr>
        <p:spPr>
          <a:xfrm>
            <a:off x="4919472" y="4187952"/>
            <a:ext cx="3886200" cy="274320"/>
          </a:xfrm>
          <a:prstGeom prst="rect">
            <a:avLst/>
          </a:prstGeom>
          <a:noFill/>
          <a:ln/>
        </p:spPr>
        <p:txBody>
          <a:bodyPr wrap="square" rtlCol="0" anchor="ctr"/>
          <a:lstStyle/>
          <a:p>
            <a:pPr marL="0" indent="0">
              <a:buNone/>
            </a:pPr>
            <a:r>
              <a:rPr lang="en-US" sz="900" dirty="0">
                <a:solidFill>
                  <a:srgbClr val="2D3748"/>
                </a:solidFill>
              </a:rPr>
              <a:t>Compares proxy-estimated fair value vs. current listing price — flags properties 15%+ over or undervalued.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Technical Deep Dive: Transfer Learning &amp; Sentiment-Aware Index</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7 / 16</a:t>
            </a:r>
            <a:endParaRPr lang="en-US" sz="750" dirty="0"/>
          </a:p>
        </p:txBody>
      </p:sp>
      <p:sp>
        <p:nvSpPr>
          <p:cNvPr id="8" name="Shape 6"/>
          <p:cNvSpPr/>
          <p:nvPr/>
        </p:nvSpPr>
        <p:spPr>
          <a:xfrm>
            <a:off x="228600" y="1005840"/>
            <a:ext cx="8686800" cy="365760"/>
          </a:xfrm>
          <a:prstGeom prst="rect">
            <a:avLst/>
          </a:prstGeom>
          <a:solidFill>
            <a:srgbClr val="2A3F6F"/>
          </a:solidFill>
          <a:ln w="12700">
            <a:solidFill>
              <a:srgbClr val="2A3F6F"/>
            </a:solidFill>
            <a:prstDash val="solid"/>
          </a:ln>
        </p:spPr>
      </p:sp>
      <p:sp>
        <p:nvSpPr>
          <p:cNvPr id="9" name="Text 7"/>
          <p:cNvSpPr/>
          <p:nvPr/>
        </p:nvSpPr>
        <p:spPr>
          <a:xfrm>
            <a:off x="228600" y="1005840"/>
            <a:ext cx="8686800" cy="365760"/>
          </a:xfrm>
          <a:prstGeom prst="rect">
            <a:avLst/>
          </a:prstGeom>
          <a:noFill/>
          <a:ln/>
        </p:spPr>
        <p:txBody>
          <a:bodyPr wrap="square" lIns="0" tIns="0" rIns="0" bIns="0" rtlCol="0" anchor="ctr"/>
          <a:lstStyle/>
          <a:p>
            <a:pPr marL="0" indent="0" algn="ctr">
              <a:buNone/>
            </a:pPr>
            <a:r>
              <a:rPr lang="en-US" sz="1050" b="1" kern="0" spc="300" dirty="0">
                <a:solidFill>
                  <a:srgbClr val="D4A017"/>
                </a:solidFill>
              </a:rPr>
              <a:t>TRANSFER LEARNING PIPELINE</a:t>
            </a:r>
            <a:endParaRPr lang="en-US" sz="1050" dirty="0"/>
          </a:p>
        </p:txBody>
      </p:sp>
      <p:sp>
        <p:nvSpPr>
          <p:cNvPr id="10" name="Shape 8"/>
          <p:cNvSpPr/>
          <p:nvPr/>
        </p:nvSpPr>
        <p:spPr>
          <a:xfrm>
            <a:off x="256032" y="1444752"/>
            <a:ext cx="1600200" cy="1783080"/>
          </a:xfrm>
          <a:prstGeom prst="rect">
            <a:avLst/>
          </a:prstGeom>
          <a:solidFill>
            <a:srgbClr val="1B5E8C"/>
          </a:solidFill>
          <a:ln w="12700">
            <a:solidFill>
              <a:srgbClr val="1B5E8C"/>
            </a:solidFill>
            <a:prstDash val="solid"/>
          </a:ln>
        </p:spPr>
      </p:sp>
      <p:sp>
        <p:nvSpPr>
          <p:cNvPr id="11" name="Text 9"/>
          <p:cNvSpPr/>
          <p:nvPr/>
        </p:nvSpPr>
        <p:spPr>
          <a:xfrm>
            <a:off x="301752" y="1481328"/>
            <a:ext cx="1508760" cy="402336"/>
          </a:xfrm>
          <a:prstGeom prst="rect">
            <a:avLst/>
          </a:prstGeom>
          <a:noFill/>
          <a:ln/>
        </p:spPr>
        <p:txBody>
          <a:bodyPr wrap="square" rtlCol="0" anchor="ctr"/>
          <a:lstStyle/>
          <a:p>
            <a:pPr marL="0" indent="0" algn="ctr">
              <a:buNone/>
            </a:pPr>
            <a:r>
              <a:rPr lang="en-US" sz="1000" b="1" dirty="0">
                <a:solidFill>
                  <a:srgbClr val="FFFFFF"/>
                </a:solidFill>
              </a:rPr>
              <a:t>Source</a:t>
            </a:r>
            <a:endParaRPr lang="en-US" sz="1000" dirty="0"/>
          </a:p>
          <a:p>
            <a:pPr marL="0" indent="0" algn="ctr">
              <a:buNone/>
            </a:pPr>
            <a:r>
              <a:rPr lang="en-US" sz="1000" b="1" dirty="0">
                <a:solidFill>
                  <a:srgbClr val="FFFFFF"/>
                </a:solidFill>
              </a:rPr>
              <a:t>Domain</a:t>
            </a:r>
            <a:endParaRPr lang="en-US" sz="1000" dirty="0"/>
          </a:p>
        </p:txBody>
      </p:sp>
      <p:sp>
        <p:nvSpPr>
          <p:cNvPr id="12" name="Text 10"/>
          <p:cNvSpPr/>
          <p:nvPr/>
        </p:nvSpPr>
        <p:spPr>
          <a:xfrm>
            <a:off x="301752" y="1883664"/>
            <a:ext cx="1508760" cy="256032"/>
          </a:xfrm>
          <a:prstGeom prst="rect">
            <a:avLst/>
          </a:prstGeom>
          <a:noFill/>
          <a:ln/>
        </p:spPr>
        <p:txBody>
          <a:bodyPr wrap="square" rtlCol="0" anchor="ctr"/>
          <a:lstStyle/>
          <a:p>
            <a:pPr marL="0" indent="0" algn="ctr">
              <a:buNone/>
            </a:pPr>
            <a:r>
              <a:rPr lang="en-US" sz="750" i="1" dirty="0">
                <a:solidFill>
                  <a:srgbClr val="F0C84A"/>
                </a:solidFill>
              </a:rPr>
              <a:t>Singapore &amp; Malaysia</a:t>
            </a:r>
            <a:endParaRPr lang="en-US" sz="750" dirty="0"/>
          </a:p>
        </p:txBody>
      </p:sp>
      <p:sp>
        <p:nvSpPr>
          <p:cNvPr id="13" name="Text 11"/>
          <p:cNvSpPr/>
          <p:nvPr/>
        </p:nvSpPr>
        <p:spPr>
          <a:xfrm>
            <a:off x="301752" y="2157984"/>
            <a:ext cx="1508760" cy="1005840"/>
          </a:xfrm>
          <a:prstGeom prst="rect">
            <a:avLst/>
          </a:prstGeom>
          <a:noFill/>
          <a:ln/>
        </p:spPr>
        <p:txBody>
          <a:bodyPr wrap="square" rtlCol="0" anchor="ctr"/>
          <a:lstStyle/>
          <a:p>
            <a:pPr marL="0" indent="0" algn="ctr">
              <a:buNone/>
            </a:pPr>
            <a:r>
              <a:rPr lang="en-US" sz="850" dirty="0">
                <a:solidFill>
                  <a:srgbClr val="FFFFFF"/>
                </a:solidFill>
              </a:rPr>
              <a:t>2019–2024</a:t>
            </a:r>
            <a:endParaRPr lang="en-US" sz="850" dirty="0"/>
          </a:p>
          <a:p>
            <a:pPr marL="0" indent="0" algn="ctr">
              <a:buNone/>
            </a:pPr>
            <a:r>
              <a:rPr lang="en-US" sz="850" dirty="0">
                <a:solidFill>
                  <a:srgbClr val="FFFFFF"/>
                </a:solidFill>
              </a:rPr>
              <a:t>40,000+ transactions</a:t>
            </a:r>
            <a:endParaRPr lang="en-US" sz="850" dirty="0"/>
          </a:p>
          <a:p>
            <a:pPr marL="0" indent="0" algn="ctr">
              <a:buNone/>
            </a:pPr>
            <a:r>
              <a:rPr lang="en-US" sz="850" dirty="0">
                <a:solidFill>
                  <a:srgbClr val="FFFFFF"/>
                </a:solidFill>
              </a:rPr>
              <a:t>Clean digital records</a:t>
            </a:r>
            <a:endParaRPr lang="en-US" sz="850" dirty="0"/>
          </a:p>
          <a:p>
            <a:pPr marL="0" indent="0" algn="ctr">
              <a:buNone/>
            </a:pPr>
            <a:r>
              <a:rPr lang="en-US" sz="850" dirty="0">
                <a:solidFill>
                  <a:srgbClr val="FFFFFF"/>
                </a:solidFill>
              </a:rPr>
              <a:t>Full rental data available</a:t>
            </a:r>
            <a:endParaRPr lang="en-US" sz="850" dirty="0"/>
          </a:p>
        </p:txBody>
      </p:sp>
      <p:sp>
        <p:nvSpPr>
          <p:cNvPr id="14" name="Shape 12"/>
          <p:cNvSpPr/>
          <p:nvPr/>
        </p:nvSpPr>
        <p:spPr>
          <a:xfrm>
            <a:off x="1856232" y="2286000"/>
            <a:ext cx="137160" cy="91440"/>
          </a:xfrm>
          <a:prstGeom prst="rect">
            <a:avLst/>
          </a:prstGeom>
          <a:solidFill>
            <a:srgbClr val="D4A017"/>
          </a:solidFill>
          <a:ln w="12700">
            <a:solidFill>
              <a:srgbClr val="D4A017"/>
            </a:solidFill>
            <a:prstDash val="solid"/>
          </a:ln>
        </p:spPr>
      </p:sp>
      <p:sp>
        <p:nvSpPr>
          <p:cNvPr id="15" name="Shape 13"/>
          <p:cNvSpPr/>
          <p:nvPr/>
        </p:nvSpPr>
        <p:spPr>
          <a:xfrm>
            <a:off x="1993392" y="1444752"/>
            <a:ext cx="1600200" cy="1783080"/>
          </a:xfrm>
          <a:prstGeom prst="rect">
            <a:avLst/>
          </a:prstGeom>
          <a:solidFill>
            <a:srgbClr val="1B6B8C"/>
          </a:solidFill>
          <a:ln w="12700">
            <a:solidFill>
              <a:srgbClr val="1B6B8C"/>
            </a:solidFill>
            <a:prstDash val="solid"/>
          </a:ln>
        </p:spPr>
      </p:sp>
      <p:sp>
        <p:nvSpPr>
          <p:cNvPr id="16" name="Text 14"/>
          <p:cNvSpPr/>
          <p:nvPr/>
        </p:nvSpPr>
        <p:spPr>
          <a:xfrm>
            <a:off x="2039112" y="1481328"/>
            <a:ext cx="1508760" cy="402336"/>
          </a:xfrm>
          <a:prstGeom prst="rect">
            <a:avLst/>
          </a:prstGeom>
          <a:noFill/>
          <a:ln/>
        </p:spPr>
        <p:txBody>
          <a:bodyPr wrap="square" rtlCol="0" anchor="ctr"/>
          <a:lstStyle/>
          <a:p>
            <a:pPr marL="0" indent="0" algn="ctr">
              <a:buNone/>
            </a:pPr>
            <a:r>
              <a:rPr lang="en-US" sz="1000" b="1" dirty="0">
                <a:solidFill>
                  <a:srgbClr val="FFFFFF"/>
                </a:solidFill>
              </a:rPr>
              <a:t>Base Model</a:t>
            </a:r>
            <a:endParaRPr lang="en-US" sz="1000" dirty="0"/>
          </a:p>
          <a:p>
            <a:pPr marL="0" indent="0" algn="ctr">
              <a:buNone/>
            </a:pPr>
            <a:r>
              <a:rPr lang="en-US" sz="1000" b="1" dirty="0">
                <a:solidFill>
                  <a:srgbClr val="FFFFFF"/>
                </a:solidFill>
              </a:rPr>
              <a:t>Training</a:t>
            </a:r>
            <a:endParaRPr lang="en-US" sz="1000" dirty="0"/>
          </a:p>
        </p:txBody>
      </p:sp>
      <p:sp>
        <p:nvSpPr>
          <p:cNvPr id="17" name="Text 15"/>
          <p:cNvSpPr/>
          <p:nvPr/>
        </p:nvSpPr>
        <p:spPr>
          <a:xfrm>
            <a:off x="2039112" y="1883664"/>
            <a:ext cx="1508760" cy="256032"/>
          </a:xfrm>
          <a:prstGeom prst="rect">
            <a:avLst/>
          </a:prstGeom>
          <a:noFill/>
          <a:ln/>
        </p:spPr>
        <p:txBody>
          <a:bodyPr wrap="square" rtlCol="0" anchor="ctr"/>
          <a:lstStyle/>
          <a:p>
            <a:pPr marL="0" indent="0" algn="ctr">
              <a:buNone/>
            </a:pPr>
            <a:r>
              <a:rPr lang="en-US" sz="750" i="1" dirty="0">
                <a:solidFill>
                  <a:srgbClr val="F0C84A"/>
                </a:solidFill>
              </a:rPr>
              <a:t>LightGBM on mature data</a:t>
            </a:r>
            <a:endParaRPr lang="en-US" sz="750" dirty="0"/>
          </a:p>
        </p:txBody>
      </p:sp>
      <p:sp>
        <p:nvSpPr>
          <p:cNvPr id="18" name="Text 16"/>
          <p:cNvSpPr/>
          <p:nvPr/>
        </p:nvSpPr>
        <p:spPr>
          <a:xfrm>
            <a:off x="2039112" y="2157984"/>
            <a:ext cx="1508760" cy="1005840"/>
          </a:xfrm>
          <a:prstGeom prst="rect">
            <a:avLst/>
          </a:prstGeom>
          <a:noFill/>
          <a:ln/>
        </p:spPr>
        <p:txBody>
          <a:bodyPr wrap="square" rtlCol="0" anchor="ctr"/>
          <a:lstStyle/>
          <a:p>
            <a:pPr marL="0" indent="0" algn="ctr">
              <a:buNone/>
            </a:pPr>
            <a:r>
              <a:rPr lang="en-US" sz="850" dirty="0">
                <a:solidFill>
                  <a:srgbClr val="FFFFFF"/>
                </a:solidFill>
              </a:rPr>
              <a:t>Learns pricing patterns:</a:t>
            </a:r>
            <a:endParaRPr lang="en-US" sz="850" dirty="0"/>
          </a:p>
          <a:p>
            <a:pPr marL="0" indent="0" algn="ctr">
              <a:buNone/>
            </a:pPr>
            <a:r>
              <a:rPr lang="en-US" sz="850" dirty="0">
                <a:solidFill>
                  <a:srgbClr val="FFFFFF"/>
                </a:solidFill>
              </a:rPr>
              <a:t>location, size, age,</a:t>
            </a:r>
            <a:endParaRPr lang="en-US" sz="850" dirty="0"/>
          </a:p>
          <a:p>
            <a:pPr marL="0" indent="0" algn="ctr">
              <a:buNone/>
            </a:pPr>
            <a:r>
              <a:rPr lang="en-US" sz="850" dirty="0">
                <a:solidFill>
                  <a:srgbClr val="FFFFFF"/>
                </a:solidFill>
              </a:rPr>
              <a:t>amenities, economic cycles</a:t>
            </a:r>
            <a:endParaRPr lang="en-US" sz="850" dirty="0"/>
          </a:p>
        </p:txBody>
      </p:sp>
      <p:sp>
        <p:nvSpPr>
          <p:cNvPr id="19" name="Shape 17"/>
          <p:cNvSpPr/>
          <p:nvPr/>
        </p:nvSpPr>
        <p:spPr>
          <a:xfrm>
            <a:off x="3593592" y="2286000"/>
            <a:ext cx="137160" cy="91440"/>
          </a:xfrm>
          <a:prstGeom prst="rect">
            <a:avLst/>
          </a:prstGeom>
          <a:solidFill>
            <a:srgbClr val="D4A017"/>
          </a:solidFill>
          <a:ln w="12700">
            <a:solidFill>
              <a:srgbClr val="D4A017"/>
            </a:solidFill>
            <a:prstDash val="solid"/>
          </a:ln>
        </p:spPr>
      </p:sp>
      <p:sp>
        <p:nvSpPr>
          <p:cNvPr id="20" name="Shape 18"/>
          <p:cNvSpPr/>
          <p:nvPr/>
        </p:nvSpPr>
        <p:spPr>
          <a:xfrm>
            <a:off x="3730752" y="1444752"/>
            <a:ext cx="1600200" cy="1783080"/>
          </a:xfrm>
          <a:prstGeom prst="rect">
            <a:avLst/>
          </a:prstGeom>
          <a:solidFill>
            <a:srgbClr val="1B7C5E"/>
          </a:solidFill>
          <a:ln w="12700">
            <a:solidFill>
              <a:srgbClr val="1B7C5E"/>
            </a:solidFill>
            <a:prstDash val="solid"/>
          </a:ln>
        </p:spPr>
      </p:sp>
      <p:sp>
        <p:nvSpPr>
          <p:cNvPr id="21" name="Text 19"/>
          <p:cNvSpPr/>
          <p:nvPr/>
        </p:nvSpPr>
        <p:spPr>
          <a:xfrm>
            <a:off x="3776472" y="1481328"/>
            <a:ext cx="1508760" cy="402336"/>
          </a:xfrm>
          <a:prstGeom prst="rect">
            <a:avLst/>
          </a:prstGeom>
          <a:noFill/>
          <a:ln/>
        </p:spPr>
        <p:txBody>
          <a:bodyPr wrap="square" rtlCol="0" anchor="ctr"/>
          <a:lstStyle/>
          <a:p>
            <a:pPr marL="0" indent="0" algn="ctr">
              <a:buNone/>
            </a:pPr>
            <a:r>
              <a:rPr lang="en-US" sz="1000" b="1" dirty="0">
                <a:solidFill>
                  <a:srgbClr val="FFFFFF"/>
                </a:solidFill>
              </a:rPr>
              <a:t>Domain</a:t>
            </a:r>
            <a:endParaRPr lang="en-US" sz="1000" dirty="0"/>
          </a:p>
          <a:p>
            <a:pPr marL="0" indent="0" algn="ctr">
              <a:buNone/>
            </a:pPr>
            <a:r>
              <a:rPr lang="en-US" sz="1000" b="1" dirty="0">
                <a:solidFill>
                  <a:srgbClr val="FFFFFF"/>
                </a:solidFill>
              </a:rPr>
              <a:t>Adaptation</a:t>
            </a:r>
            <a:endParaRPr lang="en-US" sz="1000" dirty="0"/>
          </a:p>
        </p:txBody>
      </p:sp>
      <p:sp>
        <p:nvSpPr>
          <p:cNvPr id="22" name="Text 20"/>
          <p:cNvSpPr/>
          <p:nvPr/>
        </p:nvSpPr>
        <p:spPr>
          <a:xfrm>
            <a:off x="3776472" y="1883664"/>
            <a:ext cx="1508760" cy="256032"/>
          </a:xfrm>
          <a:prstGeom prst="rect">
            <a:avLst/>
          </a:prstGeom>
          <a:noFill/>
          <a:ln/>
        </p:spPr>
        <p:txBody>
          <a:bodyPr wrap="square" rtlCol="0" anchor="ctr"/>
          <a:lstStyle/>
          <a:p>
            <a:pPr marL="0" indent="0" algn="ctr">
              <a:buNone/>
            </a:pPr>
            <a:r>
              <a:rPr lang="en-US" sz="750" i="1" dirty="0">
                <a:solidFill>
                  <a:srgbClr val="F0C84A"/>
                </a:solidFill>
              </a:rPr>
              <a:t>Feature alignment layer</a:t>
            </a:r>
            <a:endParaRPr lang="en-US" sz="750" dirty="0"/>
          </a:p>
        </p:txBody>
      </p:sp>
      <p:sp>
        <p:nvSpPr>
          <p:cNvPr id="23" name="Text 21"/>
          <p:cNvSpPr/>
          <p:nvPr/>
        </p:nvSpPr>
        <p:spPr>
          <a:xfrm>
            <a:off x="3776472" y="2157984"/>
            <a:ext cx="1508760" cy="1005840"/>
          </a:xfrm>
          <a:prstGeom prst="rect">
            <a:avLst/>
          </a:prstGeom>
          <a:noFill/>
          <a:ln/>
        </p:spPr>
        <p:txBody>
          <a:bodyPr wrap="square" rtlCol="0" anchor="ctr"/>
          <a:lstStyle/>
          <a:p>
            <a:pPr marL="0" indent="0" algn="ctr">
              <a:buNone/>
            </a:pPr>
            <a:r>
              <a:rPr lang="en-US" sz="850" dirty="0">
                <a:solidFill>
                  <a:srgbClr val="FFFFFF"/>
                </a:solidFill>
              </a:rPr>
              <a:t>Maps SG/MY features</a:t>
            </a:r>
            <a:endParaRPr lang="en-US" sz="850" dirty="0"/>
          </a:p>
          <a:p>
            <a:pPr marL="0" indent="0" algn="ctr">
              <a:buNone/>
            </a:pPr>
            <a:r>
              <a:rPr lang="en-US" sz="850" dirty="0">
                <a:solidFill>
                  <a:srgbClr val="FFFFFF"/>
                </a:solidFill>
              </a:rPr>
              <a:t>to PH equivalents.</a:t>
            </a:r>
            <a:endParaRPr lang="en-US" sz="850" dirty="0"/>
          </a:p>
          <a:p>
            <a:pPr marL="0" indent="0" algn="ctr">
              <a:buNone/>
            </a:pPr>
            <a:r>
              <a:rPr lang="en-US" sz="850" dirty="0">
                <a:solidFill>
                  <a:srgbClr val="FFFFFF"/>
                </a:solidFill>
              </a:rPr>
              <a:t>Adjusts for currency,</a:t>
            </a:r>
            <a:endParaRPr lang="en-US" sz="850" dirty="0"/>
          </a:p>
          <a:p>
            <a:pPr marL="0" indent="0" algn="ctr">
              <a:buNone/>
            </a:pPr>
            <a:r>
              <a:rPr lang="en-US" sz="850" dirty="0">
                <a:solidFill>
                  <a:srgbClr val="FFFFFF"/>
                </a:solidFill>
              </a:rPr>
              <a:t>land tenure differences</a:t>
            </a:r>
            <a:endParaRPr lang="en-US" sz="850" dirty="0"/>
          </a:p>
        </p:txBody>
      </p:sp>
      <p:sp>
        <p:nvSpPr>
          <p:cNvPr id="24" name="Shape 22"/>
          <p:cNvSpPr/>
          <p:nvPr/>
        </p:nvSpPr>
        <p:spPr>
          <a:xfrm>
            <a:off x="5330952" y="2286000"/>
            <a:ext cx="137160" cy="91440"/>
          </a:xfrm>
          <a:prstGeom prst="rect">
            <a:avLst/>
          </a:prstGeom>
          <a:solidFill>
            <a:srgbClr val="D4A017"/>
          </a:solidFill>
          <a:ln w="12700">
            <a:solidFill>
              <a:srgbClr val="D4A017"/>
            </a:solidFill>
            <a:prstDash val="solid"/>
          </a:ln>
        </p:spPr>
      </p:sp>
      <p:sp>
        <p:nvSpPr>
          <p:cNvPr id="25" name="Shape 23"/>
          <p:cNvSpPr/>
          <p:nvPr/>
        </p:nvSpPr>
        <p:spPr>
          <a:xfrm>
            <a:off x="5468112" y="1444752"/>
            <a:ext cx="1600200" cy="1783080"/>
          </a:xfrm>
          <a:prstGeom prst="rect">
            <a:avLst/>
          </a:prstGeom>
          <a:solidFill>
            <a:srgbClr val="1B6B3A"/>
          </a:solidFill>
          <a:ln w="12700">
            <a:solidFill>
              <a:srgbClr val="1B6B3A"/>
            </a:solidFill>
            <a:prstDash val="solid"/>
          </a:ln>
        </p:spPr>
      </p:sp>
      <p:sp>
        <p:nvSpPr>
          <p:cNvPr id="26" name="Text 24"/>
          <p:cNvSpPr/>
          <p:nvPr/>
        </p:nvSpPr>
        <p:spPr>
          <a:xfrm>
            <a:off x="5513832" y="1481328"/>
            <a:ext cx="1508760" cy="402336"/>
          </a:xfrm>
          <a:prstGeom prst="rect">
            <a:avLst/>
          </a:prstGeom>
          <a:noFill/>
          <a:ln/>
        </p:spPr>
        <p:txBody>
          <a:bodyPr wrap="square" rtlCol="0" anchor="ctr"/>
          <a:lstStyle/>
          <a:p>
            <a:pPr marL="0" indent="0" algn="ctr">
              <a:buNone/>
            </a:pPr>
            <a:r>
              <a:rPr lang="en-US" sz="1000" b="1" dirty="0">
                <a:solidFill>
                  <a:srgbClr val="FFFFFF"/>
                </a:solidFill>
              </a:rPr>
              <a:t>Fine-Tuning</a:t>
            </a:r>
            <a:endParaRPr lang="en-US" sz="1000" dirty="0"/>
          </a:p>
          <a:p>
            <a:pPr marL="0" indent="0" algn="ctr">
              <a:buNone/>
            </a:pPr>
            <a:r>
              <a:rPr lang="en-US" sz="1000" b="1" dirty="0">
                <a:solidFill>
                  <a:srgbClr val="FFFFFF"/>
                </a:solidFill>
              </a:rPr>
              <a:t>(Local)</a:t>
            </a:r>
            <a:endParaRPr lang="en-US" sz="1000" dirty="0"/>
          </a:p>
        </p:txBody>
      </p:sp>
      <p:sp>
        <p:nvSpPr>
          <p:cNvPr id="27" name="Text 25"/>
          <p:cNvSpPr/>
          <p:nvPr/>
        </p:nvSpPr>
        <p:spPr>
          <a:xfrm>
            <a:off x="5513832" y="1883664"/>
            <a:ext cx="1508760" cy="256032"/>
          </a:xfrm>
          <a:prstGeom prst="rect">
            <a:avLst/>
          </a:prstGeom>
          <a:noFill/>
          <a:ln/>
        </p:spPr>
        <p:txBody>
          <a:bodyPr wrap="square" rtlCol="0" anchor="ctr"/>
          <a:lstStyle/>
          <a:p>
            <a:pPr marL="0" indent="0" algn="ctr">
              <a:buNone/>
            </a:pPr>
            <a:r>
              <a:rPr lang="en-US" sz="750" i="1" dirty="0">
                <a:solidFill>
                  <a:srgbClr val="F0C84A"/>
                </a:solidFill>
              </a:rPr>
              <a:t>Philippine 2024 data</a:t>
            </a:r>
            <a:endParaRPr lang="en-US" sz="750" dirty="0"/>
          </a:p>
        </p:txBody>
      </p:sp>
      <p:sp>
        <p:nvSpPr>
          <p:cNvPr id="28" name="Text 26"/>
          <p:cNvSpPr/>
          <p:nvPr/>
        </p:nvSpPr>
        <p:spPr>
          <a:xfrm>
            <a:off x="5513832" y="2157984"/>
            <a:ext cx="1508760" cy="1005840"/>
          </a:xfrm>
          <a:prstGeom prst="rect">
            <a:avLst/>
          </a:prstGeom>
          <a:noFill/>
          <a:ln/>
        </p:spPr>
        <p:txBody>
          <a:bodyPr wrap="square" rtlCol="0" anchor="ctr"/>
          <a:lstStyle/>
          <a:p>
            <a:pPr marL="0" indent="0" algn="ctr">
              <a:buNone/>
            </a:pPr>
            <a:r>
              <a:rPr lang="en-US" sz="850" dirty="0">
                <a:solidFill>
                  <a:srgbClr val="FFFFFF"/>
                </a:solidFill>
              </a:rPr>
              <a:t>500–1,200 local</a:t>
            </a:r>
            <a:endParaRPr lang="en-US" sz="850" dirty="0"/>
          </a:p>
          <a:p>
            <a:pPr marL="0" indent="0" algn="ctr">
              <a:buNone/>
            </a:pPr>
            <a:r>
              <a:rPr lang="en-US" sz="850" dirty="0">
                <a:solidFill>
                  <a:srgbClr val="FFFFFF"/>
                </a:solidFill>
              </a:rPr>
              <a:t>transactions used.</a:t>
            </a:r>
            <a:endParaRPr lang="en-US" sz="850" dirty="0"/>
          </a:p>
          <a:p>
            <a:pPr marL="0" indent="0" algn="ctr">
              <a:buNone/>
            </a:pPr>
            <a:r>
              <a:rPr lang="en-US" sz="850" dirty="0">
                <a:solidFill>
                  <a:srgbClr val="FFFFFF"/>
                </a:solidFill>
              </a:rPr>
              <a:t>Cultural &amp; legal</a:t>
            </a:r>
            <a:endParaRPr lang="en-US" sz="850" dirty="0"/>
          </a:p>
          <a:p>
            <a:pPr marL="0" indent="0" algn="ctr">
              <a:buNone/>
            </a:pPr>
            <a:r>
              <a:rPr lang="en-US" sz="850" dirty="0">
                <a:solidFill>
                  <a:srgbClr val="FFFFFF"/>
                </a:solidFill>
              </a:rPr>
              <a:t>overlays applied</a:t>
            </a:r>
            <a:endParaRPr lang="en-US" sz="850" dirty="0"/>
          </a:p>
        </p:txBody>
      </p:sp>
      <p:sp>
        <p:nvSpPr>
          <p:cNvPr id="29" name="Shape 27"/>
          <p:cNvSpPr/>
          <p:nvPr/>
        </p:nvSpPr>
        <p:spPr>
          <a:xfrm>
            <a:off x="7068312" y="2286000"/>
            <a:ext cx="137160" cy="91440"/>
          </a:xfrm>
          <a:prstGeom prst="rect">
            <a:avLst/>
          </a:prstGeom>
          <a:solidFill>
            <a:srgbClr val="D4A017"/>
          </a:solidFill>
          <a:ln w="12700">
            <a:solidFill>
              <a:srgbClr val="D4A017"/>
            </a:solidFill>
            <a:prstDash val="solid"/>
          </a:ln>
        </p:spPr>
      </p:sp>
      <p:sp>
        <p:nvSpPr>
          <p:cNvPr id="30" name="Shape 28"/>
          <p:cNvSpPr/>
          <p:nvPr/>
        </p:nvSpPr>
        <p:spPr>
          <a:xfrm>
            <a:off x="7205472" y="1444752"/>
            <a:ext cx="1600200" cy="1783080"/>
          </a:xfrm>
          <a:prstGeom prst="rect">
            <a:avLst/>
          </a:prstGeom>
          <a:solidFill>
            <a:srgbClr val="2D8B1B"/>
          </a:solidFill>
          <a:ln w="12700">
            <a:solidFill>
              <a:srgbClr val="2D8B1B"/>
            </a:solidFill>
            <a:prstDash val="solid"/>
          </a:ln>
        </p:spPr>
      </p:sp>
      <p:sp>
        <p:nvSpPr>
          <p:cNvPr id="31" name="Text 29"/>
          <p:cNvSpPr/>
          <p:nvPr/>
        </p:nvSpPr>
        <p:spPr>
          <a:xfrm>
            <a:off x="7251192" y="1481328"/>
            <a:ext cx="1508760" cy="402336"/>
          </a:xfrm>
          <a:prstGeom prst="rect">
            <a:avLst/>
          </a:prstGeom>
          <a:noFill/>
          <a:ln/>
        </p:spPr>
        <p:txBody>
          <a:bodyPr wrap="square" rtlCol="0" anchor="ctr"/>
          <a:lstStyle/>
          <a:p>
            <a:pPr marL="0" indent="0" algn="ctr">
              <a:buNone/>
            </a:pPr>
            <a:r>
              <a:rPr lang="en-US" sz="1000" b="1" dirty="0">
                <a:solidFill>
                  <a:srgbClr val="FFFFFF"/>
                </a:solidFill>
              </a:rPr>
              <a:t>Target</a:t>
            </a:r>
            <a:endParaRPr lang="en-US" sz="1000" dirty="0"/>
          </a:p>
          <a:p>
            <a:pPr marL="0" indent="0" algn="ctr">
              <a:buNone/>
            </a:pPr>
            <a:r>
              <a:rPr lang="en-US" sz="1000" b="1" dirty="0">
                <a:solidFill>
                  <a:srgbClr val="FFFFFF"/>
                </a:solidFill>
              </a:rPr>
              <a:t>Domain</a:t>
            </a:r>
            <a:endParaRPr lang="en-US" sz="1000" dirty="0"/>
          </a:p>
        </p:txBody>
      </p:sp>
      <p:sp>
        <p:nvSpPr>
          <p:cNvPr id="32" name="Text 30"/>
          <p:cNvSpPr/>
          <p:nvPr/>
        </p:nvSpPr>
        <p:spPr>
          <a:xfrm>
            <a:off x="7251192" y="1883664"/>
            <a:ext cx="1508760" cy="256032"/>
          </a:xfrm>
          <a:prstGeom prst="rect">
            <a:avLst/>
          </a:prstGeom>
          <a:noFill/>
          <a:ln/>
        </p:spPr>
        <p:txBody>
          <a:bodyPr wrap="square" rtlCol="0" anchor="ctr"/>
          <a:lstStyle/>
          <a:p>
            <a:pPr marL="0" indent="0" algn="ctr">
              <a:buNone/>
            </a:pPr>
            <a:r>
              <a:rPr lang="en-US" sz="750" i="1" dirty="0">
                <a:solidFill>
                  <a:srgbClr val="F0C84A"/>
                </a:solidFill>
              </a:rPr>
              <a:t>La Union &amp; Iloilo</a:t>
            </a:r>
            <a:endParaRPr lang="en-US" sz="750" dirty="0"/>
          </a:p>
        </p:txBody>
      </p:sp>
      <p:sp>
        <p:nvSpPr>
          <p:cNvPr id="33" name="Text 31"/>
          <p:cNvSpPr/>
          <p:nvPr/>
        </p:nvSpPr>
        <p:spPr>
          <a:xfrm>
            <a:off x="7251192" y="2157984"/>
            <a:ext cx="1508760" cy="1005840"/>
          </a:xfrm>
          <a:prstGeom prst="rect">
            <a:avLst/>
          </a:prstGeom>
          <a:noFill/>
          <a:ln/>
        </p:spPr>
        <p:txBody>
          <a:bodyPr wrap="square" rtlCol="0" anchor="ctr"/>
          <a:lstStyle/>
          <a:p>
            <a:pPr marL="0" indent="0" algn="ctr">
              <a:buNone/>
            </a:pPr>
            <a:r>
              <a:rPr lang="en-US" sz="850" dirty="0">
                <a:solidFill>
                  <a:srgbClr val="FFFFFF"/>
                </a:solidFill>
              </a:rPr>
              <a:t>Accurate valuations</a:t>
            </a:r>
            <a:endParaRPr lang="en-US" sz="850" dirty="0"/>
          </a:p>
          <a:p>
            <a:pPr marL="0" indent="0" algn="ctr">
              <a:buNone/>
            </a:pPr>
            <a:r>
              <a:rPr lang="en-US" sz="850" dirty="0">
                <a:solidFill>
                  <a:srgbClr val="FFFFFF"/>
                </a:solidFill>
              </a:rPr>
              <a:t>despite sparse data.</a:t>
            </a:r>
            <a:endParaRPr lang="en-US" sz="850" dirty="0"/>
          </a:p>
          <a:p>
            <a:pPr marL="0" indent="0" algn="ctr">
              <a:buNone/>
            </a:pPr>
            <a:r>
              <a:rPr lang="en-US" sz="850" dirty="0">
                <a:solidFill>
                  <a:srgbClr val="FFFFFF"/>
                </a:solidFill>
              </a:rPr>
              <a:t>σ &lt; 0.05 achieved</a:t>
            </a:r>
            <a:endParaRPr lang="en-US" sz="850" dirty="0"/>
          </a:p>
          <a:p>
            <a:pPr marL="0" indent="0" algn="ctr">
              <a:buNone/>
            </a:pPr>
            <a:r>
              <a:rPr lang="en-US" sz="850" dirty="0">
                <a:solidFill>
                  <a:srgbClr val="FFFFFF"/>
                </a:solidFill>
              </a:rPr>
              <a:t>across test periods</a:t>
            </a:r>
            <a:endParaRPr lang="en-US" sz="850" dirty="0"/>
          </a:p>
        </p:txBody>
      </p:sp>
      <p:sp>
        <p:nvSpPr>
          <p:cNvPr id="34" name="Shape 32"/>
          <p:cNvSpPr/>
          <p:nvPr/>
        </p:nvSpPr>
        <p:spPr>
          <a:xfrm>
            <a:off x="228600" y="3337560"/>
            <a:ext cx="8686800" cy="365760"/>
          </a:xfrm>
          <a:prstGeom prst="rect">
            <a:avLst/>
          </a:prstGeom>
          <a:solidFill>
            <a:srgbClr val="6B1B5E"/>
          </a:solidFill>
          <a:ln w="12700">
            <a:solidFill>
              <a:srgbClr val="6B1B5E"/>
            </a:solidFill>
            <a:prstDash val="solid"/>
          </a:ln>
        </p:spPr>
      </p:sp>
      <p:sp>
        <p:nvSpPr>
          <p:cNvPr id="35" name="Text 33"/>
          <p:cNvSpPr/>
          <p:nvPr/>
        </p:nvSpPr>
        <p:spPr>
          <a:xfrm>
            <a:off x="228600" y="3337560"/>
            <a:ext cx="8686800" cy="365760"/>
          </a:xfrm>
          <a:prstGeom prst="rect">
            <a:avLst/>
          </a:prstGeom>
          <a:noFill/>
          <a:ln/>
        </p:spPr>
        <p:txBody>
          <a:bodyPr wrap="square" lIns="0" tIns="0" rIns="0" bIns="0" rtlCol="0" anchor="ctr"/>
          <a:lstStyle/>
          <a:p>
            <a:pPr marL="0" indent="0" algn="ctr">
              <a:buNone/>
            </a:pPr>
            <a:r>
              <a:rPr lang="en-US" sz="1050" b="1" kern="0" spc="300" dirty="0">
                <a:solidFill>
                  <a:srgbClr val="FFFFFF"/>
                </a:solidFill>
              </a:rPr>
              <a:t>SENTIMENT-AWARE MARKET EFFICIENCY INDEX</a:t>
            </a:r>
            <a:endParaRPr lang="en-US" sz="1050" dirty="0"/>
          </a:p>
        </p:txBody>
      </p:sp>
      <p:sp>
        <p:nvSpPr>
          <p:cNvPr id="36" name="Shape 34"/>
          <p:cNvSpPr/>
          <p:nvPr/>
        </p:nvSpPr>
        <p:spPr>
          <a:xfrm>
            <a:off x="256032" y="3767328"/>
            <a:ext cx="2057400" cy="98755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7" name="Shape 35"/>
          <p:cNvSpPr/>
          <p:nvPr/>
        </p:nvSpPr>
        <p:spPr>
          <a:xfrm>
            <a:off x="256032" y="3767328"/>
            <a:ext cx="2057400" cy="73152"/>
          </a:xfrm>
          <a:prstGeom prst="rect">
            <a:avLst/>
          </a:prstGeom>
          <a:solidFill>
            <a:srgbClr val="6B1B5E"/>
          </a:solidFill>
          <a:ln w="12700">
            <a:solidFill>
              <a:srgbClr val="6B1B5E"/>
            </a:solidFill>
            <a:prstDash val="solid"/>
          </a:ln>
        </p:spPr>
      </p:sp>
      <p:sp>
        <p:nvSpPr>
          <p:cNvPr id="38" name="Text 36"/>
          <p:cNvSpPr/>
          <p:nvPr/>
        </p:nvSpPr>
        <p:spPr>
          <a:xfrm>
            <a:off x="329184" y="3858768"/>
            <a:ext cx="1920240" cy="256032"/>
          </a:xfrm>
          <a:prstGeom prst="rect">
            <a:avLst/>
          </a:prstGeom>
          <a:noFill/>
          <a:ln/>
        </p:spPr>
        <p:txBody>
          <a:bodyPr wrap="square" rtlCol="0" anchor="ctr"/>
          <a:lstStyle/>
          <a:p>
            <a:pPr marL="0" indent="0">
              <a:buNone/>
            </a:pPr>
            <a:r>
              <a:rPr lang="en-US" sz="950" b="1" dirty="0">
                <a:solidFill>
                  <a:srgbClr val="1B2A4A"/>
                </a:solidFill>
              </a:rPr>
              <a:t>Local News Feed</a:t>
            </a:r>
            <a:endParaRPr lang="en-US" sz="950" dirty="0"/>
          </a:p>
        </p:txBody>
      </p:sp>
      <p:sp>
        <p:nvSpPr>
          <p:cNvPr id="39" name="Text 37"/>
          <p:cNvSpPr/>
          <p:nvPr/>
        </p:nvSpPr>
        <p:spPr>
          <a:xfrm>
            <a:off x="329184" y="4114800"/>
            <a:ext cx="1920240" cy="603504"/>
          </a:xfrm>
          <a:prstGeom prst="rect">
            <a:avLst/>
          </a:prstGeom>
          <a:noFill/>
          <a:ln/>
        </p:spPr>
        <p:txBody>
          <a:bodyPr wrap="square" rtlCol="0" anchor="ctr"/>
          <a:lstStyle/>
          <a:p>
            <a:pPr marL="0" indent="0">
              <a:buNone/>
            </a:pPr>
            <a:r>
              <a:rPr lang="en-US" sz="850" dirty="0">
                <a:solidFill>
                  <a:srgbClr val="2D3748"/>
                </a:solidFill>
              </a:rPr>
              <a:t>Filipino-language NLP parses regional property news, zoning announcements, infrastructure approvals, and market sentiment signals in real time.</a:t>
            </a:r>
            <a:endParaRPr lang="en-US" sz="850" dirty="0"/>
          </a:p>
        </p:txBody>
      </p:sp>
      <p:sp>
        <p:nvSpPr>
          <p:cNvPr id="40" name="Shape 38"/>
          <p:cNvSpPr/>
          <p:nvPr/>
        </p:nvSpPr>
        <p:spPr>
          <a:xfrm>
            <a:off x="2432304" y="3767328"/>
            <a:ext cx="2057400" cy="98755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41" name="Shape 39"/>
          <p:cNvSpPr/>
          <p:nvPr/>
        </p:nvSpPr>
        <p:spPr>
          <a:xfrm>
            <a:off x="2432304" y="3767328"/>
            <a:ext cx="2057400" cy="73152"/>
          </a:xfrm>
          <a:prstGeom prst="rect">
            <a:avLst/>
          </a:prstGeom>
          <a:solidFill>
            <a:srgbClr val="6B1B5E"/>
          </a:solidFill>
          <a:ln w="12700">
            <a:solidFill>
              <a:srgbClr val="6B1B5E"/>
            </a:solidFill>
            <a:prstDash val="solid"/>
          </a:ln>
        </p:spPr>
      </p:sp>
      <p:sp>
        <p:nvSpPr>
          <p:cNvPr id="42" name="Text 40"/>
          <p:cNvSpPr/>
          <p:nvPr/>
        </p:nvSpPr>
        <p:spPr>
          <a:xfrm>
            <a:off x="2505456" y="3858768"/>
            <a:ext cx="1920240" cy="256032"/>
          </a:xfrm>
          <a:prstGeom prst="rect">
            <a:avLst/>
          </a:prstGeom>
          <a:noFill/>
          <a:ln/>
        </p:spPr>
        <p:txBody>
          <a:bodyPr wrap="square" rtlCol="0" anchor="ctr"/>
          <a:lstStyle/>
          <a:p>
            <a:pPr marL="0" indent="0">
              <a:buNone/>
            </a:pPr>
            <a:r>
              <a:rPr lang="en-US" sz="950" b="1" dirty="0">
                <a:solidFill>
                  <a:srgbClr val="1B2A4A"/>
                </a:solidFill>
              </a:rPr>
              <a:t>Social Media Signals</a:t>
            </a:r>
            <a:endParaRPr lang="en-US" sz="950" dirty="0"/>
          </a:p>
        </p:txBody>
      </p:sp>
      <p:sp>
        <p:nvSpPr>
          <p:cNvPr id="43" name="Text 41"/>
          <p:cNvSpPr/>
          <p:nvPr/>
        </p:nvSpPr>
        <p:spPr>
          <a:xfrm>
            <a:off x="2505456" y="4114800"/>
            <a:ext cx="1920240" cy="603504"/>
          </a:xfrm>
          <a:prstGeom prst="rect">
            <a:avLst/>
          </a:prstGeom>
          <a:noFill/>
          <a:ln/>
        </p:spPr>
        <p:txBody>
          <a:bodyPr wrap="square" rtlCol="0" anchor="ctr"/>
          <a:lstStyle/>
          <a:p>
            <a:pPr marL="0" indent="0">
              <a:buNone/>
            </a:pPr>
            <a:r>
              <a:rPr lang="en-US" sz="850" dirty="0">
                <a:solidFill>
                  <a:srgbClr val="2D3748"/>
                </a:solidFill>
              </a:rPr>
              <a:t>Lamudi / OLX comments, Facebook property groups, and Twitter/X discussions analyzed for sentiment polarity and market mood.</a:t>
            </a:r>
            <a:endParaRPr lang="en-US" sz="850" dirty="0"/>
          </a:p>
        </p:txBody>
      </p:sp>
      <p:sp>
        <p:nvSpPr>
          <p:cNvPr id="44" name="Shape 42"/>
          <p:cNvSpPr/>
          <p:nvPr/>
        </p:nvSpPr>
        <p:spPr>
          <a:xfrm>
            <a:off x="4608576" y="3767328"/>
            <a:ext cx="2057400" cy="98755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45" name="Shape 43"/>
          <p:cNvSpPr/>
          <p:nvPr/>
        </p:nvSpPr>
        <p:spPr>
          <a:xfrm>
            <a:off x="4608576" y="3767328"/>
            <a:ext cx="2057400" cy="73152"/>
          </a:xfrm>
          <a:prstGeom prst="rect">
            <a:avLst/>
          </a:prstGeom>
          <a:solidFill>
            <a:srgbClr val="6B1B5E"/>
          </a:solidFill>
          <a:ln w="12700">
            <a:solidFill>
              <a:srgbClr val="6B1B5E"/>
            </a:solidFill>
            <a:prstDash val="solid"/>
          </a:ln>
        </p:spPr>
      </p:sp>
      <p:sp>
        <p:nvSpPr>
          <p:cNvPr id="46" name="Text 44"/>
          <p:cNvSpPr/>
          <p:nvPr/>
        </p:nvSpPr>
        <p:spPr>
          <a:xfrm>
            <a:off x="4681728" y="3858768"/>
            <a:ext cx="1920240" cy="256032"/>
          </a:xfrm>
          <a:prstGeom prst="rect">
            <a:avLst/>
          </a:prstGeom>
          <a:noFill/>
          <a:ln/>
        </p:spPr>
        <p:txBody>
          <a:bodyPr wrap="square" rtlCol="0" anchor="ctr"/>
          <a:lstStyle/>
          <a:p>
            <a:pPr marL="0" indent="0">
              <a:buNone/>
            </a:pPr>
            <a:r>
              <a:rPr lang="en-US" sz="950" b="1" dirty="0">
                <a:solidFill>
                  <a:srgbClr val="1B2A4A"/>
                </a:solidFill>
              </a:rPr>
              <a:t>Legal Registry Anomalies</a:t>
            </a:r>
            <a:endParaRPr lang="en-US" sz="950" dirty="0"/>
          </a:p>
        </p:txBody>
      </p:sp>
      <p:sp>
        <p:nvSpPr>
          <p:cNvPr id="47" name="Text 45"/>
          <p:cNvSpPr/>
          <p:nvPr/>
        </p:nvSpPr>
        <p:spPr>
          <a:xfrm>
            <a:off x="4681728" y="4114800"/>
            <a:ext cx="1920240" cy="603504"/>
          </a:xfrm>
          <a:prstGeom prst="rect">
            <a:avLst/>
          </a:prstGeom>
          <a:noFill/>
          <a:ln/>
        </p:spPr>
        <p:txBody>
          <a:bodyPr wrap="square" rtlCol="0" anchor="ctr"/>
          <a:lstStyle/>
          <a:p>
            <a:pPr marL="0" indent="0">
              <a:buNone/>
            </a:pPr>
            <a:r>
              <a:rPr lang="en-US" sz="850" dirty="0">
                <a:solidFill>
                  <a:srgbClr val="2D3748"/>
                </a:solidFill>
              </a:rPr>
              <a:t>Transfer frequency anomalies, foreclosure patterns, and title dispute signals detected and flagged as property-level risk scores.</a:t>
            </a:r>
            <a:endParaRPr lang="en-US" sz="850" dirty="0"/>
          </a:p>
        </p:txBody>
      </p:sp>
      <p:sp>
        <p:nvSpPr>
          <p:cNvPr id="48" name="Shape 46"/>
          <p:cNvSpPr/>
          <p:nvPr/>
        </p:nvSpPr>
        <p:spPr>
          <a:xfrm>
            <a:off x="6784848" y="3767328"/>
            <a:ext cx="2057400" cy="98755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49" name="Shape 47"/>
          <p:cNvSpPr/>
          <p:nvPr/>
        </p:nvSpPr>
        <p:spPr>
          <a:xfrm>
            <a:off x="6784848" y="3767328"/>
            <a:ext cx="2057400" cy="73152"/>
          </a:xfrm>
          <a:prstGeom prst="rect">
            <a:avLst/>
          </a:prstGeom>
          <a:solidFill>
            <a:srgbClr val="6B1B5E"/>
          </a:solidFill>
          <a:ln w="12700">
            <a:solidFill>
              <a:srgbClr val="6B1B5E"/>
            </a:solidFill>
            <a:prstDash val="solid"/>
          </a:ln>
        </p:spPr>
      </p:sp>
      <p:sp>
        <p:nvSpPr>
          <p:cNvPr id="50" name="Text 48"/>
          <p:cNvSpPr/>
          <p:nvPr/>
        </p:nvSpPr>
        <p:spPr>
          <a:xfrm>
            <a:off x="6858000" y="3858768"/>
            <a:ext cx="1920240" cy="256032"/>
          </a:xfrm>
          <a:prstGeom prst="rect">
            <a:avLst/>
          </a:prstGeom>
          <a:noFill/>
          <a:ln/>
        </p:spPr>
        <p:txBody>
          <a:bodyPr wrap="square" rtlCol="0" anchor="ctr"/>
          <a:lstStyle/>
          <a:p>
            <a:pPr marL="0" indent="0">
              <a:buNone/>
            </a:pPr>
            <a:r>
              <a:rPr lang="en-US" sz="950" b="1" dirty="0">
                <a:solidFill>
                  <a:srgbClr val="1B2A4A"/>
                </a:solidFill>
              </a:rPr>
              <a:t>Cultural Weighting</a:t>
            </a:r>
            <a:endParaRPr lang="en-US" sz="950" dirty="0"/>
          </a:p>
        </p:txBody>
      </p:sp>
      <p:sp>
        <p:nvSpPr>
          <p:cNvPr id="51" name="Text 49"/>
          <p:cNvSpPr/>
          <p:nvPr/>
        </p:nvSpPr>
        <p:spPr>
          <a:xfrm>
            <a:off x="6858000" y="4114800"/>
            <a:ext cx="1920240" cy="603504"/>
          </a:xfrm>
          <a:prstGeom prst="rect">
            <a:avLst/>
          </a:prstGeom>
          <a:noFill/>
          <a:ln/>
        </p:spPr>
        <p:txBody>
          <a:bodyPr wrap="square" rtlCol="0" anchor="ctr"/>
          <a:lstStyle/>
          <a:p>
            <a:pPr marL="0" indent="0">
              <a:buNone/>
            </a:pPr>
            <a:r>
              <a:rPr lang="en-US" sz="850" dirty="0">
                <a:solidFill>
                  <a:srgbClr val="2D3748"/>
                </a:solidFill>
              </a:rPr>
              <a:t>Proximity premiums/discounts for religious sites, schools, cemeteries, flood histories, and locally-known risk areas — applied as model features.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Methodology: Research Design</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8 / 16</a:t>
            </a:r>
            <a:endParaRPr lang="en-US" sz="750" dirty="0"/>
          </a:p>
        </p:txBody>
      </p:sp>
      <p:sp>
        <p:nvSpPr>
          <p:cNvPr id="8" name="Shape 6"/>
          <p:cNvSpPr/>
          <p:nvPr/>
        </p:nvSpPr>
        <p:spPr>
          <a:xfrm>
            <a:off x="457200" y="1207008"/>
            <a:ext cx="8229600" cy="64008"/>
          </a:xfrm>
          <a:prstGeom prst="rect">
            <a:avLst/>
          </a:prstGeom>
          <a:solidFill>
            <a:srgbClr val="1B2A4A"/>
          </a:solidFill>
          <a:ln w="12700">
            <a:solidFill>
              <a:srgbClr val="1B2A4A"/>
            </a:solidFill>
            <a:prstDash val="solid"/>
          </a:ln>
        </p:spPr>
      </p:sp>
      <p:sp>
        <p:nvSpPr>
          <p:cNvPr id="9" name="Shape 7"/>
          <p:cNvSpPr/>
          <p:nvPr/>
        </p:nvSpPr>
        <p:spPr>
          <a:xfrm>
            <a:off x="1207008" y="1088136"/>
            <a:ext cx="292608" cy="292608"/>
          </a:xfrm>
          <a:prstGeom prst="ellipse">
            <a:avLst/>
          </a:prstGeom>
          <a:solidFill>
            <a:srgbClr val="1B2A4A"/>
          </a:solidFill>
          <a:ln w="12700">
            <a:solidFill>
              <a:srgbClr val="1B2A4A"/>
            </a:solidFill>
            <a:prstDash val="solid"/>
          </a:ln>
        </p:spPr>
      </p:sp>
      <p:sp>
        <p:nvSpPr>
          <p:cNvPr id="10" name="Text 8"/>
          <p:cNvSpPr/>
          <p:nvPr/>
        </p:nvSpPr>
        <p:spPr>
          <a:xfrm>
            <a:off x="713232" y="822960"/>
            <a:ext cx="1280160" cy="274320"/>
          </a:xfrm>
          <a:prstGeom prst="rect">
            <a:avLst/>
          </a:prstGeom>
          <a:noFill/>
          <a:ln/>
        </p:spPr>
        <p:txBody>
          <a:bodyPr wrap="square" rtlCol="0" anchor="ctr"/>
          <a:lstStyle/>
          <a:p>
            <a:pPr marL="0" indent="0" algn="ctr">
              <a:buNone/>
            </a:pPr>
            <a:r>
              <a:rPr lang="en-US" sz="850" i="1" dirty="0">
                <a:solidFill>
                  <a:srgbClr val="64748B"/>
                </a:solidFill>
              </a:rPr>
              <a:t>2024 Q1–Q2</a:t>
            </a:r>
            <a:endParaRPr lang="en-US" sz="850" dirty="0"/>
          </a:p>
        </p:txBody>
      </p:sp>
      <p:sp>
        <p:nvSpPr>
          <p:cNvPr id="11" name="Text 9"/>
          <p:cNvSpPr/>
          <p:nvPr/>
        </p:nvSpPr>
        <p:spPr>
          <a:xfrm>
            <a:off x="621792" y="1444752"/>
            <a:ext cx="1463040" cy="320040"/>
          </a:xfrm>
          <a:prstGeom prst="rect">
            <a:avLst/>
          </a:prstGeom>
          <a:noFill/>
          <a:ln/>
        </p:spPr>
        <p:txBody>
          <a:bodyPr wrap="square" rtlCol="0" anchor="ctr"/>
          <a:lstStyle/>
          <a:p>
            <a:pPr marL="0" indent="0" algn="ctr">
              <a:buNone/>
            </a:pPr>
            <a:r>
              <a:rPr lang="en-US" sz="1050" b="1" dirty="0">
                <a:solidFill>
                  <a:srgbClr val="1B2A4A"/>
                </a:solidFill>
              </a:rPr>
              <a:t>Data Collection</a:t>
            </a:r>
            <a:endParaRPr lang="en-US" sz="1050" dirty="0"/>
          </a:p>
        </p:txBody>
      </p:sp>
      <p:sp>
        <p:nvSpPr>
          <p:cNvPr id="12" name="Text 10"/>
          <p:cNvSpPr/>
          <p:nvPr/>
        </p:nvSpPr>
        <p:spPr>
          <a:xfrm>
            <a:off x="530352" y="1755648"/>
            <a:ext cx="1645920" cy="658368"/>
          </a:xfrm>
          <a:prstGeom prst="rect">
            <a:avLst/>
          </a:prstGeom>
          <a:noFill/>
          <a:ln/>
        </p:spPr>
        <p:txBody>
          <a:bodyPr wrap="square" rtlCol="0" anchor="ctr"/>
          <a:lstStyle/>
          <a:p>
            <a:pPr marL="0" indent="0" algn="ctr">
              <a:buNone/>
            </a:pPr>
            <a:r>
              <a:rPr lang="en-US" sz="850" dirty="0">
                <a:solidFill>
                  <a:srgbClr val="2D3748"/>
                </a:solidFill>
              </a:rPr>
              <a:t>Philippine listings, economic indicators, land registry records collected</a:t>
            </a:r>
            <a:endParaRPr lang="en-US" sz="850" dirty="0"/>
          </a:p>
        </p:txBody>
      </p:sp>
      <p:sp>
        <p:nvSpPr>
          <p:cNvPr id="13" name="Shape 11"/>
          <p:cNvSpPr/>
          <p:nvPr/>
        </p:nvSpPr>
        <p:spPr>
          <a:xfrm>
            <a:off x="3310128" y="1088136"/>
            <a:ext cx="292608" cy="292608"/>
          </a:xfrm>
          <a:prstGeom prst="ellipse">
            <a:avLst/>
          </a:prstGeom>
          <a:solidFill>
            <a:srgbClr val="1B2A4A"/>
          </a:solidFill>
          <a:ln w="12700">
            <a:solidFill>
              <a:srgbClr val="1B2A4A"/>
            </a:solidFill>
            <a:prstDash val="solid"/>
          </a:ln>
        </p:spPr>
      </p:sp>
      <p:sp>
        <p:nvSpPr>
          <p:cNvPr id="14" name="Text 12"/>
          <p:cNvSpPr/>
          <p:nvPr/>
        </p:nvSpPr>
        <p:spPr>
          <a:xfrm>
            <a:off x="2816352" y="822960"/>
            <a:ext cx="1280160" cy="274320"/>
          </a:xfrm>
          <a:prstGeom prst="rect">
            <a:avLst/>
          </a:prstGeom>
          <a:noFill/>
          <a:ln/>
        </p:spPr>
        <p:txBody>
          <a:bodyPr wrap="square" rtlCol="0" anchor="ctr"/>
          <a:lstStyle/>
          <a:p>
            <a:pPr marL="0" indent="0" algn="ctr">
              <a:buNone/>
            </a:pPr>
            <a:r>
              <a:rPr lang="en-US" sz="850" i="1" dirty="0">
                <a:solidFill>
                  <a:srgbClr val="64748B"/>
                </a:solidFill>
              </a:rPr>
              <a:t>2024 Q3</a:t>
            </a:r>
            <a:endParaRPr lang="en-US" sz="850" dirty="0"/>
          </a:p>
        </p:txBody>
      </p:sp>
      <p:sp>
        <p:nvSpPr>
          <p:cNvPr id="15" name="Text 13"/>
          <p:cNvSpPr/>
          <p:nvPr/>
        </p:nvSpPr>
        <p:spPr>
          <a:xfrm>
            <a:off x="2724912" y="1444752"/>
            <a:ext cx="1463040" cy="320040"/>
          </a:xfrm>
          <a:prstGeom prst="rect">
            <a:avLst/>
          </a:prstGeom>
          <a:noFill/>
          <a:ln/>
        </p:spPr>
        <p:txBody>
          <a:bodyPr wrap="square" rtlCol="0" anchor="ctr"/>
          <a:lstStyle/>
          <a:p>
            <a:pPr marL="0" indent="0" algn="ctr">
              <a:buNone/>
            </a:pPr>
            <a:r>
              <a:rPr lang="en-US" sz="1050" b="1" dirty="0">
                <a:solidFill>
                  <a:srgbClr val="1B2A4A"/>
                </a:solidFill>
              </a:rPr>
              <a:t>Model Training</a:t>
            </a:r>
            <a:endParaRPr lang="en-US" sz="1050" dirty="0"/>
          </a:p>
        </p:txBody>
      </p:sp>
      <p:sp>
        <p:nvSpPr>
          <p:cNvPr id="16" name="Text 14"/>
          <p:cNvSpPr/>
          <p:nvPr/>
        </p:nvSpPr>
        <p:spPr>
          <a:xfrm>
            <a:off x="2633472" y="1755648"/>
            <a:ext cx="1645920" cy="658368"/>
          </a:xfrm>
          <a:prstGeom prst="rect">
            <a:avLst/>
          </a:prstGeom>
          <a:noFill/>
          <a:ln/>
        </p:spPr>
        <p:txBody>
          <a:bodyPr wrap="square" rtlCol="0" anchor="ctr"/>
          <a:lstStyle/>
          <a:p>
            <a:pPr marL="0" indent="0" algn="ctr">
              <a:buNone/>
            </a:pPr>
            <a:r>
              <a:rPr lang="en-US" sz="850" dirty="0">
                <a:solidFill>
                  <a:srgbClr val="2D3748"/>
                </a:solidFill>
              </a:rPr>
              <a:t>Transfer learning from SG/MY. LightGBM fine-tuned on PH data</a:t>
            </a:r>
            <a:endParaRPr lang="en-US" sz="850" dirty="0"/>
          </a:p>
        </p:txBody>
      </p:sp>
      <p:sp>
        <p:nvSpPr>
          <p:cNvPr id="17" name="Shape 15"/>
          <p:cNvSpPr/>
          <p:nvPr/>
        </p:nvSpPr>
        <p:spPr>
          <a:xfrm>
            <a:off x="5413248" y="1088136"/>
            <a:ext cx="292608" cy="292608"/>
          </a:xfrm>
          <a:prstGeom prst="ellipse">
            <a:avLst/>
          </a:prstGeom>
          <a:solidFill>
            <a:srgbClr val="1B2A4A"/>
          </a:solidFill>
          <a:ln w="12700">
            <a:solidFill>
              <a:srgbClr val="1B2A4A"/>
            </a:solidFill>
            <a:prstDash val="solid"/>
          </a:ln>
        </p:spPr>
      </p:sp>
      <p:sp>
        <p:nvSpPr>
          <p:cNvPr id="18" name="Text 16"/>
          <p:cNvSpPr/>
          <p:nvPr/>
        </p:nvSpPr>
        <p:spPr>
          <a:xfrm>
            <a:off x="4919472" y="822960"/>
            <a:ext cx="1280160" cy="274320"/>
          </a:xfrm>
          <a:prstGeom prst="rect">
            <a:avLst/>
          </a:prstGeom>
          <a:noFill/>
          <a:ln/>
        </p:spPr>
        <p:txBody>
          <a:bodyPr wrap="square" rtlCol="0" anchor="ctr"/>
          <a:lstStyle/>
          <a:p>
            <a:pPr marL="0" indent="0" algn="ctr">
              <a:buNone/>
            </a:pPr>
            <a:r>
              <a:rPr lang="en-US" sz="850" i="1" dirty="0">
                <a:solidFill>
                  <a:srgbClr val="64748B"/>
                </a:solidFill>
              </a:rPr>
              <a:t>2024 Q4</a:t>
            </a:r>
            <a:endParaRPr lang="en-US" sz="850" dirty="0"/>
          </a:p>
        </p:txBody>
      </p:sp>
      <p:sp>
        <p:nvSpPr>
          <p:cNvPr id="19" name="Text 17"/>
          <p:cNvSpPr/>
          <p:nvPr/>
        </p:nvSpPr>
        <p:spPr>
          <a:xfrm>
            <a:off x="4828032" y="1444752"/>
            <a:ext cx="1463040" cy="320040"/>
          </a:xfrm>
          <a:prstGeom prst="rect">
            <a:avLst/>
          </a:prstGeom>
          <a:noFill/>
          <a:ln/>
        </p:spPr>
        <p:txBody>
          <a:bodyPr wrap="square" rtlCol="0" anchor="ctr"/>
          <a:lstStyle/>
          <a:p>
            <a:pPr marL="0" indent="0" algn="ctr">
              <a:buNone/>
            </a:pPr>
            <a:r>
              <a:rPr lang="en-US" sz="1050" b="1" dirty="0">
                <a:solidFill>
                  <a:srgbClr val="1B2A4A"/>
                </a:solidFill>
              </a:rPr>
              <a:t>Simulation</a:t>
            </a:r>
            <a:endParaRPr lang="en-US" sz="1050" dirty="0"/>
          </a:p>
        </p:txBody>
      </p:sp>
      <p:sp>
        <p:nvSpPr>
          <p:cNvPr id="20" name="Text 18"/>
          <p:cNvSpPr/>
          <p:nvPr/>
        </p:nvSpPr>
        <p:spPr>
          <a:xfrm>
            <a:off x="4736592" y="1755648"/>
            <a:ext cx="1645920" cy="658368"/>
          </a:xfrm>
          <a:prstGeom prst="rect">
            <a:avLst/>
          </a:prstGeom>
          <a:noFill/>
          <a:ln/>
        </p:spPr>
        <p:txBody>
          <a:bodyPr wrap="square" rtlCol="0" anchor="ctr"/>
          <a:lstStyle/>
          <a:p>
            <a:pPr marL="0" indent="0" algn="ctr">
              <a:buNone/>
            </a:pPr>
            <a:r>
              <a:rPr lang="en-US" sz="850" dirty="0">
                <a:solidFill>
                  <a:srgbClr val="2D3748"/>
                </a:solidFill>
              </a:rPr>
              <a:t>La Union &amp; Iloilo market simulations. 2025 benchmarks generated</a:t>
            </a:r>
            <a:endParaRPr lang="en-US" sz="850" dirty="0"/>
          </a:p>
        </p:txBody>
      </p:sp>
      <p:sp>
        <p:nvSpPr>
          <p:cNvPr id="21" name="Shape 19"/>
          <p:cNvSpPr/>
          <p:nvPr/>
        </p:nvSpPr>
        <p:spPr>
          <a:xfrm>
            <a:off x="7516368" y="1088136"/>
            <a:ext cx="292608" cy="292608"/>
          </a:xfrm>
          <a:prstGeom prst="ellipse">
            <a:avLst/>
          </a:prstGeom>
          <a:solidFill>
            <a:srgbClr val="D4A017"/>
          </a:solidFill>
          <a:ln w="12700">
            <a:solidFill>
              <a:srgbClr val="D4A017"/>
            </a:solidFill>
            <a:prstDash val="solid"/>
          </a:ln>
        </p:spPr>
      </p:sp>
      <p:sp>
        <p:nvSpPr>
          <p:cNvPr id="22" name="Text 20"/>
          <p:cNvSpPr/>
          <p:nvPr/>
        </p:nvSpPr>
        <p:spPr>
          <a:xfrm>
            <a:off x="7022592" y="822960"/>
            <a:ext cx="1280160" cy="274320"/>
          </a:xfrm>
          <a:prstGeom prst="rect">
            <a:avLst/>
          </a:prstGeom>
          <a:noFill/>
          <a:ln/>
        </p:spPr>
        <p:txBody>
          <a:bodyPr wrap="square" rtlCol="0" anchor="ctr"/>
          <a:lstStyle/>
          <a:p>
            <a:pPr marL="0" indent="0" algn="ctr">
              <a:buNone/>
            </a:pPr>
            <a:r>
              <a:rPr lang="en-US" sz="850" i="1" dirty="0">
                <a:solidFill>
                  <a:srgbClr val="64748B"/>
                </a:solidFill>
              </a:rPr>
              <a:t>2025</a:t>
            </a:r>
            <a:endParaRPr lang="en-US" sz="850" dirty="0"/>
          </a:p>
        </p:txBody>
      </p:sp>
      <p:sp>
        <p:nvSpPr>
          <p:cNvPr id="23" name="Text 21"/>
          <p:cNvSpPr/>
          <p:nvPr/>
        </p:nvSpPr>
        <p:spPr>
          <a:xfrm>
            <a:off x="6931152" y="1444752"/>
            <a:ext cx="1463040" cy="320040"/>
          </a:xfrm>
          <a:prstGeom prst="rect">
            <a:avLst/>
          </a:prstGeom>
          <a:noFill/>
          <a:ln/>
        </p:spPr>
        <p:txBody>
          <a:bodyPr wrap="square" rtlCol="0" anchor="ctr"/>
          <a:lstStyle/>
          <a:p>
            <a:pPr marL="0" indent="0" algn="ctr">
              <a:buNone/>
            </a:pPr>
            <a:r>
              <a:rPr lang="en-US" sz="1050" b="1" dirty="0">
                <a:solidFill>
                  <a:srgbClr val="1B2A4A"/>
                </a:solidFill>
              </a:rPr>
              <a:t>Validation</a:t>
            </a:r>
            <a:endParaRPr lang="en-US" sz="1050" dirty="0"/>
          </a:p>
        </p:txBody>
      </p:sp>
      <p:sp>
        <p:nvSpPr>
          <p:cNvPr id="24" name="Text 22"/>
          <p:cNvSpPr/>
          <p:nvPr/>
        </p:nvSpPr>
        <p:spPr>
          <a:xfrm>
            <a:off x="6839712" y="1755648"/>
            <a:ext cx="1645920" cy="658368"/>
          </a:xfrm>
          <a:prstGeom prst="rect">
            <a:avLst/>
          </a:prstGeom>
          <a:noFill/>
          <a:ln/>
        </p:spPr>
        <p:txBody>
          <a:bodyPr wrap="square" rtlCol="0" anchor="ctr"/>
          <a:lstStyle/>
          <a:p>
            <a:pPr marL="0" indent="0" algn="ctr">
              <a:buNone/>
            </a:pPr>
            <a:r>
              <a:rPr lang="en-US" sz="850" dirty="0">
                <a:solidFill>
                  <a:srgbClr val="2D3748"/>
                </a:solidFill>
              </a:rPr>
              <a:t>Predictions validated vs. 2025 literature &amp; media reports</a:t>
            </a:r>
            <a:endParaRPr lang="en-US" sz="850" dirty="0"/>
          </a:p>
        </p:txBody>
      </p:sp>
      <p:sp>
        <p:nvSpPr>
          <p:cNvPr id="25" name="Shape 23"/>
          <p:cNvSpPr/>
          <p:nvPr/>
        </p:nvSpPr>
        <p:spPr>
          <a:xfrm>
            <a:off x="228600" y="2487168"/>
            <a:ext cx="4160520" cy="22860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6" name="Shape 24"/>
          <p:cNvSpPr/>
          <p:nvPr/>
        </p:nvSpPr>
        <p:spPr>
          <a:xfrm>
            <a:off x="228600" y="2487168"/>
            <a:ext cx="4160520" cy="347472"/>
          </a:xfrm>
          <a:prstGeom prst="rect">
            <a:avLst/>
          </a:prstGeom>
          <a:solidFill>
            <a:srgbClr val="2A3F6F"/>
          </a:solidFill>
          <a:ln w="12700">
            <a:solidFill>
              <a:srgbClr val="2A3F6F"/>
            </a:solidFill>
            <a:prstDash val="solid"/>
          </a:ln>
        </p:spPr>
      </p:sp>
      <p:sp>
        <p:nvSpPr>
          <p:cNvPr id="27" name="Text 25"/>
          <p:cNvSpPr/>
          <p:nvPr/>
        </p:nvSpPr>
        <p:spPr>
          <a:xfrm>
            <a:off x="320040" y="2487168"/>
            <a:ext cx="3977640" cy="347472"/>
          </a:xfrm>
          <a:prstGeom prst="rect">
            <a:avLst/>
          </a:prstGeom>
          <a:noFill/>
          <a:ln/>
        </p:spPr>
        <p:txBody>
          <a:bodyPr wrap="square" lIns="0" tIns="0" rIns="0" bIns="0" rtlCol="0" anchor="ctr"/>
          <a:lstStyle/>
          <a:p>
            <a:pPr marL="0" indent="0">
              <a:buNone/>
            </a:pPr>
            <a:r>
              <a:rPr lang="en-US" sz="1200" b="1" dirty="0">
                <a:solidFill>
                  <a:srgbClr val="FFFFFF"/>
                </a:solidFill>
              </a:rPr>
              <a:t>Data Sources</a:t>
            </a:r>
            <a:endParaRPr lang="en-US" sz="1200" dirty="0"/>
          </a:p>
        </p:txBody>
      </p:sp>
      <p:sp>
        <p:nvSpPr>
          <p:cNvPr id="28" name="Shape 26"/>
          <p:cNvSpPr/>
          <p:nvPr/>
        </p:nvSpPr>
        <p:spPr>
          <a:xfrm>
            <a:off x="347472" y="2907792"/>
            <a:ext cx="118872" cy="118872"/>
          </a:xfrm>
          <a:prstGeom prst="ellipse">
            <a:avLst/>
          </a:prstGeom>
          <a:solidFill>
            <a:srgbClr val="D4A017"/>
          </a:solidFill>
          <a:ln w="12700">
            <a:solidFill>
              <a:srgbClr val="D4A017"/>
            </a:solidFill>
            <a:prstDash val="solid"/>
          </a:ln>
        </p:spPr>
      </p:sp>
      <p:sp>
        <p:nvSpPr>
          <p:cNvPr id="29" name="Text 27"/>
          <p:cNvSpPr/>
          <p:nvPr/>
        </p:nvSpPr>
        <p:spPr>
          <a:xfrm>
            <a:off x="530352" y="2852928"/>
            <a:ext cx="3749040" cy="274320"/>
          </a:xfrm>
          <a:prstGeom prst="rect">
            <a:avLst/>
          </a:prstGeom>
          <a:noFill/>
          <a:ln/>
        </p:spPr>
        <p:txBody>
          <a:bodyPr wrap="square" rtlCol="0" anchor="ctr"/>
          <a:lstStyle/>
          <a:p>
            <a:pPr marL="0" indent="0">
              <a:buNone/>
            </a:pPr>
            <a:r>
              <a:rPr lang="en-US" sz="950" dirty="0">
                <a:solidFill>
                  <a:srgbClr val="2D3748"/>
                </a:solidFill>
              </a:rPr>
              <a:t>Lamudi.com.ph — 8,000+ PH property listings (primary dataset)</a:t>
            </a:r>
            <a:endParaRPr lang="en-US" sz="950" dirty="0"/>
          </a:p>
        </p:txBody>
      </p:sp>
      <p:sp>
        <p:nvSpPr>
          <p:cNvPr id="30" name="Shape 28"/>
          <p:cNvSpPr/>
          <p:nvPr/>
        </p:nvSpPr>
        <p:spPr>
          <a:xfrm>
            <a:off x="347472" y="3227832"/>
            <a:ext cx="118872" cy="118872"/>
          </a:xfrm>
          <a:prstGeom prst="ellipse">
            <a:avLst/>
          </a:prstGeom>
          <a:solidFill>
            <a:srgbClr val="D4A017"/>
          </a:solidFill>
          <a:ln w="12700">
            <a:solidFill>
              <a:srgbClr val="D4A017"/>
            </a:solidFill>
            <a:prstDash val="solid"/>
          </a:ln>
        </p:spPr>
      </p:sp>
      <p:sp>
        <p:nvSpPr>
          <p:cNvPr id="31" name="Text 29"/>
          <p:cNvSpPr/>
          <p:nvPr/>
        </p:nvSpPr>
        <p:spPr>
          <a:xfrm>
            <a:off x="530352" y="3172968"/>
            <a:ext cx="3749040" cy="274320"/>
          </a:xfrm>
          <a:prstGeom prst="rect">
            <a:avLst/>
          </a:prstGeom>
          <a:noFill/>
          <a:ln/>
        </p:spPr>
        <p:txBody>
          <a:bodyPr wrap="square" rtlCol="0" anchor="ctr"/>
          <a:lstStyle/>
          <a:p>
            <a:pPr marL="0" indent="0">
              <a:buNone/>
            </a:pPr>
            <a:r>
              <a:rPr lang="en-US" sz="950" dirty="0">
                <a:solidFill>
                  <a:srgbClr val="2D3748"/>
                </a:solidFill>
              </a:rPr>
              <a:t>PSA — Regional economic indicators, employment, inflation</a:t>
            </a:r>
            <a:endParaRPr lang="en-US" sz="950" dirty="0"/>
          </a:p>
        </p:txBody>
      </p:sp>
      <p:sp>
        <p:nvSpPr>
          <p:cNvPr id="32" name="Shape 30"/>
          <p:cNvSpPr/>
          <p:nvPr/>
        </p:nvSpPr>
        <p:spPr>
          <a:xfrm>
            <a:off x="347472" y="3547872"/>
            <a:ext cx="118872" cy="118872"/>
          </a:xfrm>
          <a:prstGeom prst="ellipse">
            <a:avLst/>
          </a:prstGeom>
          <a:solidFill>
            <a:srgbClr val="D4A017"/>
          </a:solidFill>
          <a:ln w="12700">
            <a:solidFill>
              <a:srgbClr val="D4A017"/>
            </a:solidFill>
            <a:prstDash val="solid"/>
          </a:ln>
        </p:spPr>
      </p:sp>
      <p:sp>
        <p:nvSpPr>
          <p:cNvPr id="33" name="Text 31"/>
          <p:cNvSpPr/>
          <p:nvPr/>
        </p:nvSpPr>
        <p:spPr>
          <a:xfrm>
            <a:off x="530352" y="3493008"/>
            <a:ext cx="3749040" cy="274320"/>
          </a:xfrm>
          <a:prstGeom prst="rect">
            <a:avLst/>
          </a:prstGeom>
          <a:noFill/>
          <a:ln/>
        </p:spPr>
        <p:txBody>
          <a:bodyPr wrap="square" rtlCol="0" anchor="ctr"/>
          <a:lstStyle/>
          <a:p>
            <a:pPr marL="0" indent="0">
              <a:buNone/>
            </a:pPr>
            <a:r>
              <a:rPr lang="en-US" sz="950" dirty="0">
                <a:solidFill>
                  <a:srgbClr val="2D3748"/>
                </a:solidFill>
              </a:rPr>
              <a:t>Land Registration Authority — Title transfer records 2019–2024</a:t>
            </a:r>
            <a:endParaRPr lang="en-US" sz="950" dirty="0"/>
          </a:p>
        </p:txBody>
      </p:sp>
      <p:sp>
        <p:nvSpPr>
          <p:cNvPr id="34" name="Shape 32"/>
          <p:cNvSpPr/>
          <p:nvPr/>
        </p:nvSpPr>
        <p:spPr>
          <a:xfrm>
            <a:off x="347472" y="3867912"/>
            <a:ext cx="118872" cy="118872"/>
          </a:xfrm>
          <a:prstGeom prst="ellipse">
            <a:avLst/>
          </a:prstGeom>
          <a:solidFill>
            <a:srgbClr val="D4A017"/>
          </a:solidFill>
          <a:ln w="12700">
            <a:solidFill>
              <a:srgbClr val="D4A017"/>
            </a:solidFill>
            <a:prstDash val="solid"/>
          </a:ln>
        </p:spPr>
      </p:sp>
      <p:sp>
        <p:nvSpPr>
          <p:cNvPr id="35" name="Text 33"/>
          <p:cNvSpPr/>
          <p:nvPr/>
        </p:nvSpPr>
        <p:spPr>
          <a:xfrm>
            <a:off x="530352" y="3813048"/>
            <a:ext cx="3749040" cy="274320"/>
          </a:xfrm>
          <a:prstGeom prst="rect">
            <a:avLst/>
          </a:prstGeom>
          <a:noFill/>
          <a:ln/>
        </p:spPr>
        <p:txBody>
          <a:bodyPr wrap="square" rtlCol="0" anchor="ctr"/>
          <a:lstStyle/>
          <a:p>
            <a:pPr marL="0" indent="0">
              <a:buNone/>
            </a:pPr>
            <a:r>
              <a:rPr lang="en-US" sz="950" dirty="0">
                <a:solidFill>
                  <a:srgbClr val="2D3748"/>
                </a:solidFill>
              </a:rPr>
              <a:t>DENR — Flood hazard maps &amp; official zoning records</a:t>
            </a:r>
            <a:endParaRPr lang="en-US" sz="950" dirty="0"/>
          </a:p>
        </p:txBody>
      </p:sp>
      <p:sp>
        <p:nvSpPr>
          <p:cNvPr id="36" name="Shape 34"/>
          <p:cNvSpPr/>
          <p:nvPr/>
        </p:nvSpPr>
        <p:spPr>
          <a:xfrm>
            <a:off x="347472" y="4187952"/>
            <a:ext cx="118872" cy="118872"/>
          </a:xfrm>
          <a:prstGeom prst="ellipse">
            <a:avLst/>
          </a:prstGeom>
          <a:solidFill>
            <a:srgbClr val="D4A017"/>
          </a:solidFill>
          <a:ln w="12700">
            <a:solidFill>
              <a:srgbClr val="D4A017"/>
            </a:solidFill>
            <a:prstDash val="solid"/>
          </a:ln>
        </p:spPr>
      </p:sp>
      <p:sp>
        <p:nvSpPr>
          <p:cNvPr id="37" name="Text 35"/>
          <p:cNvSpPr/>
          <p:nvPr/>
        </p:nvSpPr>
        <p:spPr>
          <a:xfrm>
            <a:off x="530352" y="4133088"/>
            <a:ext cx="3749040" cy="274320"/>
          </a:xfrm>
          <a:prstGeom prst="rect">
            <a:avLst/>
          </a:prstGeom>
          <a:noFill/>
          <a:ln/>
        </p:spPr>
        <p:txBody>
          <a:bodyPr wrap="square" rtlCol="0" anchor="ctr"/>
          <a:lstStyle/>
          <a:p>
            <a:pPr marL="0" indent="0">
              <a:buNone/>
            </a:pPr>
            <a:r>
              <a:rPr lang="en-US" sz="950" dirty="0">
                <a:solidFill>
                  <a:srgbClr val="2D3748"/>
                </a:solidFill>
              </a:rPr>
              <a:t>DOT — Tourism density &amp; annual visitor statistics (La Union)</a:t>
            </a:r>
            <a:endParaRPr lang="en-US" sz="950" dirty="0"/>
          </a:p>
        </p:txBody>
      </p:sp>
      <p:sp>
        <p:nvSpPr>
          <p:cNvPr id="38" name="Shape 36"/>
          <p:cNvSpPr/>
          <p:nvPr/>
        </p:nvSpPr>
        <p:spPr>
          <a:xfrm>
            <a:off x="347472" y="4507992"/>
            <a:ext cx="118872" cy="118872"/>
          </a:xfrm>
          <a:prstGeom prst="ellipse">
            <a:avLst/>
          </a:prstGeom>
          <a:solidFill>
            <a:srgbClr val="D4A017"/>
          </a:solidFill>
          <a:ln w="12700">
            <a:solidFill>
              <a:srgbClr val="D4A017"/>
            </a:solidFill>
            <a:prstDash val="solid"/>
          </a:ln>
        </p:spPr>
      </p:sp>
      <p:sp>
        <p:nvSpPr>
          <p:cNvPr id="39" name="Text 37"/>
          <p:cNvSpPr/>
          <p:nvPr/>
        </p:nvSpPr>
        <p:spPr>
          <a:xfrm>
            <a:off x="530352" y="4453128"/>
            <a:ext cx="3749040" cy="274320"/>
          </a:xfrm>
          <a:prstGeom prst="rect">
            <a:avLst/>
          </a:prstGeom>
          <a:noFill/>
          <a:ln/>
        </p:spPr>
        <p:txBody>
          <a:bodyPr wrap="square" rtlCol="0" anchor="ctr"/>
          <a:lstStyle/>
          <a:p>
            <a:pPr marL="0" indent="0">
              <a:buNone/>
            </a:pPr>
            <a:r>
              <a:rPr lang="en-US" sz="950" dirty="0">
                <a:solidFill>
                  <a:srgbClr val="2D3748"/>
                </a:solidFill>
              </a:rPr>
              <a:t>Social media APIs — Property sentiment (filtered &amp; anonymized)</a:t>
            </a:r>
            <a:endParaRPr lang="en-US" sz="950" dirty="0"/>
          </a:p>
        </p:txBody>
      </p:sp>
      <p:sp>
        <p:nvSpPr>
          <p:cNvPr id="40" name="Shape 38"/>
          <p:cNvSpPr/>
          <p:nvPr/>
        </p:nvSpPr>
        <p:spPr>
          <a:xfrm>
            <a:off x="4617720" y="2487168"/>
            <a:ext cx="4297680" cy="22860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41" name="Shape 39"/>
          <p:cNvSpPr/>
          <p:nvPr/>
        </p:nvSpPr>
        <p:spPr>
          <a:xfrm>
            <a:off x="4617720" y="2487168"/>
            <a:ext cx="4297680" cy="347472"/>
          </a:xfrm>
          <a:prstGeom prst="rect">
            <a:avLst/>
          </a:prstGeom>
          <a:solidFill>
            <a:srgbClr val="2A3F6F"/>
          </a:solidFill>
          <a:ln w="12700">
            <a:solidFill>
              <a:srgbClr val="2A3F6F"/>
            </a:solidFill>
            <a:prstDash val="solid"/>
          </a:ln>
        </p:spPr>
      </p:sp>
      <p:sp>
        <p:nvSpPr>
          <p:cNvPr id="42" name="Text 40"/>
          <p:cNvSpPr/>
          <p:nvPr/>
        </p:nvSpPr>
        <p:spPr>
          <a:xfrm>
            <a:off x="4709160" y="2487168"/>
            <a:ext cx="4114800" cy="347472"/>
          </a:xfrm>
          <a:prstGeom prst="rect">
            <a:avLst/>
          </a:prstGeom>
          <a:noFill/>
          <a:ln/>
        </p:spPr>
        <p:txBody>
          <a:bodyPr wrap="square" lIns="0" tIns="0" rIns="0" bIns="0" rtlCol="0" anchor="ctr"/>
          <a:lstStyle/>
          <a:p>
            <a:pPr marL="0" indent="0">
              <a:buNone/>
            </a:pPr>
            <a:r>
              <a:rPr lang="en-US" sz="1200" b="1" dirty="0">
                <a:solidFill>
                  <a:srgbClr val="FFFFFF"/>
                </a:solidFill>
              </a:rPr>
              <a:t>Evaluation Metrics &amp; Validation</a:t>
            </a:r>
            <a:endParaRPr lang="en-US" sz="1200" dirty="0"/>
          </a:p>
        </p:txBody>
      </p:sp>
      <p:sp>
        <p:nvSpPr>
          <p:cNvPr id="43" name="Shape 41"/>
          <p:cNvSpPr/>
          <p:nvPr/>
        </p:nvSpPr>
        <p:spPr>
          <a:xfrm>
            <a:off x="4709160" y="2907792"/>
            <a:ext cx="822960" cy="274320"/>
          </a:xfrm>
          <a:prstGeom prst="rect">
            <a:avLst/>
          </a:prstGeom>
          <a:solidFill>
            <a:srgbClr val="D4A017"/>
          </a:solidFill>
          <a:ln w="12700">
            <a:solidFill>
              <a:srgbClr val="D4A017"/>
            </a:solidFill>
            <a:prstDash val="solid"/>
          </a:ln>
        </p:spPr>
      </p:sp>
      <p:sp>
        <p:nvSpPr>
          <p:cNvPr id="44" name="Text 42"/>
          <p:cNvSpPr/>
          <p:nvPr/>
        </p:nvSpPr>
        <p:spPr>
          <a:xfrm>
            <a:off x="4709160" y="2907792"/>
            <a:ext cx="822960" cy="274320"/>
          </a:xfrm>
          <a:prstGeom prst="rect">
            <a:avLst/>
          </a:prstGeom>
          <a:noFill/>
          <a:ln/>
        </p:spPr>
        <p:txBody>
          <a:bodyPr wrap="square" lIns="0" tIns="0" rIns="0" bIns="0" rtlCol="0" anchor="ctr"/>
          <a:lstStyle/>
          <a:p>
            <a:pPr marL="0" indent="0" algn="ctr">
              <a:buNone/>
            </a:pPr>
            <a:r>
              <a:rPr lang="en-US" sz="850" b="1" dirty="0">
                <a:solidFill>
                  <a:srgbClr val="1B2A4A"/>
                </a:solidFill>
              </a:rPr>
              <a:t>RMSE</a:t>
            </a:r>
            <a:endParaRPr lang="en-US" sz="850" dirty="0"/>
          </a:p>
        </p:txBody>
      </p:sp>
      <p:sp>
        <p:nvSpPr>
          <p:cNvPr id="45" name="Text 43"/>
          <p:cNvSpPr/>
          <p:nvPr/>
        </p:nvSpPr>
        <p:spPr>
          <a:xfrm>
            <a:off x="5596128" y="2907792"/>
            <a:ext cx="3246120" cy="274320"/>
          </a:xfrm>
          <a:prstGeom prst="rect">
            <a:avLst/>
          </a:prstGeom>
          <a:noFill/>
          <a:ln/>
        </p:spPr>
        <p:txBody>
          <a:bodyPr wrap="square" rtlCol="0" anchor="ctr"/>
          <a:lstStyle/>
          <a:p>
            <a:pPr marL="0" indent="0">
              <a:buNone/>
            </a:pPr>
            <a:r>
              <a:rPr lang="en-US" sz="900" dirty="0">
                <a:solidFill>
                  <a:srgbClr val="2D3748"/>
                </a:solidFill>
              </a:rPr>
              <a:t>Root Mean Squared Error — primary prediction accuracy metric</a:t>
            </a:r>
            <a:endParaRPr lang="en-US" sz="900" dirty="0"/>
          </a:p>
        </p:txBody>
      </p:sp>
      <p:sp>
        <p:nvSpPr>
          <p:cNvPr id="46" name="Shape 44"/>
          <p:cNvSpPr/>
          <p:nvPr/>
        </p:nvSpPr>
        <p:spPr>
          <a:xfrm>
            <a:off x="4709160" y="3273552"/>
            <a:ext cx="822960" cy="274320"/>
          </a:xfrm>
          <a:prstGeom prst="rect">
            <a:avLst/>
          </a:prstGeom>
          <a:solidFill>
            <a:srgbClr val="D4A017"/>
          </a:solidFill>
          <a:ln w="12700">
            <a:solidFill>
              <a:srgbClr val="D4A017"/>
            </a:solidFill>
            <a:prstDash val="solid"/>
          </a:ln>
        </p:spPr>
      </p:sp>
      <p:sp>
        <p:nvSpPr>
          <p:cNvPr id="47" name="Text 45"/>
          <p:cNvSpPr/>
          <p:nvPr/>
        </p:nvSpPr>
        <p:spPr>
          <a:xfrm>
            <a:off x="4709160" y="3273552"/>
            <a:ext cx="822960" cy="274320"/>
          </a:xfrm>
          <a:prstGeom prst="rect">
            <a:avLst/>
          </a:prstGeom>
          <a:noFill/>
          <a:ln/>
        </p:spPr>
        <p:txBody>
          <a:bodyPr wrap="square" lIns="0" tIns="0" rIns="0" bIns="0" rtlCol="0" anchor="ctr"/>
          <a:lstStyle/>
          <a:p>
            <a:pPr marL="0" indent="0" algn="ctr">
              <a:buNone/>
            </a:pPr>
            <a:r>
              <a:rPr lang="en-US" sz="850" b="1" dirty="0">
                <a:solidFill>
                  <a:srgbClr val="1B2A4A"/>
                </a:solidFill>
              </a:rPr>
              <a:t>MAE</a:t>
            </a:r>
            <a:endParaRPr lang="en-US" sz="850" dirty="0"/>
          </a:p>
        </p:txBody>
      </p:sp>
      <p:sp>
        <p:nvSpPr>
          <p:cNvPr id="48" name="Text 46"/>
          <p:cNvSpPr/>
          <p:nvPr/>
        </p:nvSpPr>
        <p:spPr>
          <a:xfrm>
            <a:off x="5596128" y="3273552"/>
            <a:ext cx="3246120" cy="274320"/>
          </a:xfrm>
          <a:prstGeom prst="rect">
            <a:avLst/>
          </a:prstGeom>
          <a:noFill/>
          <a:ln/>
        </p:spPr>
        <p:txBody>
          <a:bodyPr wrap="square" rtlCol="0" anchor="ctr"/>
          <a:lstStyle/>
          <a:p>
            <a:pPr marL="0" indent="0">
              <a:buNone/>
            </a:pPr>
            <a:r>
              <a:rPr lang="en-US" sz="900" dirty="0">
                <a:solidFill>
                  <a:srgbClr val="2D3748"/>
                </a:solidFill>
              </a:rPr>
              <a:t>Mean Absolute Error — avg. absolute divergence from true price</a:t>
            </a:r>
            <a:endParaRPr lang="en-US" sz="900" dirty="0"/>
          </a:p>
        </p:txBody>
      </p:sp>
      <p:sp>
        <p:nvSpPr>
          <p:cNvPr id="49" name="Shape 47"/>
          <p:cNvSpPr/>
          <p:nvPr/>
        </p:nvSpPr>
        <p:spPr>
          <a:xfrm>
            <a:off x="4709160" y="3639312"/>
            <a:ext cx="822960" cy="274320"/>
          </a:xfrm>
          <a:prstGeom prst="rect">
            <a:avLst/>
          </a:prstGeom>
          <a:solidFill>
            <a:srgbClr val="D4A017"/>
          </a:solidFill>
          <a:ln w="12700">
            <a:solidFill>
              <a:srgbClr val="D4A017"/>
            </a:solidFill>
            <a:prstDash val="solid"/>
          </a:ln>
        </p:spPr>
      </p:sp>
      <p:sp>
        <p:nvSpPr>
          <p:cNvPr id="50" name="Text 48"/>
          <p:cNvSpPr/>
          <p:nvPr/>
        </p:nvSpPr>
        <p:spPr>
          <a:xfrm>
            <a:off x="4709160" y="3639312"/>
            <a:ext cx="822960" cy="274320"/>
          </a:xfrm>
          <a:prstGeom prst="rect">
            <a:avLst/>
          </a:prstGeom>
          <a:noFill/>
          <a:ln/>
        </p:spPr>
        <p:txBody>
          <a:bodyPr wrap="square" lIns="0" tIns="0" rIns="0" bIns="0" rtlCol="0" anchor="ctr"/>
          <a:lstStyle/>
          <a:p>
            <a:pPr marL="0" indent="0" algn="ctr">
              <a:buNone/>
            </a:pPr>
            <a:r>
              <a:rPr lang="en-US" sz="850" b="1" dirty="0">
                <a:solidFill>
                  <a:srgbClr val="1B2A4A"/>
                </a:solidFill>
              </a:rPr>
              <a:t>σ&lt;0.05</a:t>
            </a:r>
            <a:endParaRPr lang="en-US" sz="850" dirty="0"/>
          </a:p>
        </p:txBody>
      </p:sp>
      <p:sp>
        <p:nvSpPr>
          <p:cNvPr id="51" name="Text 49"/>
          <p:cNvSpPr/>
          <p:nvPr/>
        </p:nvSpPr>
        <p:spPr>
          <a:xfrm>
            <a:off x="5596128" y="3639312"/>
            <a:ext cx="3246120" cy="274320"/>
          </a:xfrm>
          <a:prstGeom prst="rect">
            <a:avLst/>
          </a:prstGeom>
          <a:noFill/>
          <a:ln/>
        </p:spPr>
        <p:txBody>
          <a:bodyPr wrap="square" rtlCol="0" anchor="ctr"/>
          <a:lstStyle/>
          <a:p>
            <a:pPr marL="0" indent="0">
              <a:buNone/>
            </a:pPr>
            <a:r>
              <a:rPr lang="en-US" sz="900" dirty="0">
                <a:solidFill>
                  <a:srgbClr val="2D3748"/>
                </a:solidFill>
              </a:rPr>
              <a:t>Variance threshold — our key predictive stability benchmark</a:t>
            </a:r>
            <a:endParaRPr lang="en-US" sz="900" dirty="0"/>
          </a:p>
        </p:txBody>
      </p:sp>
      <p:sp>
        <p:nvSpPr>
          <p:cNvPr id="52" name="Shape 50"/>
          <p:cNvSpPr/>
          <p:nvPr/>
        </p:nvSpPr>
        <p:spPr>
          <a:xfrm>
            <a:off x="4709160" y="4005072"/>
            <a:ext cx="822960" cy="274320"/>
          </a:xfrm>
          <a:prstGeom prst="rect">
            <a:avLst/>
          </a:prstGeom>
          <a:solidFill>
            <a:srgbClr val="D4A017"/>
          </a:solidFill>
          <a:ln w="12700">
            <a:solidFill>
              <a:srgbClr val="D4A017"/>
            </a:solidFill>
            <a:prstDash val="solid"/>
          </a:ln>
        </p:spPr>
      </p:sp>
      <p:sp>
        <p:nvSpPr>
          <p:cNvPr id="53" name="Text 51"/>
          <p:cNvSpPr/>
          <p:nvPr/>
        </p:nvSpPr>
        <p:spPr>
          <a:xfrm>
            <a:off x="4709160" y="4005072"/>
            <a:ext cx="822960" cy="274320"/>
          </a:xfrm>
          <a:prstGeom prst="rect">
            <a:avLst/>
          </a:prstGeom>
          <a:noFill/>
          <a:ln/>
        </p:spPr>
        <p:txBody>
          <a:bodyPr wrap="square" lIns="0" tIns="0" rIns="0" bIns="0" rtlCol="0" anchor="ctr"/>
          <a:lstStyle/>
          <a:p>
            <a:pPr marL="0" indent="0" algn="ctr">
              <a:buNone/>
            </a:pPr>
            <a:r>
              <a:rPr lang="en-US" sz="850" b="1" dirty="0">
                <a:solidFill>
                  <a:srgbClr val="1B2A4A"/>
                </a:solidFill>
              </a:rPr>
              <a:t>FP Rate</a:t>
            </a:r>
            <a:endParaRPr lang="en-US" sz="850" dirty="0"/>
          </a:p>
        </p:txBody>
      </p:sp>
      <p:sp>
        <p:nvSpPr>
          <p:cNvPr id="54" name="Text 52"/>
          <p:cNvSpPr/>
          <p:nvPr/>
        </p:nvSpPr>
        <p:spPr>
          <a:xfrm>
            <a:off x="5596128" y="4005072"/>
            <a:ext cx="3246120" cy="274320"/>
          </a:xfrm>
          <a:prstGeom prst="rect">
            <a:avLst/>
          </a:prstGeom>
          <a:noFill/>
          <a:ln/>
        </p:spPr>
        <p:txBody>
          <a:bodyPr wrap="square" rtlCol="0" anchor="ctr"/>
          <a:lstStyle/>
          <a:p>
            <a:pPr marL="0" indent="0">
              <a:buNone/>
            </a:pPr>
            <a:r>
              <a:rPr lang="en-US" sz="900" dirty="0">
                <a:solidFill>
                  <a:srgbClr val="2D3748"/>
                </a:solidFill>
              </a:rPr>
              <a:t>False-positive investment signal rate — reduced via cultural layer</a:t>
            </a:r>
            <a:endParaRPr lang="en-US" sz="900" dirty="0"/>
          </a:p>
        </p:txBody>
      </p:sp>
      <p:sp>
        <p:nvSpPr>
          <p:cNvPr id="55" name="Shape 53"/>
          <p:cNvSpPr/>
          <p:nvPr/>
        </p:nvSpPr>
        <p:spPr>
          <a:xfrm>
            <a:off x="4709160" y="4370832"/>
            <a:ext cx="822960" cy="274320"/>
          </a:xfrm>
          <a:prstGeom prst="rect">
            <a:avLst/>
          </a:prstGeom>
          <a:solidFill>
            <a:srgbClr val="D4A017"/>
          </a:solidFill>
          <a:ln w="12700">
            <a:solidFill>
              <a:srgbClr val="D4A017"/>
            </a:solidFill>
            <a:prstDash val="solid"/>
          </a:ln>
        </p:spPr>
      </p:sp>
      <p:sp>
        <p:nvSpPr>
          <p:cNvPr id="56" name="Text 54"/>
          <p:cNvSpPr/>
          <p:nvPr/>
        </p:nvSpPr>
        <p:spPr>
          <a:xfrm>
            <a:off x="4709160" y="4370832"/>
            <a:ext cx="822960" cy="274320"/>
          </a:xfrm>
          <a:prstGeom prst="rect">
            <a:avLst/>
          </a:prstGeom>
          <a:noFill/>
          <a:ln/>
        </p:spPr>
        <p:txBody>
          <a:bodyPr wrap="square" lIns="0" tIns="0" rIns="0" bIns="0" rtlCol="0" anchor="ctr"/>
          <a:lstStyle/>
          <a:p>
            <a:pPr marL="0" indent="0" algn="ctr">
              <a:buNone/>
            </a:pPr>
            <a:r>
              <a:rPr lang="en-US" sz="850" b="1" dirty="0">
                <a:solidFill>
                  <a:srgbClr val="1B2A4A"/>
                </a:solidFill>
              </a:rPr>
              <a:t>Lit. Check</a:t>
            </a:r>
            <a:endParaRPr lang="en-US" sz="850" dirty="0"/>
          </a:p>
        </p:txBody>
      </p:sp>
      <p:sp>
        <p:nvSpPr>
          <p:cNvPr id="57" name="Text 55"/>
          <p:cNvSpPr/>
          <p:nvPr/>
        </p:nvSpPr>
        <p:spPr>
          <a:xfrm>
            <a:off x="5596128" y="4370832"/>
            <a:ext cx="3246120" cy="274320"/>
          </a:xfrm>
          <a:prstGeom prst="rect">
            <a:avLst/>
          </a:prstGeom>
          <a:noFill/>
          <a:ln/>
        </p:spPr>
        <p:txBody>
          <a:bodyPr wrap="square" rtlCol="0" anchor="ctr"/>
          <a:lstStyle/>
          <a:p>
            <a:pPr marL="0" indent="0">
              <a:buNone/>
            </a:pPr>
            <a:r>
              <a:rPr lang="en-US" sz="900" dirty="0">
                <a:solidFill>
                  <a:srgbClr val="2D3748"/>
                </a:solidFill>
              </a:rPr>
              <a:t>2025 benchmark predictions cross-validated vs. JLL / CBRE / PSA reports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Case Study: La Union &amp; Iloilo — Secondary Metropolitan Areas</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9 / 16</a:t>
            </a:r>
            <a:endParaRPr lang="en-US" sz="750" dirty="0"/>
          </a:p>
        </p:txBody>
      </p:sp>
      <p:sp>
        <p:nvSpPr>
          <p:cNvPr id="8" name="Shape 6"/>
          <p:cNvSpPr/>
          <p:nvPr/>
        </p:nvSpPr>
        <p:spPr>
          <a:xfrm>
            <a:off x="228600" y="987552"/>
            <a:ext cx="8686800" cy="438912"/>
          </a:xfrm>
          <a:prstGeom prst="rect">
            <a:avLst/>
          </a:prstGeom>
          <a:solidFill>
            <a:srgbClr val="1B2A4A"/>
          </a:solidFill>
          <a:ln w="12700">
            <a:solidFill>
              <a:srgbClr val="1B2A4A"/>
            </a:solidFill>
            <a:prstDash val="solid"/>
          </a:ln>
        </p:spPr>
      </p:sp>
      <p:sp>
        <p:nvSpPr>
          <p:cNvPr id="9" name="Text 7"/>
          <p:cNvSpPr/>
          <p:nvPr/>
        </p:nvSpPr>
        <p:spPr>
          <a:xfrm>
            <a:off x="320040" y="987552"/>
            <a:ext cx="8503920" cy="438912"/>
          </a:xfrm>
          <a:prstGeom prst="rect">
            <a:avLst/>
          </a:prstGeom>
          <a:noFill/>
          <a:ln/>
        </p:spPr>
        <p:txBody>
          <a:bodyPr wrap="square" lIns="0" tIns="0" rIns="0" bIns="0" rtlCol="0" anchor="ctr"/>
          <a:lstStyle/>
          <a:p>
            <a:pPr marL="0" indent="0" algn="ctr">
              <a:buNone/>
            </a:pPr>
            <a:r>
              <a:rPr lang="en-US" sz="1050" i="1" dirty="0">
                <a:solidFill>
                  <a:srgbClr val="F0C84A"/>
                </a:solidFill>
              </a:rPr>
              <a:t>Why secondary markets? The real investment opportunity lies where data is sparse but growth is accelerating — between the data void and the value frontier.</a:t>
            </a:r>
            <a:endParaRPr lang="en-US" sz="1050" dirty="0"/>
          </a:p>
        </p:txBody>
      </p:sp>
      <p:sp>
        <p:nvSpPr>
          <p:cNvPr id="10" name="Shape 8"/>
          <p:cNvSpPr/>
          <p:nvPr/>
        </p:nvSpPr>
        <p:spPr>
          <a:xfrm>
            <a:off x="228600" y="1499616"/>
            <a:ext cx="4160520" cy="32461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1" name="Shape 9"/>
          <p:cNvSpPr/>
          <p:nvPr/>
        </p:nvSpPr>
        <p:spPr>
          <a:xfrm>
            <a:off x="228600" y="1499616"/>
            <a:ext cx="4160520" cy="402336"/>
          </a:xfrm>
          <a:prstGeom prst="rect">
            <a:avLst/>
          </a:prstGeom>
          <a:solidFill>
            <a:srgbClr val="1B5E8C"/>
          </a:solidFill>
          <a:ln w="12700">
            <a:solidFill>
              <a:srgbClr val="1B5E8C"/>
            </a:solidFill>
            <a:prstDash val="solid"/>
          </a:ln>
        </p:spPr>
      </p:sp>
      <p:sp>
        <p:nvSpPr>
          <p:cNvPr id="12" name="Text 10"/>
          <p:cNvSpPr/>
          <p:nvPr/>
        </p:nvSpPr>
        <p:spPr>
          <a:xfrm>
            <a:off x="320040" y="1499616"/>
            <a:ext cx="3977640"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La Union  ·  Luzon  ·  Surf Tourism Hub</a:t>
            </a:r>
            <a:endParaRPr lang="en-US" sz="1300" dirty="0"/>
          </a:p>
        </p:txBody>
      </p:sp>
      <p:sp>
        <p:nvSpPr>
          <p:cNvPr id="13" name="Text 11"/>
          <p:cNvSpPr/>
          <p:nvPr/>
        </p:nvSpPr>
        <p:spPr>
          <a:xfrm>
            <a:off x="365760" y="1984248"/>
            <a:ext cx="3840480" cy="237744"/>
          </a:xfrm>
          <a:prstGeom prst="rect">
            <a:avLst/>
          </a:prstGeom>
          <a:noFill/>
          <a:ln/>
        </p:spPr>
        <p:txBody>
          <a:bodyPr wrap="square" rtlCol="0" anchor="ctr"/>
          <a:lstStyle/>
          <a:p>
            <a:pPr marL="0" indent="0">
              <a:buNone/>
            </a:pPr>
            <a:r>
              <a:rPr lang="en-US" sz="1000" b="1" dirty="0">
                <a:solidFill>
                  <a:srgbClr val="1B2A4A"/>
                </a:solidFill>
              </a:rPr>
              <a:t>Market Dynamics:</a:t>
            </a:r>
            <a:endParaRPr lang="en-US" sz="1000" dirty="0"/>
          </a:p>
        </p:txBody>
      </p:sp>
      <p:sp>
        <p:nvSpPr>
          <p:cNvPr id="14" name="Text 12"/>
          <p:cNvSpPr/>
          <p:nvPr/>
        </p:nvSpPr>
        <p:spPr>
          <a:xfrm>
            <a:off x="365760" y="2212848"/>
            <a:ext cx="3840480" cy="402336"/>
          </a:xfrm>
          <a:prstGeom prst="rect">
            <a:avLst/>
          </a:prstGeom>
          <a:noFill/>
          <a:ln/>
        </p:spPr>
        <p:txBody>
          <a:bodyPr wrap="square" rtlCol="0" anchor="ctr"/>
          <a:lstStyle/>
          <a:p>
            <a:pPr marL="0" indent="0">
              <a:buNone/>
            </a:pPr>
            <a:r>
              <a:rPr lang="en-US" sz="900" dirty="0">
                <a:solidFill>
                  <a:srgbClr val="2D3748"/>
                </a:solidFill>
              </a:rPr>
              <a:t>Tourism-driven demand creates high short-term rental premiums. Beach-adjacent properties command 2–3× traditional residential yields.</a:t>
            </a:r>
            <a:endParaRPr lang="en-US" sz="900" dirty="0"/>
          </a:p>
        </p:txBody>
      </p:sp>
      <p:sp>
        <p:nvSpPr>
          <p:cNvPr id="15" name="Text 13"/>
          <p:cNvSpPr/>
          <p:nvPr/>
        </p:nvSpPr>
        <p:spPr>
          <a:xfrm>
            <a:off x="365760" y="2660904"/>
            <a:ext cx="3840480" cy="237744"/>
          </a:xfrm>
          <a:prstGeom prst="rect">
            <a:avLst/>
          </a:prstGeom>
          <a:noFill/>
          <a:ln/>
        </p:spPr>
        <p:txBody>
          <a:bodyPr wrap="square" rtlCol="0" anchor="ctr"/>
          <a:lstStyle/>
          <a:p>
            <a:pPr marL="0" indent="0">
              <a:buNone/>
            </a:pPr>
            <a:r>
              <a:rPr lang="en-US" sz="1000" b="1" dirty="0">
                <a:solidFill>
                  <a:srgbClr val="1B2A4A"/>
                </a:solidFill>
              </a:rPr>
              <a:t>Data Environment:</a:t>
            </a:r>
            <a:endParaRPr lang="en-US" sz="1000" dirty="0"/>
          </a:p>
        </p:txBody>
      </p:sp>
      <p:sp>
        <p:nvSpPr>
          <p:cNvPr id="16" name="Text 14"/>
          <p:cNvSpPr/>
          <p:nvPr/>
        </p:nvSpPr>
        <p:spPr>
          <a:xfrm>
            <a:off x="365760" y="2889504"/>
            <a:ext cx="3840480" cy="402336"/>
          </a:xfrm>
          <a:prstGeom prst="rect">
            <a:avLst/>
          </a:prstGeom>
          <a:noFill/>
          <a:ln/>
        </p:spPr>
        <p:txBody>
          <a:bodyPr wrap="square" rtlCol="0" anchor="ctr"/>
          <a:lstStyle/>
          <a:p>
            <a:pPr marL="0" indent="0">
              <a:buNone/>
            </a:pPr>
            <a:r>
              <a:rPr lang="en-US" sz="900" dirty="0">
                <a:solidFill>
                  <a:srgbClr val="2D3748"/>
                </a:solidFill>
              </a:rPr>
              <a:t>Fewer than 400 documented transactions/year. Zero published cap rate data. Proxy Yield Modeling is mission-critical here.</a:t>
            </a:r>
            <a:endParaRPr lang="en-US" sz="900" dirty="0"/>
          </a:p>
        </p:txBody>
      </p:sp>
      <p:sp>
        <p:nvSpPr>
          <p:cNvPr id="17" name="Text 15"/>
          <p:cNvSpPr/>
          <p:nvPr/>
        </p:nvSpPr>
        <p:spPr>
          <a:xfrm>
            <a:off x="365760" y="3337560"/>
            <a:ext cx="3840480" cy="237744"/>
          </a:xfrm>
          <a:prstGeom prst="rect">
            <a:avLst/>
          </a:prstGeom>
          <a:noFill/>
          <a:ln/>
        </p:spPr>
        <p:txBody>
          <a:bodyPr wrap="square" rtlCol="0" anchor="ctr"/>
          <a:lstStyle/>
          <a:p>
            <a:pPr marL="0" indent="0">
              <a:buNone/>
            </a:pPr>
            <a:r>
              <a:rPr lang="en-US" sz="1000" b="1" dirty="0">
                <a:solidFill>
                  <a:srgbClr val="1B2A4A"/>
                </a:solidFill>
              </a:rPr>
              <a:t>Key Value Drivers:</a:t>
            </a:r>
            <a:endParaRPr lang="en-US" sz="1000" dirty="0"/>
          </a:p>
        </p:txBody>
      </p:sp>
      <p:sp>
        <p:nvSpPr>
          <p:cNvPr id="18" name="Text 16"/>
          <p:cNvSpPr/>
          <p:nvPr/>
        </p:nvSpPr>
        <p:spPr>
          <a:xfrm>
            <a:off x="365760" y="3566160"/>
            <a:ext cx="3840480" cy="402336"/>
          </a:xfrm>
          <a:prstGeom prst="rect">
            <a:avLst/>
          </a:prstGeom>
          <a:noFill/>
          <a:ln/>
        </p:spPr>
        <p:txBody>
          <a:bodyPr wrap="square" rtlCol="0" anchor="ctr"/>
          <a:lstStyle/>
          <a:p>
            <a:pPr marL="0" indent="0">
              <a:buNone/>
            </a:pPr>
            <a:r>
              <a:rPr lang="en-US" sz="900" dirty="0">
                <a:solidFill>
                  <a:srgbClr val="2D3748"/>
                </a:solidFill>
              </a:rPr>
              <a:t>San Juan beach frontage premium · National Highway infrastructure · Benguet cold-chain corridor · Digital nomad demand growth</a:t>
            </a:r>
            <a:endParaRPr lang="en-US" sz="900" dirty="0"/>
          </a:p>
        </p:txBody>
      </p:sp>
      <p:sp>
        <p:nvSpPr>
          <p:cNvPr id="19" name="Text 17"/>
          <p:cNvSpPr/>
          <p:nvPr/>
        </p:nvSpPr>
        <p:spPr>
          <a:xfrm>
            <a:off x="365760" y="4014216"/>
            <a:ext cx="3840480" cy="237744"/>
          </a:xfrm>
          <a:prstGeom prst="rect">
            <a:avLst/>
          </a:prstGeom>
          <a:noFill/>
          <a:ln/>
        </p:spPr>
        <p:txBody>
          <a:bodyPr wrap="square" rtlCol="0" anchor="ctr"/>
          <a:lstStyle/>
          <a:p>
            <a:pPr marL="0" indent="0">
              <a:buNone/>
            </a:pPr>
            <a:r>
              <a:rPr lang="en-US" sz="1000" b="1" dirty="0">
                <a:solidFill>
                  <a:srgbClr val="1B2A4A"/>
                </a:solidFill>
              </a:rPr>
              <a:t>Unique Challenge:</a:t>
            </a:r>
            <a:endParaRPr lang="en-US" sz="1000" dirty="0"/>
          </a:p>
        </p:txBody>
      </p:sp>
      <p:sp>
        <p:nvSpPr>
          <p:cNvPr id="20" name="Text 18"/>
          <p:cNvSpPr/>
          <p:nvPr/>
        </p:nvSpPr>
        <p:spPr>
          <a:xfrm>
            <a:off x="365760" y="4242816"/>
            <a:ext cx="3840480" cy="402336"/>
          </a:xfrm>
          <a:prstGeom prst="rect">
            <a:avLst/>
          </a:prstGeom>
          <a:noFill/>
          <a:ln/>
        </p:spPr>
        <p:txBody>
          <a:bodyPr wrap="square" rtlCol="0" anchor="ctr"/>
          <a:lstStyle/>
          <a:p>
            <a:pPr marL="0" indent="0">
              <a:buNone/>
            </a:pPr>
            <a:r>
              <a:rPr lang="en-US" sz="900" dirty="0">
                <a:solidFill>
                  <a:srgbClr val="2D3748"/>
                </a:solidFill>
              </a:rPr>
              <a:t>Informal pricing: beach-adjacent deals negotiated off-market. Sentiment index detects these via barangay-level social media monitoring.</a:t>
            </a:r>
            <a:endParaRPr lang="en-US" sz="900" dirty="0"/>
          </a:p>
        </p:txBody>
      </p:sp>
      <p:sp>
        <p:nvSpPr>
          <p:cNvPr id="21" name="Shape 19"/>
          <p:cNvSpPr/>
          <p:nvPr/>
        </p:nvSpPr>
        <p:spPr>
          <a:xfrm>
            <a:off x="4617720" y="1499616"/>
            <a:ext cx="4297680" cy="32461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2" name="Shape 20"/>
          <p:cNvSpPr/>
          <p:nvPr/>
        </p:nvSpPr>
        <p:spPr>
          <a:xfrm>
            <a:off x="4617720" y="1499616"/>
            <a:ext cx="4297680" cy="402336"/>
          </a:xfrm>
          <a:prstGeom prst="rect">
            <a:avLst/>
          </a:prstGeom>
          <a:solidFill>
            <a:srgbClr val="1B6B3A"/>
          </a:solidFill>
          <a:ln w="12700">
            <a:solidFill>
              <a:srgbClr val="1B6B3A"/>
            </a:solidFill>
            <a:prstDash val="solid"/>
          </a:ln>
        </p:spPr>
      </p:sp>
      <p:sp>
        <p:nvSpPr>
          <p:cNvPr id="23" name="Text 21"/>
          <p:cNvSpPr/>
          <p:nvPr/>
        </p:nvSpPr>
        <p:spPr>
          <a:xfrm>
            <a:off x="4709160" y="1499616"/>
            <a:ext cx="4114800" cy="402336"/>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Iloilo City  ·  Visayas  ·  Emerging Tech Hub</a:t>
            </a:r>
            <a:endParaRPr lang="en-US" sz="1300" dirty="0"/>
          </a:p>
        </p:txBody>
      </p:sp>
      <p:sp>
        <p:nvSpPr>
          <p:cNvPr id="24" name="Text 22"/>
          <p:cNvSpPr/>
          <p:nvPr/>
        </p:nvSpPr>
        <p:spPr>
          <a:xfrm>
            <a:off x="4754880" y="1984248"/>
            <a:ext cx="4023360" cy="237744"/>
          </a:xfrm>
          <a:prstGeom prst="rect">
            <a:avLst/>
          </a:prstGeom>
          <a:noFill/>
          <a:ln/>
        </p:spPr>
        <p:txBody>
          <a:bodyPr wrap="square" rtlCol="0" anchor="ctr"/>
          <a:lstStyle/>
          <a:p>
            <a:pPr marL="0" indent="0">
              <a:buNone/>
            </a:pPr>
            <a:r>
              <a:rPr lang="en-US" sz="1000" b="1" dirty="0">
                <a:solidFill>
                  <a:srgbClr val="1B2A4A"/>
                </a:solidFill>
              </a:rPr>
              <a:t>Market Dynamics:</a:t>
            </a:r>
            <a:endParaRPr lang="en-US" sz="1000" dirty="0"/>
          </a:p>
        </p:txBody>
      </p:sp>
      <p:sp>
        <p:nvSpPr>
          <p:cNvPr id="25" name="Text 23"/>
          <p:cNvSpPr/>
          <p:nvPr/>
        </p:nvSpPr>
        <p:spPr>
          <a:xfrm>
            <a:off x="4754880" y="2212848"/>
            <a:ext cx="4023360" cy="402336"/>
          </a:xfrm>
          <a:prstGeom prst="rect">
            <a:avLst/>
          </a:prstGeom>
          <a:noFill/>
          <a:ln/>
        </p:spPr>
        <p:txBody>
          <a:bodyPr wrap="square" rtlCol="0" anchor="ctr"/>
          <a:lstStyle/>
          <a:p>
            <a:pPr marL="0" indent="0">
              <a:buNone/>
            </a:pPr>
            <a:r>
              <a:rPr lang="en-US" sz="900" dirty="0">
                <a:solidFill>
                  <a:srgbClr val="2D3748"/>
                </a:solidFill>
              </a:rPr>
              <a:t>Megaworld Iloilo Business Park and ICT corridors drive rapid commercial-residential spillover. Township premiums of 20–35% documented.</a:t>
            </a:r>
            <a:endParaRPr lang="en-US" sz="900" dirty="0"/>
          </a:p>
        </p:txBody>
      </p:sp>
      <p:sp>
        <p:nvSpPr>
          <p:cNvPr id="26" name="Text 24"/>
          <p:cNvSpPr/>
          <p:nvPr/>
        </p:nvSpPr>
        <p:spPr>
          <a:xfrm>
            <a:off x="4754880" y="2660904"/>
            <a:ext cx="4023360" cy="237744"/>
          </a:xfrm>
          <a:prstGeom prst="rect">
            <a:avLst/>
          </a:prstGeom>
          <a:noFill/>
          <a:ln/>
        </p:spPr>
        <p:txBody>
          <a:bodyPr wrap="square" rtlCol="0" anchor="ctr"/>
          <a:lstStyle/>
          <a:p>
            <a:pPr marL="0" indent="0">
              <a:buNone/>
            </a:pPr>
            <a:r>
              <a:rPr lang="en-US" sz="1000" b="1" dirty="0">
                <a:solidFill>
                  <a:srgbClr val="1B2A4A"/>
                </a:solidFill>
              </a:rPr>
              <a:t>Data Environment:</a:t>
            </a:r>
            <a:endParaRPr lang="en-US" sz="1000" dirty="0"/>
          </a:p>
        </p:txBody>
      </p:sp>
      <p:sp>
        <p:nvSpPr>
          <p:cNvPr id="27" name="Text 25"/>
          <p:cNvSpPr/>
          <p:nvPr/>
        </p:nvSpPr>
        <p:spPr>
          <a:xfrm>
            <a:off x="4754880" y="2889504"/>
            <a:ext cx="4023360" cy="402336"/>
          </a:xfrm>
          <a:prstGeom prst="rect">
            <a:avLst/>
          </a:prstGeom>
          <a:noFill/>
          <a:ln/>
        </p:spPr>
        <p:txBody>
          <a:bodyPr wrap="square" rtlCol="0" anchor="ctr"/>
          <a:lstStyle/>
          <a:p>
            <a:pPr marL="0" indent="0">
              <a:buNone/>
            </a:pPr>
            <a:r>
              <a:rPr lang="en-US" sz="900" dirty="0">
                <a:solidFill>
                  <a:srgbClr val="2D3748"/>
                </a:solidFill>
              </a:rPr>
              <a:t>~900 transactions/year but concentrated in Megaworld developments. Secondary market data remains extremely sparse.</a:t>
            </a:r>
            <a:endParaRPr lang="en-US" sz="900" dirty="0"/>
          </a:p>
        </p:txBody>
      </p:sp>
      <p:sp>
        <p:nvSpPr>
          <p:cNvPr id="28" name="Text 26"/>
          <p:cNvSpPr/>
          <p:nvPr/>
        </p:nvSpPr>
        <p:spPr>
          <a:xfrm>
            <a:off x="4754880" y="3337560"/>
            <a:ext cx="4023360" cy="237744"/>
          </a:xfrm>
          <a:prstGeom prst="rect">
            <a:avLst/>
          </a:prstGeom>
          <a:noFill/>
          <a:ln/>
        </p:spPr>
        <p:txBody>
          <a:bodyPr wrap="square" rtlCol="0" anchor="ctr"/>
          <a:lstStyle/>
          <a:p>
            <a:pPr marL="0" indent="0">
              <a:buNone/>
            </a:pPr>
            <a:r>
              <a:rPr lang="en-US" sz="1000" b="1" dirty="0">
                <a:solidFill>
                  <a:srgbClr val="1B2A4A"/>
                </a:solidFill>
              </a:rPr>
              <a:t>Key Value Drivers:</a:t>
            </a:r>
            <a:endParaRPr lang="en-US" sz="1000" dirty="0"/>
          </a:p>
        </p:txBody>
      </p:sp>
      <p:sp>
        <p:nvSpPr>
          <p:cNvPr id="29" name="Text 27"/>
          <p:cNvSpPr/>
          <p:nvPr/>
        </p:nvSpPr>
        <p:spPr>
          <a:xfrm>
            <a:off x="4754880" y="3566160"/>
            <a:ext cx="4023360" cy="402336"/>
          </a:xfrm>
          <a:prstGeom prst="rect">
            <a:avLst/>
          </a:prstGeom>
          <a:noFill/>
          <a:ln/>
        </p:spPr>
        <p:txBody>
          <a:bodyPr wrap="square" rtlCol="0" anchor="ctr"/>
          <a:lstStyle/>
          <a:p>
            <a:pPr marL="0" indent="0">
              <a:buNone/>
            </a:pPr>
            <a:r>
              <a:rPr lang="en-US" sz="900" dirty="0">
                <a:solidFill>
                  <a:srgbClr val="2D3748"/>
                </a:solidFill>
              </a:rPr>
              <a:t>IBP district adjacency · Port expansion (2024) · UP Visayas research ecosystem · Inter-island transport hub designation</a:t>
            </a:r>
            <a:endParaRPr lang="en-US" sz="900" dirty="0"/>
          </a:p>
        </p:txBody>
      </p:sp>
      <p:sp>
        <p:nvSpPr>
          <p:cNvPr id="30" name="Text 28"/>
          <p:cNvSpPr/>
          <p:nvPr/>
        </p:nvSpPr>
        <p:spPr>
          <a:xfrm>
            <a:off x="4754880" y="4014216"/>
            <a:ext cx="4023360" cy="237744"/>
          </a:xfrm>
          <a:prstGeom prst="rect">
            <a:avLst/>
          </a:prstGeom>
          <a:noFill/>
          <a:ln/>
        </p:spPr>
        <p:txBody>
          <a:bodyPr wrap="square" rtlCol="0" anchor="ctr"/>
          <a:lstStyle/>
          <a:p>
            <a:pPr marL="0" indent="0">
              <a:buNone/>
            </a:pPr>
            <a:r>
              <a:rPr lang="en-US" sz="1000" b="1" dirty="0">
                <a:solidFill>
                  <a:srgbClr val="1B2A4A"/>
                </a:solidFill>
              </a:rPr>
              <a:t>Unique Challenge:</a:t>
            </a:r>
            <a:endParaRPr lang="en-US" sz="1000" dirty="0"/>
          </a:p>
        </p:txBody>
      </p:sp>
      <p:sp>
        <p:nvSpPr>
          <p:cNvPr id="31" name="Text 29"/>
          <p:cNvSpPr/>
          <p:nvPr/>
        </p:nvSpPr>
        <p:spPr>
          <a:xfrm>
            <a:off x="4754880" y="4242816"/>
            <a:ext cx="4023360" cy="402336"/>
          </a:xfrm>
          <a:prstGeom prst="rect">
            <a:avLst/>
          </a:prstGeom>
          <a:noFill/>
          <a:ln/>
        </p:spPr>
        <p:txBody>
          <a:bodyPr wrap="square" rtlCol="0" anchor="ctr"/>
          <a:lstStyle/>
          <a:p>
            <a:pPr marL="0" indent="0">
              <a:buNone/>
            </a:pPr>
            <a:r>
              <a:rPr lang="en-US" sz="900" dirty="0">
                <a:solidFill>
                  <a:srgbClr val="2D3748"/>
                </a:solidFill>
              </a:rPr>
              <a:t>Rapid gentrification distorts historical prices. Transfer learning from Cebu (comparable trajectory) provides temporal anchoring.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Results: Predictive Performance</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10 / 16</a:t>
            </a:r>
            <a:endParaRPr lang="en-US" sz="750" dirty="0"/>
          </a:p>
        </p:txBody>
      </p:sp>
      <p:sp>
        <p:nvSpPr>
          <p:cNvPr id="8" name="Shape 6"/>
          <p:cNvSpPr/>
          <p:nvPr/>
        </p:nvSpPr>
        <p:spPr>
          <a:xfrm>
            <a:off x="228600" y="987552"/>
            <a:ext cx="2029968" cy="1463040"/>
          </a:xfrm>
          <a:prstGeom prst="rect">
            <a:avLst/>
          </a:prstGeom>
          <a:solidFill>
            <a:srgbClr val="1B2A4A"/>
          </a:solidFill>
          <a:ln w="12700">
            <a:solidFill>
              <a:srgbClr val="1B2A4A"/>
            </a:solidFill>
            <a:prstDash val="solid"/>
          </a:ln>
          <a:effectLst>
            <a:outerShdw blurRad="101600" dist="25400" dir="8100000" algn="bl" rotWithShape="0">
              <a:srgbClr val="000000">
                <a:alpha val="10000"/>
              </a:srgbClr>
            </a:outerShdw>
          </a:effectLst>
        </p:spPr>
      </p:sp>
      <p:sp>
        <p:nvSpPr>
          <p:cNvPr id="9" name="Text 7"/>
          <p:cNvSpPr/>
          <p:nvPr/>
        </p:nvSpPr>
        <p:spPr>
          <a:xfrm>
            <a:off x="274320" y="1024128"/>
            <a:ext cx="1938528" cy="685800"/>
          </a:xfrm>
          <a:prstGeom prst="rect">
            <a:avLst/>
          </a:prstGeom>
          <a:noFill/>
          <a:ln/>
        </p:spPr>
        <p:txBody>
          <a:bodyPr wrap="square" rtlCol="0" anchor="ctr"/>
          <a:lstStyle/>
          <a:p>
            <a:pPr marL="0" indent="0" algn="ctr">
              <a:buNone/>
            </a:pPr>
            <a:r>
              <a:rPr lang="en-US" sz="3400" b="1" dirty="0">
                <a:solidFill>
                  <a:srgbClr val="D4A017"/>
                </a:solidFill>
                <a:latin typeface="Trebuchet MS" pitchFamily="34" charset="0"/>
                <a:ea typeface="Trebuchet MS" pitchFamily="34" charset="-122"/>
                <a:cs typeface="Trebuchet MS" pitchFamily="34" charset="-120"/>
              </a:rPr>
              <a:t>σ&lt;0.05</a:t>
            </a:r>
            <a:endParaRPr lang="en-US" sz="3400" dirty="0"/>
          </a:p>
        </p:txBody>
      </p:sp>
      <p:sp>
        <p:nvSpPr>
          <p:cNvPr id="10" name="Text 8"/>
          <p:cNvSpPr/>
          <p:nvPr/>
        </p:nvSpPr>
        <p:spPr>
          <a:xfrm>
            <a:off x="274320" y="1709928"/>
            <a:ext cx="1938528" cy="274320"/>
          </a:xfrm>
          <a:prstGeom prst="rect">
            <a:avLst/>
          </a:prstGeom>
          <a:noFill/>
          <a:ln/>
        </p:spPr>
        <p:txBody>
          <a:bodyPr wrap="square" rtlCol="0" anchor="ctr"/>
          <a:lstStyle/>
          <a:p>
            <a:pPr marL="0" indent="0" algn="ctr">
              <a:buNone/>
            </a:pPr>
            <a:r>
              <a:rPr lang="en-US" sz="950" b="1" dirty="0">
                <a:solidFill>
                  <a:srgbClr val="FFFFFF"/>
                </a:solidFill>
              </a:rPr>
              <a:t>Predictive Variance</a:t>
            </a:r>
            <a:endParaRPr lang="en-US" sz="950" dirty="0"/>
          </a:p>
        </p:txBody>
      </p:sp>
      <p:sp>
        <p:nvSpPr>
          <p:cNvPr id="11" name="Text 9"/>
          <p:cNvSpPr/>
          <p:nvPr/>
        </p:nvSpPr>
        <p:spPr>
          <a:xfrm>
            <a:off x="274320" y="1984248"/>
            <a:ext cx="1938528" cy="347472"/>
          </a:xfrm>
          <a:prstGeom prst="rect">
            <a:avLst/>
          </a:prstGeom>
          <a:noFill/>
          <a:ln/>
        </p:spPr>
        <p:txBody>
          <a:bodyPr wrap="square" rtlCol="0" anchor="ctr"/>
          <a:lstStyle/>
          <a:p>
            <a:pPr marL="0" indent="0" algn="ctr">
              <a:buNone/>
            </a:pPr>
            <a:r>
              <a:rPr lang="en-US" sz="800" i="1" dirty="0">
                <a:solidFill>
                  <a:srgbClr val="F0C84A"/>
                </a:solidFill>
              </a:rPr>
              <a:t>High stability across all test periods</a:t>
            </a:r>
            <a:endParaRPr lang="en-US" sz="800" dirty="0"/>
          </a:p>
        </p:txBody>
      </p:sp>
      <p:sp>
        <p:nvSpPr>
          <p:cNvPr id="12" name="Shape 10"/>
          <p:cNvSpPr/>
          <p:nvPr/>
        </p:nvSpPr>
        <p:spPr>
          <a:xfrm>
            <a:off x="2404872" y="987552"/>
            <a:ext cx="2029968" cy="1463040"/>
          </a:xfrm>
          <a:prstGeom prst="rect">
            <a:avLst/>
          </a:prstGeom>
          <a:solidFill>
            <a:srgbClr val="1B5E8C"/>
          </a:solidFill>
          <a:ln w="12700">
            <a:solidFill>
              <a:srgbClr val="1B5E8C"/>
            </a:solidFill>
            <a:prstDash val="solid"/>
          </a:ln>
          <a:effectLst>
            <a:outerShdw blurRad="101600" dist="25400" dir="8100000" algn="bl" rotWithShape="0">
              <a:srgbClr val="000000">
                <a:alpha val="10000"/>
              </a:srgbClr>
            </a:outerShdw>
          </a:effectLst>
        </p:spPr>
      </p:sp>
      <p:sp>
        <p:nvSpPr>
          <p:cNvPr id="13" name="Text 11"/>
          <p:cNvSpPr/>
          <p:nvPr/>
        </p:nvSpPr>
        <p:spPr>
          <a:xfrm>
            <a:off x="2450592" y="1024128"/>
            <a:ext cx="1938528" cy="685800"/>
          </a:xfrm>
          <a:prstGeom prst="rect">
            <a:avLst/>
          </a:prstGeom>
          <a:noFill/>
          <a:ln/>
        </p:spPr>
        <p:txBody>
          <a:bodyPr wrap="square" rtlCol="0" anchor="ctr"/>
          <a:lstStyle/>
          <a:p>
            <a:pPr marL="0" indent="0" algn="ctr">
              <a:buNone/>
            </a:pPr>
            <a:r>
              <a:rPr lang="en-US" sz="3400" b="1" dirty="0">
                <a:solidFill>
                  <a:srgbClr val="D4A017"/>
                </a:solidFill>
                <a:latin typeface="Trebuchet MS" pitchFamily="34" charset="0"/>
                <a:ea typeface="Trebuchet MS" pitchFamily="34" charset="-122"/>
                <a:cs typeface="Trebuchet MS" pitchFamily="34" charset="-120"/>
              </a:rPr>
              <a:t>±3.8%</a:t>
            </a:r>
            <a:endParaRPr lang="en-US" sz="3400" dirty="0"/>
          </a:p>
        </p:txBody>
      </p:sp>
      <p:sp>
        <p:nvSpPr>
          <p:cNvPr id="14" name="Text 12"/>
          <p:cNvSpPr/>
          <p:nvPr/>
        </p:nvSpPr>
        <p:spPr>
          <a:xfrm>
            <a:off x="2450592" y="1709928"/>
            <a:ext cx="1938528" cy="274320"/>
          </a:xfrm>
          <a:prstGeom prst="rect">
            <a:avLst/>
          </a:prstGeom>
          <a:noFill/>
          <a:ln/>
        </p:spPr>
        <p:txBody>
          <a:bodyPr wrap="square" rtlCol="0" anchor="ctr"/>
          <a:lstStyle/>
          <a:p>
            <a:pPr marL="0" indent="0" algn="ctr">
              <a:buNone/>
            </a:pPr>
            <a:r>
              <a:rPr lang="en-US" sz="950" b="1" dirty="0">
                <a:solidFill>
                  <a:srgbClr val="FFFFFF"/>
                </a:solidFill>
              </a:rPr>
              <a:t>Mean Absolute Error</a:t>
            </a:r>
            <a:endParaRPr lang="en-US" sz="950" dirty="0"/>
          </a:p>
        </p:txBody>
      </p:sp>
      <p:sp>
        <p:nvSpPr>
          <p:cNvPr id="15" name="Text 13"/>
          <p:cNvSpPr/>
          <p:nvPr/>
        </p:nvSpPr>
        <p:spPr>
          <a:xfrm>
            <a:off x="2450592" y="1984248"/>
            <a:ext cx="1938528" cy="347472"/>
          </a:xfrm>
          <a:prstGeom prst="rect">
            <a:avLst/>
          </a:prstGeom>
          <a:noFill/>
          <a:ln/>
        </p:spPr>
        <p:txBody>
          <a:bodyPr wrap="square" rtlCol="0" anchor="ctr"/>
          <a:lstStyle/>
          <a:p>
            <a:pPr marL="0" indent="0" algn="ctr">
              <a:buNone/>
            </a:pPr>
            <a:r>
              <a:rPr lang="en-US" sz="800" i="1" dirty="0">
                <a:solidFill>
                  <a:srgbClr val="F0C84A"/>
                </a:solidFill>
              </a:rPr>
              <a:t>vs. actual 2025 market benchmarks</a:t>
            </a:r>
            <a:endParaRPr lang="en-US" sz="800" dirty="0"/>
          </a:p>
        </p:txBody>
      </p:sp>
      <p:sp>
        <p:nvSpPr>
          <p:cNvPr id="16" name="Shape 14"/>
          <p:cNvSpPr/>
          <p:nvPr/>
        </p:nvSpPr>
        <p:spPr>
          <a:xfrm>
            <a:off x="4581144" y="987552"/>
            <a:ext cx="2029968" cy="1463040"/>
          </a:xfrm>
          <a:prstGeom prst="rect">
            <a:avLst/>
          </a:prstGeom>
          <a:solidFill>
            <a:srgbClr val="1B6B3A"/>
          </a:solidFill>
          <a:ln w="12700">
            <a:solidFill>
              <a:srgbClr val="1B6B3A"/>
            </a:solidFill>
            <a:prstDash val="solid"/>
          </a:ln>
          <a:effectLst>
            <a:outerShdw blurRad="101600" dist="25400" dir="8100000" algn="bl" rotWithShape="0">
              <a:srgbClr val="000000">
                <a:alpha val="10000"/>
              </a:srgbClr>
            </a:outerShdw>
          </a:effectLst>
        </p:spPr>
      </p:sp>
      <p:sp>
        <p:nvSpPr>
          <p:cNvPr id="17" name="Text 15"/>
          <p:cNvSpPr/>
          <p:nvPr/>
        </p:nvSpPr>
        <p:spPr>
          <a:xfrm>
            <a:off x="4626864" y="1024128"/>
            <a:ext cx="1938528" cy="685800"/>
          </a:xfrm>
          <a:prstGeom prst="rect">
            <a:avLst/>
          </a:prstGeom>
          <a:noFill/>
          <a:ln/>
        </p:spPr>
        <p:txBody>
          <a:bodyPr wrap="square" rtlCol="0" anchor="ctr"/>
          <a:lstStyle/>
          <a:p>
            <a:pPr marL="0" indent="0" algn="ctr">
              <a:buNone/>
            </a:pPr>
            <a:r>
              <a:rPr lang="en-US" sz="3400" b="1" dirty="0">
                <a:solidFill>
                  <a:srgbClr val="D4A017"/>
                </a:solidFill>
                <a:latin typeface="Trebuchet MS" pitchFamily="34" charset="0"/>
                <a:ea typeface="Trebuchet MS" pitchFamily="34" charset="-122"/>
                <a:cs typeface="Trebuchet MS" pitchFamily="34" charset="-120"/>
              </a:rPr>
              <a:t>68%</a:t>
            </a:r>
            <a:endParaRPr lang="en-US" sz="3400" dirty="0"/>
          </a:p>
        </p:txBody>
      </p:sp>
      <p:sp>
        <p:nvSpPr>
          <p:cNvPr id="18" name="Text 16"/>
          <p:cNvSpPr/>
          <p:nvPr/>
        </p:nvSpPr>
        <p:spPr>
          <a:xfrm>
            <a:off x="4626864" y="1709928"/>
            <a:ext cx="1938528" cy="274320"/>
          </a:xfrm>
          <a:prstGeom prst="rect">
            <a:avLst/>
          </a:prstGeom>
          <a:noFill/>
          <a:ln/>
        </p:spPr>
        <p:txBody>
          <a:bodyPr wrap="square" rtlCol="0" anchor="ctr"/>
          <a:lstStyle/>
          <a:p>
            <a:pPr marL="0" indent="0" algn="ctr">
              <a:buNone/>
            </a:pPr>
            <a:r>
              <a:rPr lang="en-US" sz="950" b="1" dirty="0">
                <a:solidFill>
                  <a:srgbClr val="FFFFFF"/>
                </a:solidFill>
              </a:rPr>
              <a:t>FP Signal Reduction</a:t>
            </a:r>
            <a:endParaRPr lang="en-US" sz="950" dirty="0"/>
          </a:p>
        </p:txBody>
      </p:sp>
      <p:sp>
        <p:nvSpPr>
          <p:cNvPr id="19" name="Text 17"/>
          <p:cNvSpPr/>
          <p:nvPr/>
        </p:nvSpPr>
        <p:spPr>
          <a:xfrm>
            <a:off x="4626864" y="1984248"/>
            <a:ext cx="1938528" cy="347472"/>
          </a:xfrm>
          <a:prstGeom prst="rect">
            <a:avLst/>
          </a:prstGeom>
          <a:noFill/>
          <a:ln/>
        </p:spPr>
        <p:txBody>
          <a:bodyPr wrap="square" rtlCol="0" anchor="ctr"/>
          <a:lstStyle/>
          <a:p>
            <a:pPr marL="0" indent="0" algn="ctr">
              <a:buNone/>
            </a:pPr>
            <a:r>
              <a:rPr lang="en-US" sz="800" i="1" dirty="0">
                <a:solidFill>
                  <a:srgbClr val="F0C84A"/>
                </a:solidFill>
              </a:rPr>
              <a:t>Fewer false-positive investment alerts</a:t>
            </a:r>
            <a:endParaRPr lang="en-US" sz="800" dirty="0"/>
          </a:p>
        </p:txBody>
      </p:sp>
      <p:sp>
        <p:nvSpPr>
          <p:cNvPr id="20" name="Shape 18"/>
          <p:cNvSpPr/>
          <p:nvPr/>
        </p:nvSpPr>
        <p:spPr>
          <a:xfrm>
            <a:off x="6757416" y="987552"/>
            <a:ext cx="2029968" cy="1463040"/>
          </a:xfrm>
          <a:prstGeom prst="rect">
            <a:avLst/>
          </a:prstGeom>
          <a:solidFill>
            <a:srgbClr val="8B5E1B"/>
          </a:solidFill>
          <a:ln w="12700">
            <a:solidFill>
              <a:srgbClr val="8B5E1B"/>
            </a:solidFill>
            <a:prstDash val="solid"/>
          </a:ln>
          <a:effectLst>
            <a:outerShdw blurRad="101600" dist="25400" dir="8100000" algn="bl" rotWithShape="0">
              <a:srgbClr val="000000">
                <a:alpha val="10000"/>
              </a:srgbClr>
            </a:outerShdw>
          </a:effectLst>
        </p:spPr>
      </p:sp>
      <p:sp>
        <p:nvSpPr>
          <p:cNvPr id="21" name="Text 19"/>
          <p:cNvSpPr/>
          <p:nvPr/>
        </p:nvSpPr>
        <p:spPr>
          <a:xfrm>
            <a:off x="6803136" y="1024128"/>
            <a:ext cx="1938528" cy="685800"/>
          </a:xfrm>
          <a:prstGeom prst="rect">
            <a:avLst/>
          </a:prstGeom>
          <a:noFill/>
          <a:ln/>
        </p:spPr>
        <p:txBody>
          <a:bodyPr wrap="square" rtlCol="0" anchor="ctr"/>
          <a:lstStyle/>
          <a:p>
            <a:pPr marL="0" indent="0" algn="ctr">
              <a:buNone/>
            </a:pPr>
            <a:r>
              <a:rPr lang="en-US" sz="3400" b="1" dirty="0">
                <a:solidFill>
                  <a:srgbClr val="D4A017"/>
                </a:solidFill>
                <a:latin typeface="Trebuchet MS" pitchFamily="34" charset="0"/>
                <a:ea typeface="Trebuchet MS" pitchFamily="34" charset="-122"/>
                <a:cs typeface="Trebuchet MS" pitchFamily="34" charset="-120"/>
              </a:rPr>
              <a:t>2.1×</a:t>
            </a:r>
            <a:endParaRPr lang="en-US" sz="3400" dirty="0"/>
          </a:p>
        </p:txBody>
      </p:sp>
      <p:sp>
        <p:nvSpPr>
          <p:cNvPr id="22" name="Text 20"/>
          <p:cNvSpPr/>
          <p:nvPr/>
        </p:nvSpPr>
        <p:spPr>
          <a:xfrm>
            <a:off x="6803136" y="1709928"/>
            <a:ext cx="1938528" cy="274320"/>
          </a:xfrm>
          <a:prstGeom prst="rect">
            <a:avLst/>
          </a:prstGeom>
          <a:noFill/>
          <a:ln/>
        </p:spPr>
        <p:txBody>
          <a:bodyPr wrap="square" rtlCol="0" anchor="ctr"/>
          <a:lstStyle/>
          <a:p>
            <a:pPr marL="0" indent="0" algn="ctr">
              <a:buNone/>
            </a:pPr>
            <a:r>
              <a:rPr lang="en-US" sz="950" b="1" dirty="0">
                <a:solidFill>
                  <a:srgbClr val="FFFFFF"/>
                </a:solidFill>
              </a:rPr>
              <a:t>vs. Baseline Accuracy</a:t>
            </a:r>
            <a:endParaRPr lang="en-US" sz="950" dirty="0"/>
          </a:p>
        </p:txBody>
      </p:sp>
      <p:sp>
        <p:nvSpPr>
          <p:cNvPr id="23" name="Text 21"/>
          <p:cNvSpPr/>
          <p:nvPr/>
        </p:nvSpPr>
        <p:spPr>
          <a:xfrm>
            <a:off x="6803136" y="1984248"/>
            <a:ext cx="1938528" cy="347472"/>
          </a:xfrm>
          <a:prstGeom prst="rect">
            <a:avLst/>
          </a:prstGeom>
          <a:noFill/>
          <a:ln/>
        </p:spPr>
        <p:txBody>
          <a:bodyPr wrap="square" rtlCol="0" anchor="ctr"/>
          <a:lstStyle/>
          <a:p>
            <a:pPr marL="0" indent="0" algn="ctr">
              <a:buNone/>
            </a:pPr>
            <a:r>
              <a:rPr lang="en-US" sz="800" i="1" dirty="0">
                <a:solidFill>
                  <a:srgbClr val="F0C84A"/>
                </a:solidFill>
              </a:rPr>
              <a:t>Improvement over generic XGBoost model</a:t>
            </a:r>
            <a:endParaRPr lang="en-US" sz="800" dirty="0"/>
          </a:p>
        </p:txBody>
      </p:sp>
      <p:graphicFrame>
        <p:nvGraphicFramePr>
          <p:cNvPr id="24" name="Chart 0"/>
          <p:cNvGraphicFramePr/>
          <p:nvPr/>
        </p:nvGraphicFramePr>
        <p:xfrm>
          <a:off x="228600" y="2514600"/>
          <a:ext cx="4709160" cy="2267712"/>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5120640" y="2514600"/>
            <a:ext cx="3794760" cy="226771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6" name="Shape 23"/>
          <p:cNvSpPr/>
          <p:nvPr/>
        </p:nvSpPr>
        <p:spPr>
          <a:xfrm>
            <a:off x="5120640" y="2514600"/>
            <a:ext cx="3794760" cy="347472"/>
          </a:xfrm>
          <a:prstGeom prst="rect">
            <a:avLst/>
          </a:prstGeom>
          <a:solidFill>
            <a:srgbClr val="1B2A4A"/>
          </a:solidFill>
          <a:ln w="12700">
            <a:solidFill>
              <a:srgbClr val="1B2A4A"/>
            </a:solidFill>
            <a:prstDash val="solid"/>
          </a:ln>
        </p:spPr>
      </p:sp>
      <p:sp>
        <p:nvSpPr>
          <p:cNvPr id="27" name="Text 24"/>
          <p:cNvSpPr/>
          <p:nvPr/>
        </p:nvSpPr>
        <p:spPr>
          <a:xfrm>
            <a:off x="5212080" y="2514600"/>
            <a:ext cx="3611880" cy="347472"/>
          </a:xfrm>
          <a:prstGeom prst="rect">
            <a:avLst/>
          </a:prstGeom>
          <a:noFill/>
          <a:ln/>
        </p:spPr>
        <p:txBody>
          <a:bodyPr wrap="square" lIns="0" tIns="0" rIns="0" bIns="0" rtlCol="0" anchor="ctr"/>
          <a:lstStyle/>
          <a:p>
            <a:pPr marL="0" indent="0">
              <a:buNone/>
            </a:pPr>
            <a:r>
              <a:rPr lang="en-US" sz="1100" b="1" dirty="0">
                <a:solidFill>
                  <a:srgbClr val="FFFFFF"/>
                </a:solidFill>
              </a:rPr>
              <a:t>2024 → 2025 Validation</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120640" y="2907792"/>
          <a:ext cx="3794760" cy="1828800"/>
        </p:xfrm>
        <a:graphic>
          <a:graphicData uri="http://schemas.openxmlformats.org/drawingml/2006/table">
            <a:tbl>
              <a:tblPr/>
              <a:tblGrid>
                <a:gridCol w="1417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04800">
                <a:tc>
                  <a:txBody>
                    <a:bodyPr/>
                    <a:lstStyle/>
                    <a:p>
                      <a:pPr marL="0" indent="0" algn="ctr">
                        <a:buNone/>
                      </a:pPr>
                      <a:r>
                        <a:rPr lang="en-US" sz="900" b="1" dirty="0">
                          <a:solidFill>
                            <a:srgbClr val="FFFFFF"/>
                          </a:solidFill>
                        </a:rPr>
                        <a:t>Metric</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A3F6F"/>
                    </a:solidFill>
                  </a:tcPr>
                </a:tc>
                <a:tc>
                  <a:txBody>
                    <a:bodyPr/>
                    <a:lstStyle/>
                    <a:p>
                      <a:pPr marL="0" indent="0" algn="ctr">
                        <a:buNone/>
                      </a:pPr>
                      <a:r>
                        <a:rPr lang="en-US" sz="900" b="1" dirty="0">
                          <a:solidFill>
                            <a:srgbClr val="FFFFFF"/>
                          </a:solidFill>
                        </a:rPr>
                        <a:t>ByteMe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A3F6F"/>
                    </a:solidFill>
                  </a:tcPr>
                </a:tc>
                <a:tc>
                  <a:txBody>
                    <a:bodyPr/>
                    <a:lstStyle/>
                    <a:p>
                      <a:pPr marL="0" indent="0" algn="ctr">
                        <a:buNone/>
                      </a:pPr>
                      <a:r>
                        <a:rPr lang="en-US" sz="900" b="1" dirty="0">
                          <a:solidFill>
                            <a:srgbClr val="FFFFFF"/>
                          </a:solidFill>
                        </a:rPr>
                        <a:t>Actual 2025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A3F6F"/>
                    </a:solidFill>
                  </a:tcPr>
                </a:tc>
                <a:extLst>
                  <a:ext uri="{0D108BD9-81ED-4DB2-BD59-A6C34878D82A}">
                    <a16:rowId xmlns:a16="http://schemas.microsoft.com/office/drawing/2014/main" val="10000"/>
                  </a:ext>
                </a:extLst>
              </a:tr>
              <a:tr h="304800">
                <a:tc>
                  <a:txBody>
                    <a:bodyPr/>
                    <a:lstStyle/>
                    <a:p>
                      <a:pPr marL="0" indent="0" algn="ctr">
                        <a:buNone/>
                      </a:pPr>
                      <a:r>
                        <a:rPr lang="en-US" sz="900" dirty="0">
                          <a:solidFill>
                            <a:srgbClr val="2D3748"/>
                          </a:solidFill>
                        </a:rPr>
                        <a:t>La Union PSM</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₱38,400–42,200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₱37,800–43,500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lgn="ctr">
                        <a:buNone/>
                      </a:pPr>
                      <a:r>
                        <a:rPr lang="en-US" sz="900" dirty="0">
                          <a:solidFill>
                            <a:srgbClr val="2D3748"/>
                          </a:solidFill>
                        </a:rPr>
                        <a:t>Iloilo CBD PSM</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₱68,500–75,000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₱67,200–76,800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lgn="ctr">
                        <a:buNone/>
                      </a:pPr>
                      <a:r>
                        <a:rPr lang="en-US" sz="900" dirty="0">
                          <a:solidFill>
                            <a:srgbClr val="2D3748"/>
                          </a:solidFill>
                        </a:rPr>
                        <a:t>LU YoY Growth</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+8.3%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+7.9%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lgn="ctr">
                        <a:buNone/>
                      </a:pPr>
                      <a:r>
                        <a:rPr lang="en-US" sz="900" dirty="0">
                          <a:solidFill>
                            <a:srgbClr val="2D3748"/>
                          </a:solidFill>
                        </a:rPr>
                        <a:t>ILO YoY Growth</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+12.1%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+11.8%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lgn="ctr">
                        <a:buNone/>
                      </a:pPr>
                      <a:r>
                        <a:rPr lang="en-US" sz="900" dirty="0">
                          <a:solidFill>
                            <a:srgbClr val="2D3748"/>
                          </a:solidFill>
                        </a:rPr>
                        <a:t>Variance σ</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0.043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748"/>
                          </a:solidFill>
                        </a:rPr>
                        <a:t>&lt; 0.05 ✓</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Results: Market Intelligence Insights</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11 / 16</a:t>
            </a:r>
            <a:endParaRPr lang="en-US" sz="750" dirty="0"/>
          </a:p>
        </p:txBody>
      </p:sp>
      <p:sp>
        <p:nvSpPr>
          <p:cNvPr id="8" name="Shape 6"/>
          <p:cNvSpPr/>
          <p:nvPr/>
        </p:nvSpPr>
        <p:spPr>
          <a:xfrm>
            <a:off x="228600" y="1005840"/>
            <a:ext cx="4206240" cy="37490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4206240" cy="365760"/>
          </a:xfrm>
          <a:prstGeom prst="rect">
            <a:avLst/>
          </a:prstGeom>
          <a:solidFill>
            <a:srgbClr val="1B5E8C"/>
          </a:solidFill>
          <a:ln w="12700">
            <a:solidFill>
              <a:srgbClr val="1B5E8C"/>
            </a:solidFill>
            <a:prstDash val="solid"/>
          </a:ln>
        </p:spPr>
      </p:sp>
      <p:sp>
        <p:nvSpPr>
          <p:cNvPr id="10" name="Text 8"/>
          <p:cNvSpPr/>
          <p:nvPr/>
        </p:nvSpPr>
        <p:spPr>
          <a:xfrm>
            <a:off x="320040" y="1005840"/>
            <a:ext cx="4023360" cy="365760"/>
          </a:xfrm>
          <a:prstGeom prst="rect">
            <a:avLst/>
          </a:prstGeom>
          <a:noFill/>
          <a:ln/>
        </p:spPr>
        <p:txBody>
          <a:bodyPr wrap="square" lIns="0" tIns="0" rIns="0" bIns="0" rtlCol="0" anchor="ctr"/>
          <a:lstStyle/>
          <a:p>
            <a:pPr marL="0" indent="0">
              <a:buNone/>
            </a:pPr>
            <a:r>
              <a:rPr lang="en-US" sz="1150" b="1" dirty="0">
                <a:solidFill>
                  <a:srgbClr val="FFFFFF"/>
                </a:solidFill>
              </a:rPr>
              <a:t>La Union — Key Intelligence Findings</a:t>
            </a:r>
            <a:endParaRPr lang="en-US" sz="1150" dirty="0"/>
          </a:p>
        </p:txBody>
      </p:sp>
      <p:sp>
        <p:nvSpPr>
          <p:cNvPr id="11" name="Shape 9"/>
          <p:cNvSpPr/>
          <p:nvPr/>
        </p:nvSpPr>
        <p:spPr>
          <a:xfrm>
            <a:off x="274320" y="1444752"/>
            <a:ext cx="64008" cy="457200"/>
          </a:xfrm>
          <a:prstGeom prst="rect">
            <a:avLst/>
          </a:prstGeom>
          <a:solidFill>
            <a:srgbClr val="1B5E8C"/>
          </a:solidFill>
          <a:ln w="12700">
            <a:solidFill>
              <a:srgbClr val="1B5E8C"/>
            </a:solidFill>
            <a:prstDash val="solid"/>
          </a:ln>
        </p:spPr>
      </p:sp>
      <p:sp>
        <p:nvSpPr>
          <p:cNvPr id="12" name="Text 10"/>
          <p:cNvSpPr/>
          <p:nvPr/>
        </p:nvSpPr>
        <p:spPr>
          <a:xfrm>
            <a:off x="402336" y="1444752"/>
            <a:ext cx="3886200" cy="237744"/>
          </a:xfrm>
          <a:prstGeom prst="rect">
            <a:avLst/>
          </a:prstGeom>
          <a:noFill/>
          <a:ln/>
        </p:spPr>
        <p:txBody>
          <a:bodyPr wrap="square" rtlCol="0" anchor="ctr"/>
          <a:lstStyle/>
          <a:p>
            <a:pPr marL="0" indent="0">
              <a:buNone/>
            </a:pPr>
            <a:r>
              <a:rPr lang="en-US" sz="950" b="1" dirty="0">
                <a:solidFill>
                  <a:srgbClr val="1B2A4A"/>
                </a:solidFill>
              </a:rPr>
              <a:t>Valuation Divergence Detected</a:t>
            </a:r>
            <a:endParaRPr lang="en-US" sz="950" dirty="0"/>
          </a:p>
        </p:txBody>
      </p:sp>
      <p:sp>
        <p:nvSpPr>
          <p:cNvPr id="13" name="Text 11"/>
          <p:cNvSpPr/>
          <p:nvPr/>
        </p:nvSpPr>
        <p:spPr>
          <a:xfrm>
            <a:off x="402336" y="1673352"/>
            <a:ext cx="3886200" cy="347472"/>
          </a:xfrm>
          <a:prstGeom prst="rect">
            <a:avLst/>
          </a:prstGeom>
          <a:noFill/>
          <a:ln/>
        </p:spPr>
        <p:txBody>
          <a:bodyPr wrap="square" rtlCol="0" anchor="ctr"/>
          <a:lstStyle/>
          <a:p>
            <a:pPr marL="0" indent="0">
              <a:buNone/>
            </a:pPr>
            <a:r>
              <a:rPr lang="en-US" sz="850" dirty="0">
                <a:solidFill>
                  <a:srgbClr val="2D3748"/>
                </a:solidFill>
              </a:rPr>
              <a:t>23% of sampled listings overpriced by 15–28% vs. ByteMe yield-adjusted fair value. Concentrated in San Juan beachfront properties.</a:t>
            </a:r>
            <a:endParaRPr lang="en-US" sz="850" dirty="0"/>
          </a:p>
        </p:txBody>
      </p:sp>
      <p:sp>
        <p:nvSpPr>
          <p:cNvPr id="14" name="Shape 12"/>
          <p:cNvSpPr/>
          <p:nvPr/>
        </p:nvSpPr>
        <p:spPr>
          <a:xfrm>
            <a:off x="274320" y="2084832"/>
            <a:ext cx="64008" cy="457200"/>
          </a:xfrm>
          <a:prstGeom prst="rect">
            <a:avLst/>
          </a:prstGeom>
          <a:solidFill>
            <a:srgbClr val="1B5E8C"/>
          </a:solidFill>
          <a:ln w="12700">
            <a:solidFill>
              <a:srgbClr val="1B5E8C"/>
            </a:solidFill>
            <a:prstDash val="solid"/>
          </a:ln>
        </p:spPr>
      </p:sp>
      <p:sp>
        <p:nvSpPr>
          <p:cNvPr id="15" name="Text 13"/>
          <p:cNvSpPr/>
          <p:nvPr/>
        </p:nvSpPr>
        <p:spPr>
          <a:xfrm>
            <a:off x="402336" y="2084832"/>
            <a:ext cx="3886200" cy="237744"/>
          </a:xfrm>
          <a:prstGeom prst="rect">
            <a:avLst/>
          </a:prstGeom>
          <a:noFill/>
          <a:ln/>
        </p:spPr>
        <p:txBody>
          <a:bodyPr wrap="square" rtlCol="0" anchor="ctr"/>
          <a:lstStyle/>
          <a:p>
            <a:pPr marL="0" indent="0">
              <a:buNone/>
            </a:pPr>
            <a:r>
              <a:rPr lang="en-US" sz="950" b="1" dirty="0">
                <a:solidFill>
                  <a:srgbClr val="1B2A4A"/>
                </a:solidFill>
              </a:rPr>
              <a:t>Top Driver: Beach Proximity</a:t>
            </a:r>
            <a:endParaRPr lang="en-US" sz="950" dirty="0"/>
          </a:p>
        </p:txBody>
      </p:sp>
      <p:sp>
        <p:nvSpPr>
          <p:cNvPr id="16" name="Text 14"/>
          <p:cNvSpPr/>
          <p:nvPr/>
        </p:nvSpPr>
        <p:spPr>
          <a:xfrm>
            <a:off x="402336" y="2313432"/>
            <a:ext cx="3886200" cy="347472"/>
          </a:xfrm>
          <a:prstGeom prst="rect">
            <a:avLst/>
          </a:prstGeom>
          <a:noFill/>
          <a:ln/>
        </p:spPr>
        <p:txBody>
          <a:bodyPr wrap="square" rtlCol="0" anchor="ctr"/>
          <a:lstStyle/>
          <a:p>
            <a:pPr marL="0" indent="0">
              <a:buNone/>
            </a:pPr>
            <a:r>
              <a:rPr lang="en-US" sz="850" dirty="0">
                <a:solidFill>
                  <a:srgbClr val="2D3748"/>
                </a:solidFill>
              </a:rPr>
              <a:t>Properties within 200m of surf beaches command a 34% premium. ByteMe models this; baseline undervalued it by ~18%.</a:t>
            </a:r>
            <a:endParaRPr lang="en-US" sz="850" dirty="0"/>
          </a:p>
        </p:txBody>
      </p:sp>
      <p:sp>
        <p:nvSpPr>
          <p:cNvPr id="17" name="Shape 15"/>
          <p:cNvSpPr/>
          <p:nvPr/>
        </p:nvSpPr>
        <p:spPr>
          <a:xfrm>
            <a:off x="274320" y="2724912"/>
            <a:ext cx="64008" cy="457200"/>
          </a:xfrm>
          <a:prstGeom prst="rect">
            <a:avLst/>
          </a:prstGeom>
          <a:solidFill>
            <a:srgbClr val="1B5E8C"/>
          </a:solidFill>
          <a:ln w="12700">
            <a:solidFill>
              <a:srgbClr val="1B5E8C"/>
            </a:solidFill>
            <a:prstDash val="solid"/>
          </a:ln>
        </p:spPr>
      </p:sp>
      <p:sp>
        <p:nvSpPr>
          <p:cNvPr id="18" name="Text 16"/>
          <p:cNvSpPr/>
          <p:nvPr/>
        </p:nvSpPr>
        <p:spPr>
          <a:xfrm>
            <a:off x="402336" y="2724912"/>
            <a:ext cx="3886200" cy="237744"/>
          </a:xfrm>
          <a:prstGeom prst="rect">
            <a:avLst/>
          </a:prstGeom>
          <a:noFill/>
          <a:ln/>
        </p:spPr>
        <p:txBody>
          <a:bodyPr wrap="square" rtlCol="0" anchor="ctr"/>
          <a:lstStyle/>
          <a:p>
            <a:pPr marL="0" indent="0">
              <a:buNone/>
            </a:pPr>
            <a:r>
              <a:rPr lang="en-US" sz="950" b="1" dirty="0">
                <a:solidFill>
                  <a:srgbClr val="1B2A4A"/>
                </a:solidFill>
              </a:rPr>
              <a:t>Cultural Parsing Impact</a:t>
            </a:r>
            <a:endParaRPr lang="en-US" sz="950" dirty="0"/>
          </a:p>
        </p:txBody>
      </p:sp>
      <p:sp>
        <p:nvSpPr>
          <p:cNvPr id="19" name="Text 17"/>
          <p:cNvSpPr/>
          <p:nvPr/>
        </p:nvSpPr>
        <p:spPr>
          <a:xfrm>
            <a:off x="402336" y="2953512"/>
            <a:ext cx="3886200" cy="347472"/>
          </a:xfrm>
          <a:prstGeom prst="rect">
            <a:avLst/>
          </a:prstGeom>
          <a:noFill/>
          <a:ln/>
        </p:spPr>
        <p:txBody>
          <a:bodyPr wrap="square" rtlCol="0" anchor="ctr"/>
          <a:lstStyle/>
          <a:p>
            <a:pPr marL="0" indent="0">
              <a:buNone/>
            </a:pPr>
            <a:r>
              <a:rPr lang="en-US" sz="850" dirty="0">
                <a:solidFill>
                  <a:srgbClr val="2D3748"/>
                </a:solidFill>
              </a:rPr>
              <a:t>Removing the sentiment layer increased false positives by 2.8×. Barangay-level social media signals were critical to accuracy.</a:t>
            </a:r>
            <a:endParaRPr lang="en-US" sz="850" dirty="0"/>
          </a:p>
        </p:txBody>
      </p:sp>
      <p:sp>
        <p:nvSpPr>
          <p:cNvPr id="20" name="Shape 18"/>
          <p:cNvSpPr/>
          <p:nvPr/>
        </p:nvSpPr>
        <p:spPr>
          <a:xfrm>
            <a:off x="274320" y="3364992"/>
            <a:ext cx="64008" cy="457200"/>
          </a:xfrm>
          <a:prstGeom prst="rect">
            <a:avLst/>
          </a:prstGeom>
          <a:solidFill>
            <a:srgbClr val="1B5E8C"/>
          </a:solidFill>
          <a:ln w="12700">
            <a:solidFill>
              <a:srgbClr val="1B5E8C"/>
            </a:solidFill>
            <a:prstDash val="solid"/>
          </a:ln>
        </p:spPr>
      </p:sp>
      <p:sp>
        <p:nvSpPr>
          <p:cNvPr id="21" name="Text 19"/>
          <p:cNvSpPr/>
          <p:nvPr/>
        </p:nvSpPr>
        <p:spPr>
          <a:xfrm>
            <a:off x="402336" y="3364992"/>
            <a:ext cx="3886200" cy="237744"/>
          </a:xfrm>
          <a:prstGeom prst="rect">
            <a:avLst/>
          </a:prstGeom>
          <a:noFill/>
          <a:ln/>
        </p:spPr>
        <p:txBody>
          <a:bodyPr wrap="square" rtlCol="0" anchor="ctr"/>
          <a:lstStyle/>
          <a:p>
            <a:pPr marL="0" indent="0">
              <a:buNone/>
            </a:pPr>
            <a:r>
              <a:rPr lang="en-US" sz="950" b="1" dirty="0">
                <a:solidFill>
                  <a:srgbClr val="1B2A4A"/>
                </a:solidFill>
              </a:rPr>
              <a:t>Undervalued Opportunity Cluster</a:t>
            </a:r>
            <a:endParaRPr lang="en-US" sz="950" dirty="0"/>
          </a:p>
        </p:txBody>
      </p:sp>
      <p:sp>
        <p:nvSpPr>
          <p:cNvPr id="22" name="Text 20"/>
          <p:cNvSpPr/>
          <p:nvPr/>
        </p:nvSpPr>
        <p:spPr>
          <a:xfrm>
            <a:off x="402336" y="3593592"/>
            <a:ext cx="3886200" cy="347472"/>
          </a:xfrm>
          <a:prstGeom prst="rect">
            <a:avLst/>
          </a:prstGeom>
          <a:noFill/>
          <a:ln/>
        </p:spPr>
        <p:txBody>
          <a:bodyPr wrap="square" rtlCol="0" anchor="ctr"/>
          <a:lstStyle/>
          <a:p>
            <a:pPr marL="0" indent="0">
              <a:buNone/>
            </a:pPr>
            <a:r>
              <a:rPr lang="en-US" sz="850" dirty="0">
                <a:solidFill>
                  <a:srgbClr val="2D3748"/>
                </a:solidFill>
              </a:rPr>
              <a:t>Inland properties 3–5km from beach with new road access identified as 15–22% undervalued — high-yield, low-competition window.</a:t>
            </a:r>
            <a:endParaRPr lang="en-US" sz="850" dirty="0"/>
          </a:p>
        </p:txBody>
      </p:sp>
      <p:sp>
        <p:nvSpPr>
          <p:cNvPr id="23" name="Shape 21"/>
          <p:cNvSpPr/>
          <p:nvPr/>
        </p:nvSpPr>
        <p:spPr>
          <a:xfrm>
            <a:off x="274320" y="4005072"/>
            <a:ext cx="64008" cy="457200"/>
          </a:xfrm>
          <a:prstGeom prst="rect">
            <a:avLst/>
          </a:prstGeom>
          <a:solidFill>
            <a:srgbClr val="1B5E8C"/>
          </a:solidFill>
          <a:ln w="12700">
            <a:solidFill>
              <a:srgbClr val="1B5E8C"/>
            </a:solidFill>
            <a:prstDash val="solid"/>
          </a:ln>
        </p:spPr>
      </p:sp>
      <p:sp>
        <p:nvSpPr>
          <p:cNvPr id="24" name="Text 22"/>
          <p:cNvSpPr/>
          <p:nvPr/>
        </p:nvSpPr>
        <p:spPr>
          <a:xfrm>
            <a:off x="402336" y="4005072"/>
            <a:ext cx="3886200" cy="237744"/>
          </a:xfrm>
          <a:prstGeom prst="rect">
            <a:avLst/>
          </a:prstGeom>
          <a:noFill/>
          <a:ln/>
        </p:spPr>
        <p:txBody>
          <a:bodyPr wrap="square" rtlCol="0" anchor="ctr"/>
          <a:lstStyle/>
          <a:p>
            <a:pPr marL="0" indent="0">
              <a:buNone/>
            </a:pPr>
            <a:r>
              <a:rPr lang="en-US" sz="950" b="1" dirty="0">
                <a:solidFill>
                  <a:srgbClr val="1B2A4A"/>
                </a:solidFill>
              </a:rPr>
              <a:t>Early Speculative Warning</a:t>
            </a:r>
            <a:endParaRPr lang="en-US" sz="950" dirty="0"/>
          </a:p>
        </p:txBody>
      </p:sp>
      <p:sp>
        <p:nvSpPr>
          <p:cNvPr id="25" name="Text 23"/>
          <p:cNvSpPr/>
          <p:nvPr/>
        </p:nvSpPr>
        <p:spPr>
          <a:xfrm>
            <a:off x="402336" y="4233672"/>
            <a:ext cx="3886200" cy="347472"/>
          </a:xfrm>
          <a:prstGeom prst="rect">
            <a:avLst/>
          </a:prstGeom>
          <a:noFill/>
          <a:ln/>
        </p:spPr>
        <p:txBody>
          <a:bodyPr wrap="square" rtlCol="0" anchor="ctr"/>
          <a:lstStyle/>
          <a:p>
            <a:pPr marL="0" indent="0">
              <a:buNone/>
            </a:pPr>
            <a:r>
              <a:rPr lang="en-US" sz="850" dirty="0">
                <a:solidFill>
                  <a:srgbClr val="2D3748"/>
                </a:solidFill>
              </a:rPr>
              <a:t>Sentiment index detected 40% increase in speculative listing language in Q3 2024 — early warning signal for potential price correction.</a:t>
            </a:r>
            <a:endParaRPr lang="en-US" sz="850" dirty="0"/>
          </a:p>
        </p:txBody>
      </p:sp>
      <p:sp>
        <p:nvSpPr>
          <p:cNvPr id="26" name="Shape 24"/>
          <p:cNvSpPr/>
          <p:nvPr/>
        </p:nvSpPr>
        <p:spPr>
          <a:xfrm>
            <a:off x="4663440" y="1005840"/>
            <a:ext cx="4251960" cy="37490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7" name="Shape 25"/>
          <p:cNvSpPr/>
          <p:nvPr/>
        </p:nvSpPr>
        <p:spPr>
          <a:xfrm>
            <a:off x="4663440" y="1005840"/>
            <a:ext cx="4251960" cy="365760"/>
          </a:xfrm>
          <a:prstGeom prst="rect">
            <a:avLst/>
          </a:prstGeom>
          <a:solidFill>
            <a:srgbClr val="1B6B3A"/>
          </a:solidFill>
          <a:ln w="12700">
            <a:solidFill>
              <a:srgbClr val="1B6B3A"/>
            </a:solidFill>
            <a:prstDash val="solid"/>
          </a:ln>
        </p:spPr>
      </p:sp>
      <p:sp>
        <p:nvSpPr>
          <p:cNvPr id="28" name="Text 26"/>
          <p:cNvSpPr/>
          <p:nvPr/>
        </p:nvSpPr>
        <p:spPr>
          <a:xfrm>
            <a:off x="4754880" y="1005840"/>
            <a:ext cx="4069080" cy="365760"/>
          </a:xfrm>
          <a:prstGeom prst="rect">
            <a:avLst/>
          </a:prstGeom>
          <a:noFill/>
          <a:ln/>
        </p:spPr>
        <p:txBody>
          <a:bodyPr wrap="square" lIns="0" tIns="0" rIns="0" bIns="0" rtlCol="0" anchor="ctr"/>
          <a:lstStyle/>
          <a:p>
            <a:pPr marL="0" indent="0">
              <a:buNone/>
            </a:pPr>
            <a:r>
              <a:rPr lang="en-US" sz="1150" b="1" dirty="0">
                <a:solidFill>
                  <a:srgbClr val="FFFFFF"/>
                </a:solidFill>
              </a:rPr>
              <a:t>Iloilo City — Key Intelligence Findings</a:t>
            </a:r>
            <a:endParaRPr lang="en-US" sz="1150" dirty="0"/>
          </a:p>
        </p:txBody>
      </p:sp>
      <p:sp>
        <p:nvSpPr>
          <p:cNvPr id="29" name="Shape 27"/>
          <p:cNvSpPr/>
          <p:nvPr/>
        </p:nvSpPr>
        <p:spPr>
          <a:xfrm>
            <a:off x="4709160" y="1444752"/>
            <a:ext cx="64008" cy="457200"/>
          </a:xfrm>
          <a:prstGeom prst="rect">
            <a:avLst/>
          </a:prstGeom>
          <a:solidFill>
            <a:srgbClr val="1B6B3A"/>
          </a:solidFill>
          <a:ln w="12700">
            <a:solidFill>
              <a:srgbClr val="1B6B3A"/>
            </a:solidFill>
            <a:prstDash val="solid"/>
          </a:ln>
        </p:spPr>
      </p:sp>
      <p:sp>
        <p:nvSpPr>
          <p:cNvPr id="30" name="Text 28"/>
          <p:cNvSpPr/>
          <p:nvPr/>
        </p:nvSpPr>
        <p:spPr>
          <a:xfrm>
            <a:off x="4837176" y="1444752"/>
            <a:ext cx="3977640" cy="237744"/>
          </a:xfrm>
          <a:prstGeom prst="rect">
            <a:avLst/>
          </a:prstGeom>
          <a:noFill/>
          <a:ln/>
        </p:spPr>
        <p:txBody>
          <a:bodyPr wrap="square" rtlCol="0" anchor="ctr"/>
          <a:lstStyle/>
          <a:p>
            <a:pPr marL="0" indent="0">
              <a:buNone/>
            </a:pPr>
            <a:r>
              <a:rPr lang="en-US" sz="950" b="1" dirty="0">
                <a:solidFill>
                  <a:srgbClr val="1B2A4A"/>
                </a:solidFill>
              </a:rPr>
              <a:t>Megaworld Township Overvaluation</a:t>
            </a:r>
            <a:endParaRPr lang="en-US" sz="950" dirty="0"/>
          </a:p>
        </p:txBody>
      </p:sp>
      <p:sp>
        <p:nvSpPr>
          <p:cNvPr id="31" name="Text 29"/>
          <p:cNvSpPr/>
          <p:nvPr/>
        </p:nvSpPr>
        <p:spPr>
          <a:xfrm>
            <a:off x="4837176" y="1673352"/>
            <a:ext cx="3977640" cy="347472"/>
          </a:xfrm>
          <a:prstGeom prst="rect">
            <a:avLst/>
          </a:prstGeom>
          <a:noFill/>
          <a:ln/>
        </p:spPr>
        <p:txBody>
          <a:bodyPr wrap="square" rtlCol="0" anchor="ctr"/>
          <a:lstStyle/>
          <a:p>
            <a:pPr marL="0" indent="0">
              <a:buNone/>
            </a:pPr>
            <a:r>
              <a:rPr lang="en-US" sz="850" dirty="0">
                <a:solidFill>
                  <a:srgbClr val="2D3748"/>
                </a:solidFill>
              </a:rPr>
              <a:t>IBP-district properties priced 31% above ByteMe's fundamental value — speculative positioning, not yield-driven demand.</a:t>
            </a:r>
            <a:endParaRPr lang="en-US" sz="850" dirty="0"/>
          </a:p>
        </p:txBody>
      </p:sp>
      <p:sp>
        <p:nvSpPr>
          <p:cNvPr id="32" name="Shape 30"/>
          <p:cNvSpPr/>
          <p:nvPr/>
        </p:nvSpPr>
        <p:spPr>
          <a:xfrm>
            <a:off x="4709160" y="2084832"/>
            <a:ext cx="64008" cy="457200"/>
          </a:xfrm>
          <a:prstGeom prst="rect">
            <a:avLst/>
          </a:prstGeom>
          <a:solidFill>
            <a:srgbClr val="1B6B3A"/>
          </a:solidFill>
          <a:ln w="12700">
            <a:solidFill>
              <a:srgbClr val="1B6B3A"/>
            </a:solidFill>
            <a:prstDash val="solid"/>
          </a:ln>
        </p:spPr>
      </p:sp>
      <p:sp>
        <p:nvSpPr>
          <p:cNvPr id="33" name="Text 31"/>
          <p:cNvSpPr/>
          <p:nvPr/>
        </p:nvSpPr>
        <p:spPr>
          <a:xfrm>
            <a:off x="4837176" y="2084832"/>
            <a:ext cx="3977640" cy="237744"/>
          </a:xfrm>
          <a:prstGeom prst="rect">
            <a:avLst/>
          </a:prstGeom>
          <a:noFill/>
          <a:ln/>
        </p:spPr>
        <p:txBody>
          <a:bodyPr wrap="square" rtlCol="0" anchor="ctr"/>
          <a:lstStyle/>
          <a:p>
            <a:pPr marL="0" indent="0">
              <a:buNone/>
            </a:pPr>
            <a:r>
              <a:rPr lang="en-US" sz="950" b="1" dirty="0">
                <a:solidFill>
                  <a:srgbClr val="1B2A4A"/>
                </a:solidFill>
              </a:rPr>
              <a:t>Port Expansion 6-Week Early Signal</a:t>
            </a:r>
            <a:endParaRPr lang="en-US" sz="950" dirty="0"/>
          </a:p>
        </p:txBody>
      </p:sp>
      <p:sp>
        <p:nvSpPr>
          <p:cNvPr id="34" name="Text 32"/>
          <p:cNvSpPr/>
          <p:nvPr/>
        </p:nvSpPr>
        <p:spPr>
          <a:xfrm>
            <a:off x="4837176" y="2313432"/>
            <a:ext cx="3977640" cy="347472"/>
          </a:xfrm>
          <a:prstGeom prst="rect">
            <a:avLst/>
          </a:prstGeom>
          <a:noFill/>
          <a:ln/>
        </p:spPr>
        <p:txBody>
          <a:bodyPr wrap="square" rtlCol="0" anchor="ctr"/>
          <a:lstStyle/>
          <a:p>
            <a:pPr marL="0" indent="0">
              <a:buNone/>
            </a:pPr>
            <a:r>
              <a:rPr lang="en-US" sz="850" dirty="0">
                <a:solidFill>
                  <a:srgbClr val="2D3748"/>
                </a:solidFill>
              </a:rPr>
              <a:t>Sentiment index detected listing price impact of 2024 port expansion 6 weeks before transaction data reflected the change.</a:t>
            </a:r>
            <a:endParaRPr lang="en-US" sz="850" dirty="0"/>
          </a:p>
        </p:txBody>
      </p:sp>
      <p:sp>
        <p:nvSpPr>
          <p:cNvPr id="35" name="Shape 33"/>
          <p:cNvSpPr/>
          <p:nvPr/>
        </p:nvSpPr>
        <p:spPr>
          <a:xfrm>
            <a:off x="4709160" y="2724912"/>
            <a:ext cx="64008" cy="457200"/>
          </a:xfrm>
          <a:prstGeom prst="rect">
            <a:avLst/>
          </a:prstGeom>
          <a:solidFill>
            <a:srgbClr val="1B6B3A"/>
          </a:solidFill>
          <a:ln w="12700">
            <a:solidFill>
              <a:srgbClr val="1B6B3A"/>
            </a:solidFill>
            <a:prstDash val="solid"/>
          </a:ln>
        </p:spPr>
      </p:sp>
      <p:sp>
        <p:nvSpPr>
          <p:cNvPr id="36" name="Text 34"/>
          <p:cNvSpPr/>
          <p:nvPr/>
        </p:nvSpPr>
        <p:spPr>
          <a:xfrm>
            <a:off x="4837176" y="2724912"/>
            <a:ext cx="3977640" cy="237744"/>
          </a:xfrm>
          <a:prstGeom prst="rect">
            <a:avLst/>
          </a:prstGeom>
          <a:noFill/>
          <a:ln/>
        </p:spPr>
        <p:txBody>
          <a:bodyPr wrap="square" rtlCol="0" anchor="ctr"/>
          <a:lstStyle/>
          <a:p>
            <a:pPr marL="0" indent="0">
              <a:buNone/>
            </a:pPr>
            <a:r>
              <a:rPr lang="en-US" sz="950" b="1" dirty="0">
                <a:solidFill>
                  <a:srgbClr val="1B2A4A"/>
                </a:solidFill>
              </a:rPr>
              <a:t>Secondary Market Undervaluation</a:t>
            </a:r>
            <a:endParaRPr lang="en-US" sz="950" dirty="0"/>
          </a:p>
        </p:txBody>
      </p:sp>
      <p:sp>
        <p:nvSpPr>
          <p:cNvPr id="37" name="Text 35"/>
          <p:cNvSpPr/>
          <p:nvPr/>
        </p:nvSpPr>
        <p:spPr>
          <a:xfrm>
            <a:off x="4837176" y="2953512"/>
            <a:ext cx="3977640" cy="347472"/>
          </a:xfrm>
          <a:prstGeom prst="rect">
            <a:avLst/>
          </a:prstGeom>
          <a:noFill/>
          <a:ln/>
        </p:spPr>
        <p:txBody>
          <a:bodyPr wrap="square" rtlCol="0" anchor="ctr"/>
          <a:lstStyle/>
          <a:p>
            <a:pPr marL="0" indent="0">
              <a:buNone/>
            </a:pPr>
            <a:r>
              <a:rPr lang="en-US" sz="850" dirty="0">
                <a:solidFill>
                  <a:srgbClr val="2D3748"/>
                </a:solidFill>
              </a:rPr>
              <a:t>Properties 5–8km from IBP with comparable amenities scored 18–24% undervalued — prime yield-optimized acquisition targets.</a:t>
            </a:r>
            <a:endParaRPr lang="en-US" sz="850" dirty="0"/>
          </a:p>
        </p:txBody>
      </p:sp>
      <p:sp>
        <p:nvSpPr>
          <p:cNvPr id="38" name="Shape 36"/>
          <p:cNvSpPr/>
          <p:nvPr/>
        </p:nvSpPr>
        <p:spPr>
          <a:xfrm>
            <a:off x="4709160" y="3364992"/>
            <a:ext cx="64008" cy="457200"/>
          </a:xfrm>
          <a:prstGeom prst="rect">
            <a:avLst/>
          </a:prstGeom>
          <a:solidFill>
            <a:srgbClr val="1B6B3A"/>
          </a:solidFill>
          <a:ln w="12700">
            <a:solidFill>
              <a:srgbClr val="1B6B3A"/>
            </a:solidFill>
            <a:prstDash val="solid"/>
          </a:ln>
        </p:spPr>
      </p:sp>
      <p:sp>
        <p:nvSpPr>
          <p:cNvPr id="39" name="Text 37"/>
          <p:cNvSpPr/>
          <p:nvPr/>
        </p:nvSpPr>
        <p:spPr>
          <a:xfrm>
            <a:off x="4837176" y="3364992"/>
            <a:ext cx="3977640" cy="237744"/>
          </a:xfrm>
          <a:prstGeom prst="rect">
            <a:avLst/>
          </a:prstGeom>
          <a:noFill/>
          <a:ln/>
        </p:spPr>
        <p:txBody>
          <a:bodyPr wrap="square" rtlCol="0" anchor="ctr"/>
          <a:lstStyle/>
          <a:p>
            <a:pPr marL="0" indent="0">
              <a:buNone/>
            </a:pPr>
            <a:r>
              <a:rPr lang="en-US" sz="950" b="1" dirty="0">
                <a:solidFill>
                  <a:srgbClr val="1B2A4A"/>
                </a:solidFill>
              </a:rPr>
              <a:t>Cultural Risk: Unmapped Flood Zones</a:t>
            </a:r>
            <a:endParaRPr lang="en-US" sz="950" dirty="0"/>
          </a:p>
        </p:txBody>
      </p:sp>
      <p:sp>
        <p:nvSpPr>
          <p:cNvPr id="40" name="Text 38"/>
          <p:cNvSpPr/>
          <p:nvPr/>
        </p:nvSpPr>
        <p:spPr>
          <a:xfrm>
            <a:off x="4837176" y="3593592"/>
            <a:ext cx="3977640" cy="347472"/>
          </a:xfrm>
          <a:prstGeom prst="rect">
            <a:avLst/>
          </a:prstGeom>
          <a:noFill/>
          <a:ln/>
        </p:spPr>
        <p:txBody>
          <a:bodyPr wrap="square" rtlCol="0" anchor="ctr"/>
          <a:lstStyle/>
          <a:p>
            <a:pPr marL="0" indent="0">
              <a:buNone/>
            </a:pPr>
            <a:r>
              <a:rPr lang="en-US" sz="850" dirty="0">
                <a:solidFill>
                  <a:srgbClr val="2D3748"/>
                </a:solidFill>
              </a:rPr>
              <a:t>Sentiment parser detected 12 community reports of flood risk in 3 barangays not on official DENR maps — critical loss-prevention signal.</a:t>
            </a:r>
            <a:endParaRPr lang="en-US" sz="850" dirty="0"/>
          </a:p>
        </p:txBody>
      </p:sp>
      <p:sp>
        <p:nvSpPr>
          <p:cNvPr id="41" name="Shape 39"/>
          <p:cNvSpPr/>
          <p:nvPr/>
        </p:nvSpPr>
        <p:spPr>
          <a:xfrm>
            <a:off x="4709160" y="4005072"/>
            <a:ext cx="64008" cy="457200"/>
          </a:xfrm>
          <a:prstGeom prst="rect">
            <a:avLst/>
          </a:prstGeom>
          <a:solidFill>
            <a:srgbClr val="1B6B3A"/>
          </a:solidFill>
          <a:ln w="12700">
            <a:solidFill>
              <a:srgbClr val="1B6B3A"/>
            </a:solidFill>
            <a:prstDash val="solid"/>
          </a:ln>
        </p:spPr>
      </p:sp>
      <p:sp>
        <p:nvSpPr>
          <p:cNvPr id="42" name="Text 40"/>
          <p:cNvSpPr/>
          <p:nvPr/>
        </p:nvSpPr>
        <p:spPr>
          <a:xfrm>
            <a:off x="4837176" y="4005072"/>
            <a:ext cx="3977640" cy="237744"/>
          </a:xfrm>
          <a:prstGeom prst="rect">
            <a:avLst/>
          </a:prstGeom>
          <a:noFill/>
          <a:ln/>
        </p:spPr>
        <p:txBody>
          <a:bodyPr wrap="square" rtlCol="0" anchor="ctr"/>
          <a:lstStyle/>
          <a:p>
            <a:pPr marL="0" indent="0">
              <a:buNone/>
            </a:pPr>
            <a:r>
              <a:rPr lang="en-US" sz="950" b="1" dirty="0">
                <a:solidFill>
                  <a:srgbClr val="1B2A4A"/>
                </a:solidFill>
              </a:rPr>
              <a:t>Transfer Learning vs. Raw LightGBM</a:t>
            </a:r>
            <a:endParaRPr lang="en-US" sz="950" dirty="0"/>
          </a:p>
        </p:txBody>
      </p:sp>
      <p:sp>
        <p:nvSpPr>
          <p:cNvPr id="43" name="Text 41"/>
          <p:cNvSpPr/>
          <p:nvPr/>
        </p:nvSpPr>
        <p:spPr>
          <a:xfrm>
            <a:off x="4837176" y="4233672"/>
            <a:ext cx="3977640" cy="347472"/>
          </a:xfrm>
          <a:prstGeom prst="rect">
            <a:avLst/>
          </a:prstGeom>
          <a:noFill/>
          <a:ln/>
        </p:spPr>
        <p:txBody>
          <a:bodyPr wrap="square" rtlCol="0" anchor="ctr"/>
          <a:lstStyle/>
          <a:p>
            <a:pPr marL="0" indent="0">
              <a:buNone/>
            </a:pPr>
            <a:r>
              <a:rPr lang="en-US" sz="850" dirty="0">
                <a:solidFill>
                  <a:srgbClr val="2D3748"/>
                </a:solidFill>
              </a:rPr>
              <a:t>Without Cebu transfer learning, gentrifying-area predictions had 2.4× higher error — confirming domain adaptation is essential.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Impact: Democratizing Real Estate Intelligence</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12 / 16</a:t>
            </a:r>
            <a:endParaRPr lang="en-US" sz="750" dirty="0"/>
          </a:p>
        </p:txBody>
      </p:sp>
      <p:sp>
        <p:nvSpPr>
          <p:cNvPr id="8" name="Shape 6"/>
          <p:cNvSpPr/>
          <p:nvPr/>
        </p:nvSpPr>
        <p:spPr>
          <a:xfrm>
            <a:off x="228600" y="1005840"/>
            <a:ext cx="4114800" cy="3566160"/>
          </a:xfrm>
          <a:prstGeom prst="rect">
            <a:avLst/>
          </a:prstGeom>
          <a:solidFill>
            <a:srgbClr val="FFF0F0"/>
          </a:solidFill>
          <a:ln w="12700">
            <a:solidFill>
              <a:srgbClr val="FFCCCC"/>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4114800" cy="365760"/>
          </a:xfrm>
          <a:prstGeom prst="rect">
            <a:avLst/>
          </a:prstGeom>
          <a:solidFill>
            <a:srgbClr val="C0392B"/>
          </a:solidFill>
          <a:ln w="12700">
            <a:solidFill>
              <a:srgbClr val="C0392B"/>
            </a:solidFill>
            <a:prstDash val="solid"/>
          </a:ln>
        </p:spPr>
      </p:sp>
      <p:sp>
        <p:nvSpPr>
          <p:cNvPr id="10" name="Text 8"/>
          <p:cNvSpPr/>
          <p:nvPr/>
        </p:nvSpPr>
        <p:spPr>
          <a:xfrm>
            <a:off x="320040" y="1005840"/>
            <a:ext cx="3931920" cy="365760"/>
          </a:xfrm>
          <a:prstGeom prst="rect">
            <a:avLst/>
          </a:prstGeom>
          <a:noFill/>
          <a:ln/>
        </p:spPr>
        <p:txBody>
          <a:bodyPr wrap="square" lIns="0" tIns="0" rIns="0" bIns="0" rtlCol="0" anchor="ctr"/>
          <a:lstStyle/>
          <a:p>
            <a:pPr marL="0" indent="0" algn="ctr">
              <a:buNone/>
            </a:pPr>
            <a:r>
              <a:rPr lang="en-US" sz="1200" b="1" dirty="0">
                <a:solidFill>
                  <a:srgbClr val="FFFFFF"/>
                </a:solidFill>
              </a:rPr>
              <a:t>BEFORE ByteMe</a:t>
            </a:r>
            <a:endParaRPr lang="en-US" sz="1200" dirty="0"/>
          </a:p>
        </p:txBody>
      </p:sp>
      <p:sp>
        <p:nvSpPr>
          <p:cNvPr id="11" name="Shape 9"/>
          <p:cNvSpPr/>
          <p:nvPr/>
        </p:nvSpPr>
        <p:spPr>
          <a:xfrm>
            <a:off x="365760" y="1463040"/>
            <a:ext cx="146304" cy="146304"/>
          </a:xfrm>
          <a:prstGeom prst="ellipse">
            <a:avLst/>
          </a:prstGeom>
          <a:solidFill>
            <a:srgbClr val="C0392B"/>
          </a:solidFill>
          <a:ln w="12700">
            <a:solidFill>
              <a:srgbClr val="C0392B"/>
            </a:solidFill>
            <a:prstDash val="solid"/>
          </a:ln>
        </p:spPr>
      </p:sp>
      <p:sp>
        <p:nvSpPr>
          <p:cNvPr id="12" name="Text 10"/>
          <p:cNvSpPr/>
          <p:nvPr/>
        </p:nvSpPr>
        <p:spPr>
          <a:xfrm>
            <a:off x="576072" y="1417320"/>
            <a:ext cx="3657600" cy="329184"/>
          </a:xfrm>
          <a:prstGeom prst="rect">
            <a:avLst/>
          </a:prstGeom>
          <a:noFill/>
          <a:ln/>
        </p:spPr>
        <p:txBody>
          <a:bodyPr wrap="square" rtlCol="0" anchor="ctr"/>
          <a:lstStyle/>
          <a:p>
            <a:pPr marL="0" indent="0">
              <a:buNone/>
            </a:pPr>
            <a:r>
              <a:rPr lang="en-US" sz="950" dirty="0">
                <a:solidFill>
                  <a:srgbClr val="2D3748"/>
                </a:solidFill>
              </a:rPr>
              <a:t>Only institutional investors access valuation analytics</a:t>
            </a:r>
            <a:endParaRPr lang="en-US" sz="950" dirty="0"/>
          </a:p>
        </p:txBody>
      </p:sp>
      <p:sp>
        <p:nvSpPr>
          <p:cNvPr id="13" name="Shape 11"/>
          <p:cNvSpPr/>
          <p:nvPr/>
        </p:nvSpPr>
        <p:spPr>
          <a:xfrm>
            <a:off x="365760" y="1847088"/>
            <a:ext cx="146304" cy="146304"/>
          </a:xfrm>
          <a:prstGeom prst="ellipse">
            <a:avLst/>
          </a:prstGeom>
          <a:solidFill>
            <a:srgbClr val="C0392B"/>
          </a:solidFill>
          <a:ln w="12700">
            <a:solidFill>
              <a:srgbClr val="C0392B"/>
            </a:solidFill>
            <a:prstDash val="solid"/>
          </a:ln>
        </p:spPr>
      </p:sp>
      <p:sp>
        <p:nvSpPr>
          <p:cNvPr id="14" name="Text 12"/>
          <p:cNvSpPr/>
          <p:nvPr/>
        </p:nvSpPr>
        <p:spPr>
          <a:xfrm>
            <a:off x="576072" y="1801368"/>
            <a:ext cx="3657600" cy="329184"/>
          </a:xfrm>
          <a:prstGeom prst="rect">
            <a:avLst/>
          </a:prstGeom>
          <a:noFill/>
          <a:ln/>
        </p:spPr>
        <p:txBody>
          <a:bodyPr wrap="square" rtlCol="0" anchor="ctr"/>
          <a:lstStyle/>
          <a:p>
            <a:pPr marL="0" indent="0">
              <a:buNone/>
            </a:pPr>
            <a:r>
              <a:rPr lang="en-US" sz="950" dirty="0">
                <a:solidFill>
                  <a:srgbClr val="2D3748"/>
                </a:solidFill>
              </a:rPr>
              <a:t>Retail investors rely on agent opinions — heavily biased</a:t>
            </a:r>
            <a:endParaRPr lang="en-US" sz="950" dirty="0"/>
          </a:p>
        </p:txBody>
      </p:sp>
      <p:sp>
        <p:nvSpPr>
          <p:cNvPr id="15" name="Shape 13"/>
          <p:cNvSpPr/>
          <p:nvPr/>
        </p:nvSpPr>
        <p:spPr>
          <a:xfrm>
            <a:off x="365760" y="2231136"/>
            <a:ext cx="146304" cy="146304"/>
          </a:xfrm>
          <a:prstGeom prst="ellipse">
            <a:avLst/>
          </a:prstGeom>
          <a:solidFill>
            <a:srgbClr val="C0392B"/>
          </a:solidFill>
          <a:ln w="12700">
            <a:solidFill>
              <a:srgbClr val="C0392B"/>
            </a:solidFill>
            <a:prstDash val="solid"/>
          </a:ln>
        </p:spPr>
      </p:sp>
      <p:sp>
        <p:nvSpPr>
          <p:cNvPr id="16" name="Text 14"/>
          <p:cNvSpPr/>
          <p:nvPr/>
        </p:nvSpPr>
        <p:spPr>
          <a:xfrm>
            <a:off x="576072" y="2185416"/>
            <a:ext cx="3657600" cy="329184"/>
          </a:xfrm>
          <a:prstGeom prst="rect">
            <a:avLst/>
          </a:prstGeom>
          <a:noFill/>
          <a:ln/>
        </p:spPr>
        <p:txBody>
          <a:bodyPr wrap="square" rtlCol="0" anchor="ctr"/>
          <a:lstStyle/>
          <a:p>
            <a:pPr marL="0" indent="0">
              <a:buNone/>
            </a:pPr>
            <a:r>
              <a:rPr lang="en-US" sz="950" dirty="0">
                <a:solidFill>
                  <a:srgbClr val="2D3748"/>
                </a:solidFill>
              </a:rPr>
              <a:t>No systematic detection of over/underpriced properties</a:t>
            </a:r>
            <a:endParaRPr lang="en-US" sz="950" dirty="0"/>
          </a:p>
        </p:txBody>
      </p:sp>
      <p:sp>
        <p:nvSpPr>
          <p:cNvPr id="17" name="Shape 15"/>
          <p:cNvSpPr/>
          <p:nvPr/>
        </p:nvSpPr>
        <p:spPr>
          <a:xfrm>
            <a:off x="365760" y="2615184"/>
            <a:ext cx="146304" cy="146304"/>
          </a:xfrm>
          <a:prstGeom prst="ellipse">
            <a:avLst/>
          </a:prstGeom>
          <a:solidFill>
            <a:srgbClr val="C0392B"/>
          </a:solidFill>
          <a:ln w="12700">
            <a:solidFill>
              <a:srgbClr val="C0392B"/>
            </a:solidFill>
            <a:prstDash val="solid"/>
          </a:ln>
        </p:spPr>
      </p:sp>
      <p:sp>
        <p:nvSpPr>
          <p:cNvPr id="18" name="Text 16"/>
          <p:cNvSpPr/>
          <p:nvPr/>
        </p:nvSpPr>
        <p:spPr>
          <a:xfrm>
            <a:off x="576072" y="2569464"/>
            <a:ext cx="3657600" cy="329184"/>
          </a:xfrm>
          <a:prstGeom prst="rect">
            <a:avLst/>
          </a:prstGeom>
          <a:noFill/>
          <a:ln/>
        </p:spPr>
        <p:txBody>
          <a:bodyPr wrap="square" rtlCol="0" anchor="ctr"/>
          <a:lstStyle/>
          <a:p>
            <a:pPr marL="0" indent="0">
              <a:buNone/>
            </a:pPr>
            <a:r>
              <a:rPr lang="en-US" sz="950" dirty="0">
                <a:solidFill>
                  <a:srgbClr val="2D3748"/>
                </a:solidFill>
              </a:rPr>
              <a:t>Cold-start markets = guesswork for new investors</a:t>
            </a:r>
            <a:endParaRPr lang="en-US" sz="950" dirty="0"/>
          </a:p>
        </p:txBody>
      </p:sp>
      <p:sp>
        <p:nvSpPr>
          <p:cNvPr id="19" name="Shape 17"/>
          <p:cNvSpPr/>
          <p:nvPr/>
        </p:nvSpPr>
        <p:spPr>
          <a:xfrm>
            <a:off x="365760" y="2999232"/>
            <a:ext cx="146304" cy="146304"/>
          </a:xfrm>
          <a:prstGeom prst="ellipse">
            <a:avLst/>
          </a:prstGeom>
          <a:solidFill>
            <a:srgbClr val="C0392B"/>
          </a:solidFill>
          <a:ln w="12700">
            <a:solidFill>
              <a:srgbClr val="C0392B"/>
            </a:solidFill>
            <a:prstDash val="solid"/>
          </a:ln>
        </p:spPr>
      </p:sp>
      <p:sp>
        <p:nvSpPr>
          <p:cNvPr id="20" name="Text 18"/>
          <p:cNvSpPr/>
          <p:nvPr/>
        </p:nvSpPr>
        <p:spPr>
          <a:xfrm>
            <a:off x="576072" y="2953512"/>
            <a:ext cx="3657600" cy="329184"/>
          </a:xfrm>
          <a:prstGeom prst="rect">
            <a:avLst/>
          </a:prstGeom>
          <a:noFill/>
          <a:ln/>
        </p:spPr>
        <p:txBody>
          <a:bodyPr wrap="square" rtlCol="0" anchor="ctr"/>
          <a:lstStyle/>
          <a:p>
            <a:pPr marL="0" indent="0">
              <a:buNone/>
            </a:pPr>
            <a:r>
              <a:rPr lang="en-US" sz="950" dirty="0">
                <a:solidFill>
                  <a:srgbClr val="2D3748"/>
                </a:solidFill>
              </a:rPr>
              <a:t>Cultural &amp; legal risks invisible to quantitative tools</a:t>
            </a:r>
            <a:endParaRPr lang="en-US" sz="950" dirty="0"/>
          </a:p>
        </p:txBody>
      </p:sp>
      <p:sp>
        <p:nvSpPr>
          <p:cNvPr id="21" name="Shape 19"/>
          <p:cNvSpPr/>
          <p:nvPr/>
        </p:nvSpPr>
        <p:spPr>
          <a:xfrm>
            <a:off x="365760" y="3383280"/>
            <a:ext cx="146304" cy="146304"/>
          </a:xfrm>
          <a:prstGeom prst="ellipse">
            <a:avLst/>
          </a:prstGeom>
          <a:solidFill>
            <a:srgbClr val="C0392B"/>
          </a:solidFill>
          <a:ln w="12700">
            <a:solidFill>
              <a:srgbClr val="C0392B"/>
            </a:solidFill>
            <a:prstDash val="solid"/>
          </a:ln>
        </p:spPr>
      </p:sp>
      <p:sp>
        <p:nvSpPr>
          <p:cNvPr id="22" name="Text 20"/>
          <p:cNvSpPr/>
          <p:nvPr/>
        </p:nvSpPr>
        <p:spPr>
          <a:xfrm>
            <a:off x="576072" y="3337560"/>
            <a:ext cx="3657600" cy="329184"/>
          </a:xfrm>
          <a:prstGeom prst="rect">
            <a:avLst/>
          </a:prstGeom>
          <a:noFill/>
          <a:ln/>
        </p:spPr>
        <p:txBody>
          <a:bodyPr wrap="square" rtlCol="0" anchor="ctr"/>
          <a:lstStyle/>
          <a:p>
            <a:pPr marL="0" indent="0">
              <a:buNone/>
            </a:pPr>
            <a:r>
              <a:rPr lang="en-US" sz="950" dirty="0">
                <a:solidFill>
                  <a:srgbClr val="2D3748"/>
                </a:solidFill>
              </a:rPr>
              <a:t>Speculative inflation undetected until prices collapse</a:t>
            </a:r>
            <a:endParaRPr lang="en-US" sz="950" dirty="0"/>
          </a:p>
        </p:txBody>
      </p:sp>
      <p:sp>
        <p:nvSpPr>
          <p:cNvPr id="23" name="Shape 21"/>
          <p:cNvSpPr/>
          <p:nvPr/>
        </p:nvSpPr>
        <p:spPr>
          <a:xfrm>
            <a:off x="365760" y="3767328"/>
            <a:ext cx="146304" cy="146304"/>
          </a:xfrm>
          <a:prstGeom prst="ellipse">
            <a:avLst/>
          </a:prstGeom>
          <a:solidFill>
            <a:srgbClr val="C0392B"/>
          </a:solidFill>
          <a:ln w="12700">
            <a:solidFill>
              <a:srgbClr val="C0392B"/>
            </a:solidFill>
            <a:prstDash val="solid"/>
          </a:ln>
        </p:spPr>
      </p:sp>
      <p:sp>
        <p:nvSpPr>
          <p:cNvPr id="24" name="Text 22"/>
          <p:cNvSpPr/>
          <p:nvPr/>
        </p:nvSpPr>
        <p:spPr>
          <a:xfrm>
            <a:off x="576072" y="3721608"/>
            <a:ext cx="3657600" cy="329184"/>
          </a:xfrm>
          <a:prstGeom prst="rect">
            <a:avLst/>
          </a:prstGeom>
          <a:noFill/>
          <a:ln/>
        </p:spPr>
        <p:txBody>
          <a:bodyPr wrap="square" rtlCol="0" anchor="ctr"/>
          <a:lstStyle/>
          <a:p>
            <a:pPr marL="0" indent="0">
              <a:buNone/>
            </a:pPr>
            <a:r>
              <a:rPr lang="en-US" sz="950" dirty="0">
                <a:solidFill>
                  <a:srgbClr val="2D3748"/>
                </a:solidFill>
              </a:rPr>
              <a:t>Investment analysis takes weeks of manual research</a:t>
            </a:r>
            <a:endParaRPr lang="en-US" sz="950" dirty="0"/>
          </a:p>
        </p:txBody>
      </p:sp>
      <p:sp>
        <p:nvSpPr>
          <p:cNvPr id="25" name="Shape 23"/>
          <p:cNvSpPr/>
          <p:nvPr/>
        </p:nvSpPr>
        <p:spPr>
          <a:xfrm>
            <a:off x="4572000" y="1005840"/>
            <a:ext cx="4343400" cy="3566160"/>
          </a:xfrm>
          <a:prstGeom prst="rect">
            <a:avLst/>
          </a:prstGeom>
          <a:solidFill>
            <a:srgbClr val="F0FFF4"/>
          </a:solidFill>
          <a:ln w="12700">
            <a:solidFill>
              <a:srgbClr val="CCFFDD"/>
            </a:solidFill>
            <a:prstDash val="solid"/>
          </a:ln>
          <a:effectLst>
            <a:outerShdw blurRad="101600" dist="25400" dir="8100000" algn="bl" rotWithShape="0">
              <a:srgbClr val="000000">
                <a:alpha val="10000"/>
              </a:srgbClr>
            </a:outerShdw>
          </a:effectLst>
        </p:spPr>
      </p:sp>
      <p:sp>
        <p:nvSpPr>
          <p:cNvPr id="26" name="Shape 24"/>
          <p:cNvSpPr/>
          <p:nvPr/>
        </p:nvSpPr>
        <p:spPr>
          <a:xfrm>
            <a:off x="4572000" y="1005840"/>
            <a:ext cx="4343400" cy="365760"/>
          </a:xfrm>
          <a:prstGeom prst="rect">
            <a:avLst/>
          </a:prstGeom>
          <a:solidFill>
            <a:srgbClr val="1B6B3A"/>
          </a:solidFill>
          <a:ln w="12700">
            <a:solidFill>
              <a:srgbClr val="1B6B3A"/>
            </a:solidFill>
            <a:prstDash val="solid"/>
          </a:ln>
        </p:spPr>
      </p:sp>
      <p:sp>
        <p:nvSpPr>
          <p:cNvPr id="27" name="Text 25"/>
          <p:cNvSpPr/>
          <p:nvPr/>
        </p:nvSpPr>
        <p:spPr>
          <a:xfrm>
            <a:off x="4663440" y="1005840"/>
            <a:ext cx="4160520" cy="365760"/>
          </a:xfrm>
          <a:prstGeom prst="rect">
            <a:avLst/>
          </a:prstGeom>
          <a:noFill/>
          <a:ln/>
        </p:spPr>
        <p:txBody>
          <a:bodyPr wrap="square" lIns="0" tIns="0" rIns="0" bIns="0" rtlCol="0" anchor="ctr"/>
          <a:lstStyle/>
          <a:p>
            <a:pPr marL="0" indent="0" algn="ctr">
              <a:buNone/>
            </a:pPr>
            <a:r>
              <a:rPr lang="en-US" sz="1200" b="1" dirty="0">
                <a:solidFill>
                  <a:srgbClr val="FFFFFF"/>
                </a:solidFill>
              </a:rPr>
              <a:t>AFTER ByteMe</a:t>
            </a:r>
            <a:endParaRPr lang="en-US" sz="1200" dirty="0"/>
          </a:p>
        </p:txBody>
      </p:sp>
      <p:sp>
        <p:nvSpPr>
          <p:cNvPr id="28" name="Shape 26"/>
          <p:cNvSpPr/>
          <p:nvPr/>
        </p:nvSpPr>
        <p:spPr>
          <a:xfrm>
            <a:off x="4709160" y="1463040"/>
            <a:ext cx="146304" cy="146304"/>
          </a:xfrm>
          <a:prstGeom prst="ellipse">
            <a:avLst/>
          </a:prstGeom>
          <a:solidFill>
            <a:srgbClr val="1B6B3A"/>
          </a:solidFill>
          <a:ln w="12700">
            <a:solidFill>
              <a:srgbClr val="1B6B3A"/>
            </a:solidFill>
            <a:prstDash val="solid"/>
          </a:ln>
        </p:spPr>
      </p:sp>
      <p:sp>
        <p:nvSpPr>
          <p:cNvPr id="29" name="Text 27"/>
          <p:cNvSpPr/>
          <p:nvPr/>
        </p:nvSpPr>
        <p:spPr>
          <a:xfrm>
            <a:off x="4919472" y="1417320"/>
            <a:ext cx="3858768" cy="329184"/>
          </a:xfrm>
          <a:prstGeom prst="rect">
            <a:avLst/>
          </a:prstGeom>
          <a:noFill/>
          <a:ln/>
        </p:spPr>
        <p:txBody>
          <a:bodyPr wrap="square" rtlCol="0" anchor="ctr"/>
          <a:lstStyle/>
          <a:p>
            <a:pPr marL="0" indent="0">
              <a:buNone/>
            </a:pPr>
            <a:r>
              <a:rPr lang="en-US" sz="950" dirty="0">
                <a:solidFill>
                  <a:srgbClr val="2D3748"/>
                </a:solidFill>
              </a:rPr>
              <a:t>Any investor — retail or institutional — accesses same intelligence</a:t>
            </a:r>
            <a:endParaRPr lang="en-US" sz="950" dirty="0"/>
          </a:p>
        </p:txBody>
      </p:sp>
      <p:sp>
        <p:nvSpPr>
          <p:cNvPr id="30" name="Shape 28"/>
          <p:cNvSpPr/>
          <p:nvPr/>
        </p:nvSpPr>
        <p:spPr>
          <a:xfrm>
            <a:off x="4709160" y="1847088"/>
            <a:ext cx="146304" cy="146304"/>
          </a:xfrm>
          <a:prstGeom prst="ellipse">
            <a:avLst/>
          </a:prstGeom>
          <a:solidFill>
            <a:srgbClr val="1B6B3A"/>
          </a:solidFill>
          <a:ln w="12700">
            <a:solidFill>
              <a:srgbClr val="1B6B3A"/>
            </a:solidFill>
            <a:prstDash val="solid"/>
          </a:ln>
        </p:spPr>
      </p:sp>
      <p:sp>
        <p:nvSpPr>
          <p:cNvPr id="31" name="Text 29"/>
          <p:cNvSpPr/>
          <p:nvPr/>
        </p:nvSpPr>
        <p:spPr>
          <a:xfrm>
            <a:off x="4919472" y="1801368"/>
            <a:ext cx="3858768" cy="329184"/>
          </a:xfrm>
          <a:prstGeom prst="rect">
            <a:avLst/>
          </a:prstGeom>
          <a:noFill/>
          <a:ln/>
        </p:spPr>
        <p:txBody>
          <a:bodyPr wrap="square" rtlCol="0" anchor="ctr"/>
          <a:lstStyle/>
          <a:p>
            <a:pPr marL="0" indent="0">
              <a:buNone/>
            </a:pPr>
            <a:r>
              <a:rPr lang="en-US" sz="950" dirty="0">
                <a:solidFill>
                  <a:srgbClr val="2D3748"/>
                </a:solidFill>
              </a:rPr>
              <a:t>AI-validated fair values counter agent bias systematically</a:t>
            </a:r>
            <a:endParaRPr lang="en-US" sz="950" dirty="0"/>
          </a:p>
        </p:txBody>
      </p:sp>
      <p:sp>
        <p:nvSpPr>
          <p:cNvPr id="32" name="Shape 30"/>
          <p:cNvSpPr/>
          <p:nvPr/>
        </p:nvSpPr>
        <p:spPr>
          <a:xfrm>
            <a:off x="4709160" y="2231136"/>
            <a:ext cx="146304" cy="146304"/>
          </a:xfrm>
          <a:prstGeom prst="ellipse">
            <a:avLst/>
          </a:prstGeom>
          <a:solidFill>
            <a:srgbClr val="1B6B3A"/>
          </a:solidFill>
          <a:ln w="12700">
            <a:solidFill>
              <a:srgbClr val="1B6B3A"/>
            </a:solidFill>
            <a:prstDash val="solid"/>
          </a:ln>
        </p:spPr>
      </p:sp>
      <p:sp>
        <p:nvSpPr>
          <p:cNvPr id="33" name="Text 31"/>
          <p:cNvSpPr/>
          <p:nvPr/>
        </p:nvSpPr>
        <p:spPr>
          <a:xfrm>
            <a:off x="4919472" y="2185416"/>
            <a:ext cx="3858768" cy="329184"/>
          </a:xfrm>
          <a:prstGeom prst="rect">
            <a:avLst/>
          </a:prstGeom>
          <a:noFill/>
          <a:ln/>
        </p:spPr>
        <p:txBody>
          <a:bodyPr wrap="square" rtlCol="0" anchor="ctr"/>
          <a:lstStyle/>
          <a:p>
            <a:pPr marL="0" indent="0">
              <a:buNone/>
            </a:pPr>
            <a:r>
              <a:rPr lang="en-US" sz="950" dirty="0">
                <a:solidFill>
                  <a:srgbClr val="2D3748"/>
                </a:solidFill>
              </a:rPr>
              <a:t>Real-time divergence alerts flag over/undervalued properties</a:t>
            </a:r>
            <a:endParaRPr lang="en-US" sz="950" dirty="0"/>
          </a:p>
        </p:txBody>
      </p:sp>
      <p:sp>
        <p:nvSpPr>
          <p:cNvPr id="34" name="Shape 32"/>
          <p:cNvSpPr/>
          <p:nvPr/>
        </p:nvSpPr>
        <p:spPr>
          <a:xfrm>
            <a:off x="4709160" y="2615184"/>
            <a:ext cx="146304" cy="146304"/>
          </a:xfrm>
          <a:prstGeom prst="ellipse">
            <a:avLst/>
          </a:prstGeom>
          <a:solidFill>
            <a:srgbClr val="1B6B3A"/>
          </a:solidFill>
          <a:ln w="12700">
            <a:solidFill>
              <a:srgbClr val="1B6B3A"/>
            </a:solidFill>
            <a:prstDash val="solid"/>
          </a:ln>
        </p:spPr>
      </p:sp>
      <p:sp>
        <p:nvSpPr>
          <p:cNvPr id="35" name="Text 33"/>
          <p:cNvSpPr/>
          <p:nvPr/>
        </p:nvSpPr>
        <p:spPr>
          <a:xfrm>
            <a:off x="4919472" y="2569464"/>
            <a:ext cx="3858768" cy="329184"/>
          </a:xfrm>
          <a:prstGeom prst="rect">
            <a:avLst/>
          </a:prstGeom>
          <a:noFill/>
          <a:ln/>
        </p:spPr>
        <p:txBody>
          <a:bodyPr wrap="square" rtlCol="0" anchor="ctr"/>
          <a:lstStyle/>
          <a:p>
            <a:pPr marL="0" indent="0">
              <a:buNone/>
            </a:pPr>
            <a:r>
              <a:rPr lang="en-US" sz="950" dirty="0">
                <a:solidFill>
                  <a:srgbClr val="2D3748"/>
                </a:solidFill>
              </a:rPr>
              <a:t>Transfer learning enables reliable predictions with &lt;500 data points</a:t>
            </a:r>
            <a:endParaRPr lang="en-US" sz="950" dirty="0"/>
          </a:p>
        </p:txBody>
      </p:sp>
      <p:sp>
        <p:nvSpPr>
          <p:cNvPr id="36" name="Shape 34"/>
          <p:cNvSpPr/>
          <p:nvPr/>
        </p:nvSpPr>
        <p:spPr>
          <a:xfrm>
            <a:off x="4709160" y="2999232"/>
            <a:ext cx="146304" cy="146304"/>
          </a:xfrm>
          <a:prstGeom prst="ellipse">
            <a:avLst/>
          </a:prstGeom>
          <a:solidFill>
            <a:srgbClr val="1B6B3A"/>
          </a:solidFill>
          <a:ln w="12700">
            <a:solidFill>
              <a:srgbClr val="1B6B3A"/>
            </a:solidFill>
            <a:prstDash val="solid"/>
          </a:ln>
        </p:spPr>
      </p:sp>
      <p:sp>
        <p:nvSpPr>
          <p:cNvPr id="37" name="Text 35"/>
          <p:cNvSpPr/>
          <p:nvPr/>
        </p:nvSpPr>
        <p:spPr>
          <a:xfrm>
            <a:off x="4919472" y="2953512"/>
            <a:ext cx="3858768" cy="329184"/>
          </a:xfrm>
          <a:prstGeom prst="rect">
            <a:avLst/>
          </a:prstGeom>
          <a:noFill/>
          <a:ln/>
        </p:spPr>
        <p:txBody>
          <a:bodyPr wrap="square" rtlCol="0" anchor="ctr"/>
          <a:lstStyle/>
          <a:p>
            <a:pPr marL="0" indent="0">
              <a:buNone/>
            </a:pPr>
            <a:r>
              <a:rPr lang="en-US" sz="950" dirty="0">
                <a:solidFill>
                  <a:srgbClr val="2D3748"/>
                </a:solidFill>
              </a:rPr>
              <a:t>Cultural &amp; legal risk scores embedded in every property analysis</a:t>
            </a:r>
            <a:endParaRPr lang="en-US" sz="950" dirty="0"/>
          </a:p>
        </p:txBody>
      </p:sp>
      <p:sp>
        <p:nvSpPr>
          <p:cNvPr id="38" name="Shape 36"/>
          <p:cNvSpPr/>
          <p:nvPr/>
        </p:nvSpPr>
        <p:spPr>
          <a:xfrm>
            <a:off x="4709160" y="3383280"/>
            <a:ext cx="146304" cy="146304"/>
          </a:xfrm>
          <a:prstGeom prst="ellipse">
            <a:avLst/>
          </a:prstGeom>
          <a:solidFill>
            <a:srgbClr val="1B6B3A"/>
          </a:solidFill>
          <a:ln w="12700">
            <a:solidFill>
              <a:srgbClr val="1B6B3A"/>
            </a:solidFill>
            <a:prstDash val="solid"/>
          </a:ln>
        </p:spPr>
      </p:sp>
      <p:sp>
        <p:nvSpPr>
          <p:cNvPr id="39" name="Text 37"/>
          <p:cNvSpPr/>
          <p:nvPr/>
        </p:nvSpPr>
        <p:spPr>
          <a:xfrm>
            <a:off x="4919472" y="3337560"/>
            <a:ext cx="3858768" cy="329184"/>
          </a:xfrm>
          <a:prstGeom prst="rect">
            <a:avLst/>
          </a:prstGeom>
          <a:noFill/>
          <a:ln/>
        </p:spPr>
        <p:txBody>
          <a:bodyPr wrap="square" rtlCol="0" anchor="ctr"/>
          <a:lstStyle/>
          <a:p>
            <a:pPr marL="0" indent="0">
              <a:buNone/>
            </a:pPr>
            <a:r>
              <a:rPr lang="en-US" sz="950" dirty="0">
                <a:solidFill>
                  <a:srgbClr val="2D3748"/>
                </a:solidFill>
              </a:rPr>
              <a:t>Speculative inflation patterns detected weeks before price data shows</a:t>
            </a:r>
            <a:endParaRPr lang="en-US" sz="950" dirty="0"/>
          </a:p>
        </p:txBody>
      </p:sp>
      <p:sp>
        <p:nvSpPr>
          <p:cNvPr id="40" name="Shape 38"/>
          <p:cNvSpPr/>
          <p:nvPr/>
        </p:nvSpPr>
        <p:spPr>
          <a:xfrm>
            <a:off x="4709160" y="3767328"/>
            <a:ext cx="146304" cy="146304"/>
          </a:xfrm>
          <a:prstGeom prst="ellipse">
            <a:avLst/>
          </a:prstGeom>
          <a:solidFill>
            <a:srgbClr val="1B6B3A"/>
          </a:solidFill>
          <a:ln w="12700">
            <a:solidFill>
              <a:srgbClr val="1B6B3A"/>
            </a:solidFill>
            <a:prstDash val="solid"/>
          </a:ln>
        </p:spPr>
      </p:sp>
      <p:sp>
        <p:nvSpPr>
          <p:cNvPr id="41" name="Text 39"/>
          <p:cNvSpPr/>
          <p:nvPr/>
        </p:nvSpPr>
        <p:spPr>
          <a:xfrm>
            <a:off x="4919472" y="3721608"/>
            <a:ext cx="3858768" cy="329184"/>
          </a:xfrm>
          <a:prstGeom prst="rect">
            <a:avLst/>
          </a:prstGeom>
          <a:noFill/>
          <a:ln/>
        </p:spPr>
        <p:txBody>
          <a:bodyPr wrap="square" rtlCol="0" anchor="ctr"/>
          <a:lstStyle/>
          <a:p>
            <a:pPr marL="0" indent="0">
              <a:buNone/>
            </a:pPr>
            <a:r>
              <a:rPr lang="en-US" sz="950" dirty="0">
                <a:solidFill>
                  <a:srgbClr val="2D3748"/>
                </a:solidFill>
              </a:rPr>
              <a:t>Complete analysis in minutes — democratizing speed and depth</a:t>
            </a:r>
            <a:endParaRPr lang="en-US" sz="950" dirty="0"/>
          </a:p>
        </p:txBody>
      </p:sp>
      <p:sp>
        <p:nvSpPr>
          <p:cNvPr id="42" name="Shape 40"/>
          <p:cNvSpPr/>
          <p:nvPr/>
        </p:nvSpPr>
        <p:spPr>
          <a:xfrm>
            <a:off x="228600" y="4645152"/>
            <a:ext cx="8686800" cy="201168"/>
          </a:xfrm>
          <a:prstGeom prst="rect">
            <a:avLst/>
          </a:prstGeom>
          <a:solidFill>
            <a:srgbClr val="1B2A4A"/>
          </a:solidFill>
          <a:ln w="12700">
            <a:solidFill>
              <a:srgbClr val="1B2A4A"/>
            </a:solidFill>
            <a:prstDash val="solid"/>
          </a:ln>
        </p:spPr>
      </p:sp>
      <p:sp>
        <p:nvSpPr>
          <p:cNvPr id="43" name="Shape 41"/>
          <p:cNvSpPr/>
          <p:nvPr/>
        </p:nvSpPr>
        <p:spPr>
          <a:xfrm>
            <a:off x="292608" y="4663440"/>
            <a:ext cx="1371600" cy="164592"/>
          </a:xfrm>
          <a:prstGeom prst="rect">
            <a:avLst/>
          </a:prstGeom>
          <a:solidFill>
            <a:srgbClr val="D4A017"/>
          </a:solidFill>
          <a:ln w="12700">
            <a:solidFill>
              <a:srgbClr val="D4A017"/>
            </a:solidFill>
            <a:prstDash val="solid"/>
          </a:ln>
        </p:spPr>
      </p:sp>
      <p:sp>
        <p:nvSpPr>
          <p:cNvPr id="44" name="Text 42"/>
          <p:cNvSpPr/>
          <p:nvPr/>
        </p:nvSpPr>
        <p:spPr>
          <a:xfrm>
            <a:off x="292608"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Retail Investors</a:t>
            </a:r>
            <a:endParaRPr lang="en-US" sz="750" dirty="0"/>
          </a:p>
        </p:txBody>
      </p:sp>
      <p:sp>
        <p:nvSpPr>
          <p:cNvPr id="45" name="Shape 43"/>
          <p:cNvSpPr/>
          <p:nvPr/>
        </p:nvSpPr>
        <p:spPr>
          <a:xfrm>
            <a:off x="1737360" y="4663440"/>
            <a:ext cx="1371600" cy="164592"/>
          </a:xfrm>
          <a:prstGeom prst="rect">
            <a:avLst/>
          </a:prstGeom>
          <a:solidFill>
            <a:srgbClr val="F0C84A"/>
          </a:solidFill>
          <a:ln w="12700">
            <a:solidFill>
              <a:srgbClr val="D4A017"/>
            </a:solidFill>
            <a:prstDash val="solid"/>
          </a:ln>
        </p:spPr>
      </p:sp>
      <p:sp>
        <p:nvSpPr>
          <p:cNvPr id="46" name="Text 44"/>
          <p:cNvSpPr/>
          <p:nvPr/>
        </p:nvSpPr>
        <p:spPr>
          <a:xfrm>
            <a:off x="1737360"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OFW Remittance Investors</a:t>
            </a:r>
            <a:endParaRPr lang="en-US" sz="750" dirty="0"/>
          </a:p>
        </p:txBody>
      </p:sp>
      <p:sp>
        <p:nvSpPr>
          <p:cNvPr id="47" name="Shape 45"/>
          <p:cNvSpPr/>
          <p:nvPr/>
        </p:nvSpPr>
        <p:spPr>
          <a:xfrm>
            <a:off x="3182112" y="4663440"/>
            <a:ext cx="1371600" cy="164592"/>
          </a:xfrm>
          <a:prstGeom prst="rect">
            <a:avLst/>
          </a:prstGeom>
          <a:solidFill>
            <a:srgbClr val="D4A017"/>
          </a:solidFill>
          <a:ln w="12700">
            <a:solidFill>
              <a:srgbClr val="D4A017"/>
            </a:solidFill>
            <a:prstDash val="solid"/>
          </a:ln>
        </p:spPr>
      </p:sp>
      <p:sp>
        <p:nvSpPr>
          <p:cNvPr id="48" name="Text 46"/>
          <p:cNvSpPr/>
          <p:nvPr/>
        </p:nvSpPr>
        <p:spPr>
          <a:xfrm>
            <a:off x="3182112"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SME Developers</a:t>
            </a:r>
            <a:endParaRPr lang="en-US" sz="750" dirty="0"/>
          </a:p>
        </p:txBody>
      </p:sp>
      <p:sp>
        <p:nvSpPr>
          <p:cNvPr id="49" name="Shape 47"/>
          <p:cNvSpPr/>
          <p:nvPr/>
        </p:nvSpPr>
        <p:spPr>
          <a:xfrm>
            <a:off x="4626864" y="4663440"/>
            <a:ext cx="1371600" cy="164592"/>
          </a:xfrm>
          <a:prstGeom prst="rect">
            <a:avLst/>
          </a:prstGeom>
          <a:solidFill>
            <a:srgbClr val="F0C84A"/>
          </a:solidFill>
          <a:ln w="12700">
            <a:solidFill>
              <a:srgbClr val="D4A017"/>
            </a:solidFill>
            <a:prstDash val="solid"/>
          </a:ln>
        </p:spPr>
      </p:sp>
      <p:sp>
        <p:nvSpPr>
          <p:cNvPr id="50" name="Text 48"/>
          <p:cNvSpPr/>
          <p:nvPr/>
        </p:nvSpPr>
        <p:spPr>
          <a:xfrm>
            <a:off x="4626864"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Local Government Units</a:t>
            </a:r>
            <a:endParaRPr lang="en-US" sz="750" dirty="0"/>
          </a:p>
        </p:txBody>
      </p:sp>
      <p:sp>
        <p:nvSpPr>
          <p:cNvPr id="51" name="Shape 49"/>
          <p:cNvSpPr/>
          <p:nvPr/>
        </p:nvSpPr>
        <p:spPr>
          <a:xfrm>
            <a:off x="6071616" y="4663440"/>
            <a:ext cx="1371600" cy="164592"/>
          </a:xfrm>
          <a:prstGeom prst="rect">
            <a:avLst/>
          </a:prstGeom>
          <a:solidFill>
            <a:srgbClr val="D4A017"/>
          </a:solidFill>
          <a:ln w="12700">
            <a:solidFill>
              <a:srgbClr val="D4A017"/>
            </a:solidFill>
            <a:prstDash val="solid"/>
          </a:ln>
        </p:spPr>
      </p:sp>
      <p:sp>
        <p:nvSpPr>
          <p:cNvPr id="52" name="Text 50"/>
          <p:cNvSpPr/>
          <p:nvPr/>
        </p:nvSpPr>
        <p:spPr>
          <a:xfrm>
            <a:off x="6071616"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Urban Planners</a:t>
            </a:r>
            <a:endParaRPr lang="en-US" sz="750" dirty="0"/>
          </a:p>
        </p:txBody>
      </p:sp>
      <p:sp>
        <p:nvSpPr>
          <p:cNvPr id="53" name="Shape 51"/>
          <p:cNvSpPr/>
          <p:nvPr/>
        </p:nvSpPr>
        <p:spPr>
          <a:xfrm>
            <a:off x="7516368" y="4663440"/>
            <a:ext cx="1371600" cy="164592"/>
          </a:xfrm>
          <a:prstGeom prst="rect">
            <a:avLst/>
          </a:prstGeom>
          <a:solidFill>
            <a:srgbClr val="F0C84A"/>
          </a:solidFill>
          <a:ln w="12700">
            <a:solidFill>
              <a:srgbClr val="D4A017"/>
            </a:solidFill>
            <a:prstDash val="solid"/>
          </a:ln>
        </p:spPr>
      </p:sp>
      <p:sp>
        <p:nvSpPr>
          <p:cNvPr id="54" name="Text 52"/>
          <p:cNvSpPr/>
          <p:nvPr/>
        </p:nvSpPr>
        <p:spPr>
          <a:xfrm>
            <a:off x="7516368" y="4663440"/>
            <a:ext cx="1371600" cy="164592"/>
          </a:xfrm>
          <a:prstGeom prst="rect">
            <a:avLst/>
          </a:prstGeom>
          <a:noFill/>
          <a:ln/>
        </p:spPr>
        <p:txBody>
          <a:bodyPr wrap="square" lIns="0" tIns="0" rIns="0" bIns="0" rtlCol="0" anchor="ctr"/>
          <a:lstStyle/>
          <a:p>
            <a:pPr marL="0" indent="0" algn="ctr">
              <a:buNone/>
            </a:pPr>
            <a:r>
              <a:rPr lang="en-US" sz="750" b="1" dirty="0">
                <a:solidFill>
                  <a:srgbClr val="1B2A4A"/>
                </a:solidFill>
              </a:rPr>
              <a:t>Researchers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Contributions to Management Science</a:t>
            </a:r>
            <a:endParaRPr lang="en-US" sz="2200" dirty="0"/>
          </a:p>
        </p:txBody>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endParaRPr lang="en-US" sz="750" dirty="0"/>
          </a:p>
        </p:txBody>
      </p:sp>
      <p:sp>
        <p:nvSpPr>
          <p:cNvPr id="8" name="Shape 6"/>
          <p:cNvSpPr/>
          <p:nvPr/>
        </p:nvSpPr>
        <p:spPr>
          <a:xfrm>
            <a:off x="228600" y="1005840"/>
            <a:ext cx="2816352"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2816352" cy="777240"/>
          </a:xfrm>
          <a:prstGeom prst="rect">
            <a:avLst/>
          </a:prstGeom>
          <a:solidFill>
            <a:srgbClr val="1B2A4A"/>
          </a:solidFill>
          <a:ln w="12700">
            <a:solidFill>
              <a:srgbClr val="1B2A4A"/>
            </a:solidFill>
            <a:prstDash val="solid"/>
          </a:ln>
        </p:spPr>
      </p:sp>
      <p:sp>
        <p:nvSpPr>
          <p:cNvPr id="10" name="Shape 8"/>
          <p:cNvSpPr/>
          <p:nvPr/>
        </p:nvSpPr>
        <p:spPr>
          <a:xfrm>
            <a:off x="320040" y="1051560"/>
            <a:ext cx="640080" cy="640080"/>
          </a:xfrm>
          <a:prstGeom prst="ellipse">
            <a:avLst/>
          </a:prstGeom>
          <a:solidFill>
            <a:srgbClr val="D4A017"/>
          </a:solidFill>
          <a:ln w="12700">
            <a:solidFill>
              <a:srgbClr val="D4A017"/>
            </a:solidFill>
            <a:prstDash val="solid"/>
          </a:ln>
        </p:spPr>
      </p:sp>
      <p:sp>
        <p:nvSpPr>
          <p:cNvPr id="11" name="Text 9"/>
          <p:cNvSpPr/>
          <p:nvPr/>
        </p:nvSpPr>
        <p:spPr>
          <a:xfrm>
            <a:off x="320040" y="1051560"/>
            <a:ext cx="640080" cy="640080"/>
          </a:xfrm>
          <a:prstGeom prst="rect">
            <a:avLst/>
          </a:prstGeom>
          <a:noFill/>
          <a:ln/>
        </p:spPr>
        <p:txBody>
          <a:bodyPr wrap="square" lIns="0" tIns="0" rIns="0" bIns="0" rtlCol="0" anchor="ctr"/>
          <a:lstStyle/>
          <a:p>
            <a:pPr marL="0" indent="0" algn="ctr">
              <a:buNone/>
            </a:pPr>
            <a:r>
              <a:rPr lang="en-US" sz="2400" b="1" dirty="0">
                <a:solidFill>
                  <a:srgbClr val="1B2A4A"/>
                </a:solidFill>
              </a:rPr>
              <a:t>T</a:t>
            </a:r>
            <a:endParaRPr lang="en-US" sz="2400" dirty="0"/>
          </a:p>
        </p:txBody>
      </p:sp>
      <p:sp>
        <p:nvSpPr>
          <p:cNvPr id="12" name="Text 10"/>
          <p:cNvSpPr/>
          <p:nvPr/>
        </p:nvSpPr>
        <p:spPr>
          <a:xfrm>
            <a:off x="1051560" y="1069848"/>
            <a:ext cx="1920240" cy="274320"/>
          </a:xfrm>
          <a:prstGeom prst="rect">
            <a:avLst/>
          </a:prstGeom>
          <a:noFill/>
          <a:ln/>
        </p:spPr>
        <p:txBody>
          <a:bodyPr wrap="square" rtlCol="0" anchor="ctr"/>
          <a:lstStyle/>
          <a:p>
            <a:pPr marL="0" indent="0">
              <a:buNone/>
            </a:pPr>
            <a:r>
              <a:rPr lang="en-US" sz="950" b="1" kern="0" spc="200" dirty="0">
                <a:solidFill>
                  <a:srgbClr val="D4A017"/>
                </a:solidFill>
              </a:rPr>
              <a:t>THEORETICAL</a:t>
            </a:r>
            <a:endParaRPr lang="en-US" sz="950" dirty="0"/>
          </a:p>
        </p:txBody>
      </p:sp>
      <p:sp>
        <p:nvSpPr>
          <p:cNvPr id="13" name="Text 11"/>
          <p:cNvSpPr/>
          <p:nvPr/>
        </p:nvSpPr>
        <p:spPr>
          <a:xfrm>
            <a:off x="1051560" y="1344168"/>
            <a:ext cx="1920240" cy="365760"/>
          </a:xfrm>
          <a:prstGeom prst="rect">
            <a:avLst/>
          </a:prstGeom>
          <a:noFill/>
          <a:ln/>
        </p:spPr>
        <p:txBody>
          <a:bodyPr wrap="square" rtlCol="0" anchor="ctr"/>
          <a:lstStyle/>
          <a:p>
            <a:pPr marL="0" indent="0">
              <a:buNone/>
            </a:pPr>
            <a:r>
              <a:rPr lang="en-US" sz="1100" b="1" dirty="0">
                <a:solidFill>
                  <a:srgbClr val="FFFFFF"/>
                </a:solidFill>
              </a:rPr>
              <a:t>New Valuation Framework</a:t>
            </a:r>
            <a:endParaRPr lang="en-US" sz="1100" dirty="0"/>
          </a:p>
        </p:txBody>
      </p:sp>
      <p:sp>
        <p:nvSpPr>
          <p:cNvPr id="14" name="Shape 12"/>
          <p:cNvSpPr/>
          <p:nvPr/>
        </p:nvSpPr>
        <p:spPr>
          <a:xfrm>
            <a:off x="338328" y="1901952"/>
            <a:ext cx="118872" cy="118872"/>
          </a:xfrm>
          <a:prstGeom prst="ellipse">
            <a:avLst/>
          </a:prstGeom>
          <a:solidFill>
            <a:srgbClr val="1B2A4A"/>
          </a:solidFill>
          <a:ln w="12700">
            <a:solidFill>
              <a:srgbClr val="1B2A4A"/>
            </a:solidFill>
            <a:prstDash val="solid"/>
          </a:ln>
        </p:spPr>
      </p:sp>
      <p:sp>
        <p:nvSpPr>
          <p:cNvPr id="15" name="Text 13"/>
          <p:cNvSpPr/>
          <p:nvPr/>
        </p:nvSpPr>
        <p:spPr>
          <a:xfrm>
            <a:off x="521208" y="1847088"/>
            <a:ext cx="2423160" cy="640080"/>
          </a:xfrm>
          <a:prstGeom prst="rect">
            <a:avLst/>
          </a:prstGeom>
          <a:noFill/>
          <a:ln/>
        </p:spPr>
        <p:txBody>
          <a:bodyPr wrap="square" rtlCol="0" anchor="t"/>
          <a:lstStyle/>
          <a:p>
            <a:pPr marL="0" indent="0">
              <a:buNone/>
            </a:pPr>
            <a:r>
              <a:rPr lang="en-US" sz="900" dirty="0">
                <a:solidFill>
                  <a:srgbClr val="2D3748"/>
                </a:solidFill>
              </a:rPr>
              <a:t>First framework integrating transfer learning + cultural context + proxy yield in a unified RE valuation system</a:t>
            </a:r>
            <a:endParaRPr lang="en-US" sz="900" dirty="0"/>
          </a:p>
        </p:txBody>
      </p:sp>
      <p:sp>
        <p:nvSpPr>
          <p:cNvPr id="16" name="Shape 14"/>
          <p:cNvSpPr/>
          <p:nvPr/>
        </p:nvSpPr>
        <p:spPr>
          <a:xfrm>
            <a:off x="338328" y="2587752"/>
            <a:ext cx="118872" cy="118872"/>
          </a:xfrm>
          <a:prstGeom prst="ellipse">
            <a:avLst/>
          </a:prstGeom>
          <a:solidFill>
            <a:srgbClr val="1B2A4A"/>
          </a:solidFill>
          <a:ln w="12700">
            <a:solidFill>
              <a:srgbClr val="1B2A4A"/>
            </a:solidFill>
            <a:prstDash val="solid"/>
          </a:ln>
        </p:spPr>
      </p:sp>
      <p:sp>
        <p:nvSpPr>
          <p:cNvPr id="17" name="Text 15"/>
          <p:cNvSpPr/>
          <p:nvPr/>
        </p:nvSpPr>
        <p:spPr>
          <a:xfrm>
            <a:off x="521208" y="2532888"/>
            <a:ext cx="2423160" cy="640080"/>
          </a:xfrm>
          <a:prstGeom prst="rect">
            <a:avLst/>
          </a:prstGeom>
          <a:noFill/>
          <a:ln/>
        </p:spPr>
        <p:txBody>
          <a:bodyPr wrap="square" rtlCol="0" anchor="t"/>
          <a:lstStyle/>
          <a:p>
            <a:pPr marL="0" indent="0">
              <a:buNone/>
            </a:pPr>
            <a:r>
              <a:rPr lang="en-US" sz="900" dirty="0">
                <a:solidFill>
                  <a:srgbClr val="2D3748"/>
                </a:solidFill>
              </a:rPr>
              <a:t>Extends decision-support theory to data-scarce emerging market contexts in ASEAN</a:t>
            </a:r>
            <a:endParaRPr lang="en-US" sz="900" dirty="0"/>
          </a:p>
        </p:txBody>
      </p:sp>
      <p:sp>
        <p:nvSpPr>
          <p:cNvPr id="18" name="Shape 16"/>
          <p:cNvSpPr/>
          <p:nvPr/>
        </p:nvSpPr>
        <p:spPr>
          <a:xfrm>
            <a:off x="338328" y="3273552"/>
            <a:ext cx="118872" cy="118872"/>
          </a:xfrm>
          <a:prstGeom prst="ellipse">
            <a:avLst/>
          </a:prstGeom>
          <a:solidFill>
            <a:srgbClr val="1B2A4A"/>
          </a:solidFill>
          <a:ln w="12700">
            <a:solidFill>
              <a:srgbClr val="1B2A4A"/>
            </a:solidFill>
            <a:prstDash val="solid"/>
          </a:ln>
        </p:spPr>
      </p:sp>
      <p:sp>
        <p:nvSpPr>
          <p:cNvPr id="19" name="Text 17"/>
          <p:cNvSpPr/>
          <p:nvPr/>
        </p:nvSpPr>
        <p:spPr>
          <a:xfrm>
            <a:off x="521208" y="3218688"/>
            <a:ext cx="2423160" cy="640080"/>
          </a:xfrm>
          <a:prstGeom prst="rect">
            <a:avLst/>
          </a:prstGeom>
          <a:noFill/>
          <a:ln/>
        </p:spPr>
        <p:txBody>
          <a:bodyPr wrap="square" rtlCol="0" anchor="t"/>
          <a:lstStyle/>
          <a:p>
            <a:pPr marL="0" indent="0">
              <a:buNone/>
            </a:pPr>
            <a:r>
              <a:rPr lang="en-US" sz="900" dirty="0">
                <a:solidFill>
                  <a:srgbClr val="2D3748"/>
                </a:solidFill>
              </a:rPr>
              <a:t>Establishes σ &lt; 0.05 as a practical benchmark for RE prediction stability in secondary SE Asian markets</a:t>
            </a:r>
            <a:endParaRPr lang="en-US" sz="900" dirty="0"/>
          </a:p>
        </p:txBody>
      </p:sp>
      <p:sp>
        <p:nvSpPr>
          <p:cNvPr id="20" name="Shape 18"/>
          <p:cNvSpPr/>
          <p:nvPr/>
        </p:nvSpPr>
        <p:spPr>
          <a:xfrm>
            <a:off x="338328" y="3959352"/>
            <a:ext cx="118872" cy="118872"/>
          </a:xfrm>
          <a:prstGeom prst="ellipse">
            <a:avLst/>
          </a:prstGeom>
          <a:solidFill>
            <a:srgbClr val="1B2A4A"/>
          </a:solidFill>
          <a:ln w="12700">
            <a:solidFill>
              <a:srgbClr val="1B2A4A"/>
            </a:solidFill>
            <a:prstDash val="solid"/>
          </a:ln>
        </p:spPr>
      </p:sp>
      <p:sp>
        <p:nvSpPr>
          <p:cNvPr id="21" name="Text 19"/>
          <p:cNvSpPr/>
          <p:nvPr/>
        </p:nvSpPr>
        <p:spPr>
          <a:xfrm>
            <a:off x="521208" y="3904488"/>
            <a:ext cx="2423160" cy="640080"/>
          </a:xfrm>
          <a:prstGeom prst="rect">
            <a:avLst/>
          </a:prstGeom>
          <a:noFill/>
          <a:ln/>
        </p:spPr>
        <p:txBody>
          <a:bodyPr wrap="square" rtlCol="0" anchor="t"/>
          <a:lstStyle/>
          <a:p>
            <a:pPr marL="0" indent="0">
              <a:buNone/>
            </a:pPr>
            <a:r>
              <a:rPr lang="en-US" sz="900" dirty="0">
                <a:solidFill>
                  <a:srgbClr val="2D3748"/>
                </a:solidFill>
              </a:rPr>
              <a:t>Model for how cultural signals translate into quantifiable market efficiency adjustments</a:t>
            </a:r>
            <a:endParaRPr lang="en-US" sz="900" dirty="0"/>
          </a:p>
        </p:txBody>
      </p:sp>
      <p:sp>
        <p:nvSpPr>
          <p:cNvPr id="22" name="Shape 20"/>
          <p:cNvSpPr/>
          <p:nvPr/>
        </p:nvSpPr>
        <p:spPr>
          <a:xfrm>
            <a:off x="3172968" y="1005840"/>
            <a:ext cx="2816352"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3" name="Shape 21"/>
          <p:cNvSpPr/>
          <p:nvPr/>
        </p:nvSpPr>
        <p:spPr>
          <a:xfrm>
            <a:off x="3172968" y="1005840"/>
            <a:ext cx="2816352" cy="777240"/>
          </a:xfrm>
          <a:prstGeom prst="rect">
            <a:avLst/>
          </a:prstGeom>
          <a:solidFill>
            <a:srgbClr val="8B5E1B"/>
          </a:solidFill>
          <a:ln w="12700">
            <a:solidFill>
              <a:srgbClr val="8B5E1B"/>
            </a:solidFill>
            <a:prstDash val="solid"/>
          </a:ln>
        </p:spPr>
      </p:sp>
      <p:sp>
        <p:nvSpPr>
          <p:cNvPr id="24" name="Shape 22"/>
          <p:cNvSpPr/>
          <p:nvPr/>
        </p:nvSpPr>
        <p:spPr>
          <a:xfrm>
            <a:off x="3264408" y="1051560"/>
            <a:ext cx="640080" cy="640080"/>
          </a:xfrm>
          <a:prstGeom prst="ellipse">
            <a:avLst/>
          </a:prstGeom>
          <a:solidFill>
            <a:srgbClr val="D4A017"/>
          </a:solidFill>
          <a:ln w="12700">
            <a:solidFill>
              <a:srgbClr val="D4A017"/>
            </a:solidFill>
            <a:prstDash val="solid"/>
          </a:ln>
        </p:spPr>
      </p:sp>
      <p:sp>
        <p:nvSpPr>
          <p:cNvPr id="25" name="Text 23"/>
          <p:cNvSpPr/>
          <p:nvPr/>
        </p:nvSpPr>
        <p:spPr>
          <a:xfrm>
            <a:off x="3264408" y="1051560"/>
            <a:ext cx="640080" cy="640080"/>
          </a:xfrm>
          <a:prstGeom prst="rect">
            <a:avLst/>
          </a:prstGeom>
          <a:noFill/>
          <a:ln/>
        </p:spPr>
        <p:txBody>
          <a:bodyPr wrap="square" lIns="0" tIns="0" rIns="0" bIns="0" rtlCol="0" anchor="ctr"/>
          <a:lstStyle/>
          <a:p>
            <a:pPr marL="0" indent="0" algn="ctr">
              <a:buNone/>
            </a:pPr>
            <a:r>
              <a:rPr lang="en-US" sz="2400" b="1" dirty="0">
                <a:solidFill>
                  <a:srgbClr val="1B2A4A"/>
                </a:solidFill>
              </a:rPr>
              <a:t>M</a:t>
            </a:r>
            <a:endParaRPr lang="en-US" sz="2400" dirty="0"/>
          </a:p>
        </p:txBody>
      </p:sp>
      <p:sp>
        <p:nvSpPr>
          <p:cNvPr id="26" name="Text 24"/>
          <p:cNvSpPr/>
          <p:nvPr/>
        </p:nvSpPr>
        <p:spPr>
          <a:xfrm>
            <a:off x="3995928" y="1069848"/>
            <a:ext cx="1920240" cy="274320"/>
          </a:xfrm>
          <a:prstGeom prst="rect">
            <a:avLst/>
          </a:prstGeom>
          <a:noFill/>
          <a:ln/>
        </p:spPr>
        <p:txBody>
          <a:bodyPr wrap="square" rtlCol="0" anchor="ctr"/>
          <a:lstStyle/>
          <a:p>
            <a:pPr marL="0" indent="0">
              <a:buNone/>
            </a:pPr>
            <a:r>
              <a:rPr lang="en-US" sz="950" b="1" kern="0" spc="200" dirty="0">
                <a:solidFill>
                  <a:srgbClr val="D4A017"/>
                </a:solidFill>
              </a:rPr>
              <a:t>METHODOLOGICAL</a:t>
            </a:r>
            <a:endParaRPr lang="en-US" sz="950" dirty="0"/>
          </a:p>
        </p:txBody>
      </p:sp>
      <p:sp>
        <p:nvSpPr>
          <p:cNvPr id="27" name="Text 25"/>
          <p:cNvSpPr/>
          <p:nvPr/>
        </p:nvSpPr>
        <p:spPr>
          <a:xfrm>
            <a:off x="3995928" y="1344168"/>
            <a:ext cx="1920240" cy="365760"/>
          </a:xfrm>
          <a:prstGeom prst="rect">
            <a:avLst/>
          </a:prstGeom>
          <a:noFill/>
          <a:ln/>
        </p:spPr>
        <p:txBody>
          <a:bodyPr wrap="square" rtlCol="0" anchor="ctr"/>
          <a:lstStyle/>
          <a:p>
            <a:pPr marL="0" indent="0">
              <a:buNone/>
            </a:pPr>
            <a:r>
              <a:rPr lang="en-US" sz="1100" b="1" dirty="0">
                <a:solidFill>
                  <a:srgbClr val="FFFFFF"/>
                </a:solidFill>
              </a:rPr>
              <a:t>Cultural Contextualization Layer</a:t>
            </a:r>
            <a:endParaRPr lang="en-US" sz="1100" dirty="0"/>
          </a:p>
        </p:txBody>
      </p:sp>
      <p:sp>
        <p:nvSpPr>
          <p:cNvPr id="28" name="Shape 26"/>
          <p:cNvSpPr/>
          <p:nvPr/>
        </p:nvSpPr>
        <p:spPr>
          <a:xfrm>
            <a:off x="3282696" y="1901952"/>
            <a:ext cx="118872" cy="118872"/>
          </a:xfrm>
          <a:prstGeom prst="ellipse">
            <a:avLst/>
          </a:prstGeom>
          <a:solidFill>
            <a:srgbClr val="8B5E1B"/>
          </a:solidFill>
          <a:ln w="12700">
            <a:solidFill>
              <a:srgbClr val="8B5E1B"/>
            </a:solidFill>
            <a:prstDash val="solid"/>
          </a:ln>
        </p:spPr>
      </p:sp>
      <p:sp>
        <p:nvSpPr>
          <p:cNvPr id="29" name="Text 27"/>
          <p:cNvSpPr/>
          <p:nvPr/>
        </p:nvSpPr>
        <p:spPr>
          <a:xfrm>
            <a:off x="3465576" y="1847088"/>
            <a:ext cx="2423160" cy="640080"/>
          </a:xfrm>
          <a:prstGeom prst="rect">
            <a:avLst/>
          </a:prstGeom>
          <a:noFill/>
          <a:ln/>
        </p:spPr>
        <p:txBody>
          <a:bodyPr wrap="square" rtlCol="0" anchor="t"/>
          <a:lstStyle/>
          <a:p>
            <a:pPr marL="0" indent="0">
              <a:buNone/>
            </a:pPr>
            <a:r>
              <a:rPr lang="en-US" sz="900" dirty="0">
                <a:solidFill>
                  <a:srgbClr val="2D3748"/>
                </a:solidFill>
              </a:rPr>
              <a:t>Novel methodology for Proxy Yield estimation from observable non-financial proxies in data-sparse markets</a:t>
            </a:r>
            <a:endParaRPr lang="en-US" sz="900" dirty="0"/>
          </a:p>
        </p:txBody>
      </p:sp>
      <p:sp>
        <p:nvSpPr>
          <p:cNvPr id="30" name="Shape 28"/>
          <p:cNvSpPr/>
          <p:nvPr/>
        </p:nvSpPr>
        <p:spPr>
          <a:xfrm>
            <a:off x="3282696" y="2587752"/>
            <a:ext cx="118872" cy="118872"/>
          </a:xfrm>
          <a:prstGeom prst="ellipse">
            <a:avLst/>
          </a:prstGeom>
          <a:solidFill>
            <a:srgbClr val="8B5E1B"/>
          </a:solidFill>
          <a:ln w="12700">
            <a:solidFill>
              <a:srgbClr val="8B5E1B"/>
            </a:solidFill>
            <a:prstDash val="solid"/>
          </a:ln>
        </p:spPr>
      </p:sp>
      <p:sp>
        <p:nvSpPr>
          <p:cNvPr id="31" name="Text 29"/>
          <p:cNvSpPr/>
          <p:nvPr/>
        </p:nvSpPr>
        <p:spPr>
          <a:xfrm>
            <a:off x="3465576" y="2532888"/>
            <a:ext cx="2423160" cy="640080"/>
          </a:xfrm>
          <a:prstGeom prst="rect">
            <a:avLst/>
          </a:prstGeom>
          <a:noFill/>
          <a:ln/>
        </p:spPr>
        <p:txBody>
          <a:bodyPr wrap="square" rtlCol="0" anchor="t"/>
          <a:lstStyle/>
          <a:p>
            <a:pPr marL="0" indent="0">
              <a:buNone/>
            </a:pPr>
            <a:r>
              <a:rPr lang="en-US" sz="900" dirty="0">
                <a:solidFill>
                  <a:srgbClr val="2D3748"/>
                </a:solidFill>
              </a:rPr>
              <a:t>Domain adaptation protocol for transferring ML models across real estate market maturity levels</a:t>
            </a:r>
            <a:endParaRPr lang="en-US" sz="900" dirty="0"/>
          </a:p>
        </p:txBody>
      </p:sp>
      <p:sp>
        <p:nvSpPr>
          <p:cNvPr id="32" name="Shape 30"/>
          <p:cNvSpPr/>
          <p:nvPr/>
        </p:nvSpPr>
        <p:spPr>
          <a:xfrm>
            <a:off x="3282696" y="3273552"/>
            <a:ext cx="118872" cy="118872"/>
          </a:xfrm>
          <a:prstGeom prst="ellipse">
            <a:avLst/>
          </a:prstGeom>
          <a:solidFill>
            <a:srgbClr val="8B5E1B"/>
          </a:solidFill>
          <a:ln w="12700">
            <a:solidFill>
              <a:srgbClr val="8B5E1B"/>
            </a:solidFill>
            <a:prstDash val="solid"/>
          </a:ln>
        </p:spPr>
      </p:sp>
      <p:sp>
        <p:nvSpPr>
          <p:cNvPr id="33" name="Text 31"/>
          <p:cNvSpPr/>
          <p:nvPr/>
        </p:nvSpPr>
        <p:spPr>
          <a:xfrm>
            <a:off x="3465576" y="3218688"/>
            <a:ext cx="2423160" cy="640080"/>
          </a:xfrm>
          <a:prstGeom prst="rect">
            <a:avLst/>
          </a:prstGeom>
          <a:noFill/>
          <a:ln/>
        </p:spPr>
        <p:txBody>
          <a:bodyPr wrap="square" rtlCol="0" anchor="t"/>
          <a:lstStyle/>
          <a:p>
            <a:pPr marL="0" indent="0">
              <a:buNone/>
            </a:pPr>
            <a:r>
              <a:rPr lang="en-US" sz="900" dirty="0">
                <a:solidFill>
                  <a:srgbClr val="2D3748"/>
                </a:solidFill>
              </a:rPr>
              <a:t>Filipino-language NLP pipeline for cultural and legal signal extraction — replicable across SE Asia</a:t>
            </a:r>
            <a:endParaRPr lang="en-US" sz="900" dirty="0"/>
          </a:p>
        </p:txBody>
      </p:sp>
      <p:sp>
        <p:nvSpPr>
          <p:cNvPr id="34" name="Shape 32"/>
          <p:cNvSpPr/>
          <p:nvPr/>
        </p:nvSpPr>
        <p:spPr>
          <a:xfrm>
            <a:off x="3282696" y="3959352"/>
            <a:ext cx="118872" cy="118872"/>
          </a:xfrm>
          <a:prstGeom prst="ellipse">
            <a:avLst/>
          </a:prstGeom>
          <a:solidFill>
            <a:srgbClr val="8B5E1B"/>
          </a:solidFill>
          <a:ln w="12700">
            <a:solidFill>
              <a:srgbClr val="8B5E1B"/>
            </a:solidFill>
            <a:prstDash val="solid"/>
          </a:ln>
        </p:spPr>
      </p:sp>
      <p:sp>
        <p:nvSpPr>
          <p:cNvPr id="35" name="Text 33"/>
          <p:cNvSpPr/>
          <p:nvPr/>
        </p:nvSpPr>
        <p:spPr>
          <a:xfrm>
            <a:off x="3465576" y="3904488"/>
            <a:ext cx="2423160" cy="640080"/>
          </a:xfrm>
          <a:prstGeom prst="rect">
            <a:avLst/>
          </a:prstGeom>
          <a:noFill/>
          <a:ln/>
        </p:spPr>
        <p:txBody>
          <a:bodyPr wrap="square" rtlCol="0" anchor="t"/>
          <a:lstStyle/>
          <a:p>
            <a:pPr marL="0" indent="0">
              <a:buNone/>
            </a:pPr>
            <a:r>
              <a:rPr lang="en-US" sz="900" dirty="0">
                <a:solidFill>
                  <a:srgbClr val="2D3748"/>
                </a:solidFill>
              </a:rPr>
              <a:t>Longitudinal validation design: genuine out-of-sample 2024→2025 test against live literature</a:t>
            </a:r>
            <a:endParaRPr lang="en-US" sz="900" dirty="0"/>
          </a:p>
        </p:txBody>
      </p:sp>
      <p:sp>
        <p:nvSpPr>
          <p:cNvPr id="36" name="Shape 34"/>
          <p:cNvSpPr/>
          <p:nvPr/>
        </p:nvSpPr>
        <p:spPr>
          <a:xfrm>
            <a:off x="6117336" y="1005840"/>
            <a:ext cx="2816352" cy="37033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7" name="Shape 35"/>
          <p:cNvSpPr/>
          <p:nvPr/>
        </p:nvSpPr>
        <p:spPr>
          <a:xfrm>
            <a:off x="6117336" y="1005840"/>
            <a:ext cx="2816352" cy="777240"/>
          </a:xfrm>
          <a:prstGeom prst="rect">
            <a:avLst/>
          </a:prstGeom>
          <a:solidFill>
            <a:srgbClr val="1B6B3A"/>
          </a:solidFill>
          <a:ln w="12700">
            <a:solidFill>
              <a:srgbClr val="1B6B3A"/>
            </a:solidFill>
            <a:prstDash val="solid"/>
          </a:ln>
        </p:spPr>
      </p:sp>
      <p:sp>
        <p:nvSpPr>
          <p:cNvPr id="38" name="Shape 36"/>
          <p:cNvSpPr/>
          <p:nvPr/>
        </p:nvSpPr>
        <p:spPr>
          <a:xfrm>
            <a:off x="6208776" y="1051560"/>
            <a:ext cx="640080" cy="640080"/>
          </a:xfrm>
          <a:prstGeom prst="ellipse">
            <a:avLst/>
          </a:prstGeom>
          <a:solidFill>
            <a:srgbClr val="D4A017"/>
          </a:solidFill>
          <a:ln w="12700">
            <a:solidFill>
              <a:srgbClr val="D4A017"/>
            </a:solidFill>
            <a:prstDash val="solid"/>
          </a:ln>
        </p:spPr>
      </p:sp>
      <p:sp>
        <p:nvSpPr>
          <p:cNvPr id="39" name="Text 37"/>
          <p:cNvSpPr/>
          <p:nvPr/>
        </p:nvSpPr>
        <p:spPr>
          <a:xfrm>
            <a:off x="6208776" y="1051560"/>
            <a:ext cx="640080" cy="640080"/>
          </a:xfrm>
          <a:prstGeom prst="rect">
            <a:avLst/>
          </a:prstGeom>
          <a:noFill/>
          <a:ln/>
        </p:spPr>
        <p:txBody>
          <a:bodyPr wrap="square" lIns="0" tIns="0" rIns="0" bIns="0" rtlCol="0" anchor="ctr"/>
          <a:lstStyle/>
          <a:p>
            <a:pPr marL="0" indent="0" algn="ctr">
              <a:buNone/>
            </a:pPr>
            <a:r>
              <a:rPr lang="en-US" sz="2400" b="1" dirty="0">
                <a:solidFill>
                  <a:srgbClr val="1B2A4A"/>
                </a:solidFill>
              </a:rPr>
              <a:t>P</a:t>
            </a:r>
            <a:endParaRPr lang="en-US" sz="2400" dirty="0"/>
          </a:p>
        </p:txBody>
      </p:sp>
      <p:sp>
        <p:nvSpPr>
          <p:cNvPr id="40" name="Text 38"/>
          <p:cNvSpPr/>
          <p:nvPr/>
        </p:nvSpPr>
        <p:spPr>
          <a:xfrm>
            <a:off x="6940296" y="1069848"/>
            <a:ext cx="1920240" cy="274320"/>
          </a:xfrm>
          <a:prstGeom prst="rect">
            <a:avLst/>
          </a:prstGeom>
          <a:noFill/>
          <a:ln/>
        </p:spPr>
        <p:txBody>
          <a:bodyPr wrap="square" rtlCol="0" anchor="ctr"/>
          <a:lstStyle/>
          <a:p>
            <a:pPr marL="0" indent="0">
              <a:buNone/>
            </a:pPr>
            <a:r>
              <a:rPr lang="en-US" sz="950" b="1" kern="0" spc="200" dirty="0">
                <a:solidFill>
                  <a:srgbClr val="D4A017"/>
                </a:solidFill>
              </a:rPr>
              <a:t>PRACTICAL</a:t>
            </a:r>
            <a:endParaRPr lang="en-US" sz="950" dirty="0"/>
          </a:p>
        </p:txBody>
      </p:sp>
      <p:sp>
        <p:nvSpPr>
          <p:cNvPr id="41" name="Text 39"/>
          <p:cNvSpPr/>
          <p:nvPr/>
        </p:nvSpPr>
        <p:spPr>
          <a:xfrm>
            <a:off x="6940296" y="1344168"/>
            <a:ext cx="1920240" cy="365760"/>
          </a:xfrm>
          <a:prstGeom prst="rect">
            <a:avLst/>
          </a:prstGeom>
          <a:noFill/>
          <a:ln/>
        </p:spPr>
        <p:txBody>
          <a:bodyPr wrap="square" rtlCol="0" anchor="ctr"/>
          <a:lstStyle/>
          <a:p>
            <a:pPr marL="0" indent="0">
              <a:buNone/>
            </a:pPr>
            <a:r>
              <a:rPr lang="en-US" sz="1100" b="1" dirty="0">
                <a:solidFill>
                  <a:srgbClr val="FFFFFF"/>
                </a:solidFill>
              </a:rPr>
              <a:t>Deployable Web Platform</a:t>
            </a:r>
            <a:endParaRPr lang="en-US" sz="1100" dirty="0"/>
          </a:p>
        </p:txBody>
      </p:sp>
      <p:sp>
        <p:nvSpPr>
          <p:cNvPr id="42" name="Shape 40"/>
          <p:cNvSpPr/>
          <p:nvPr/>
        </p:nvSpPr>
        <p:spPr>
          <a:xfrm>
            <a:off x="6227064" y="1901952"/>
            <a:ext cx="118872" cy="118872"/>
          </a:xfrm>
          <a:prstGeom prst="ellipse">
            <a:avLst/>
          </a:prstGeom>
          <a:solidFill>
            <a:srgbClr val="1B6B3A"/>
          </a:solidFill>
          <a:ln w="12700">
            <a:solidFill>
              <a:srgbClr val="1B6B3A"/>
            </a:solidFill>
            <a:prstDash val="solid"/>
          </a:ln>
        </p:spPr>
      </p:sp>
      <p:sp>
        <p:nvSpPr>
          <p:cNvPr id="43" name="Text 41"/>
          <p:cNvSpPr/>
          <p:nvPr/>
        </p:nvSpPr>
        <p:spPr>
          <a:xfrm>
            <a:off x="6409944" y="1847088"/>
            <a:ext cx="2423160" cy="640080"/>
          </a:xfrm>
          <a:prstGeom prst="rect">
            <a:avLst/>
          </a:prstGeom>
          <a:noFill/>
          <a:ln/>
        </p:spPr>
        <p:txBody>
          <a:bodyPr wrap="square" rtlCol="0" anchor="t"/>
          <a:lstStyle/>
          <a:p>
            <a:pPr marL="0" indent="0">
              <a:buNone/>
            </a:pPr>
            <a:r>
              <a:rPr lang="en-US" sz="900" dirty="0">
                <a:solidFill>
                  <a:srgbClr val="2D3748"/>
                </a:solidFill>
              </a:rPr>
              <a:t>Production-ready web application accessible to any investor without technical expertise</a:t>
            </a:r>
            <a:endParaRPr lang="en-US" sz="900" dirty="0"/>
          </a:p>
        </p:txBody>
      </p:sp>
      <p:sp>
        <p:nvSpPr>
          <p:cNvPr id="44" name="Shape 42"/>
          <p:cNvSpPr/>
          <p:nvPr/>
        </p:nvSpPr>
        <p:spPr>
          <a:xfrm>
            <a:off x="6227064" y="2587752"/>
            <a:ext cx="118872" cy="118872"/>
          </a:xfrm>
          <a:prstGeom prst="ellipse">
            <a:avLst/>
          </a:prstGeom>
          <a:solidFill>
            <a:srgbClr val="1B6B3A"/>
          </a:solidFill>
          <a:ln w="12700">
            <a:solidFill>
              <a:srgbClr val="1B6B3A"/>
            </a:solidFill>
            <a:prstDash val="solid"/>
          </a:ln>
        </p:spPr>
      </p:sp>
      <p:sp>
        <p:nvSpPr>
          <p:cNvPr id="45" name="Text 43"/>
          <p:cNvSpPr/>
          <p:nvPr/>
        </p:nvSpPr>
        <p:spPr>
          <a:xfrm>
            <a:off x="6409944" y="2532888"/>
            <a:ext cx="2423160" cy="640080"/>
          </a:xfrm>
          <a:prstGeom prst="rect">
            <a:avLst/>
          </a:prstGeom>
          <a:noFill/>
          <a:ln/>
        </p:spPr>
        <p:txBody>
          <a:bodyPr wrap="square" rtlCol="0" anchor="t"/>
          <a:lstStyle/>
          <a:p>
            <a:pPr marL="0" indent="0">
              <a:buNone/>
            </a:pPr>
            <a:r>
              <a:rPr lang="en-US" sz="900" dirty="0">
                <a:solidFill>
                  <a:srgbClr val="2D3748"/>
                </a:solidFill>
              </a:rPr>
              <a:t>Replicable blueprint for culturally-aware PropTech in Vietnam, Indonesia, and Myanmar</a:t>
            </a:r>
            <a:endParaRPr lang="en-US" sz="900" dirty="0"/>
          </a:p>
        </p:txBody>
      </p:sp>
      <p:sp>
        <p:nvSpPr>
          <p:cNvPr id="46" name="Shape 44"/>
          <p:cNvSpPr/>
          <p:nvPr/>
        </p:nvSpPr>
        <p:spPr>
          <a:xfrm>
            <a:off x="6227064" y="3273552"/>
            <a:ext cx="118872" cy="118872"/>
          </a:xfrm>
          <a:prstGeom prst="ellipse">
            <a:avLst/>
          </a:prstGeom>
          <a:solidFill>
            <a:srgbClr val="1B6B3A"/>
          </a:solidFill>
          <a:ln w="12700">
            <a:solidFill>
              <a:srgbClr val="1B6B3A"/>
            </a:solidFill>
            <a:prstDash val="solid"/>
          </a:ln>
        </p:spPr>
      </p:sp>
      <p:sp>
        <p:nvSpPr>
          <p:cNvPr id="47" name="Text 45"/>
          <p:cNvSpPr/>
          <p:nvPr/>
        </p:nvSpPr>
        <p:spPr>
          <a:xfrm>
            <a:off x="6409944" y="3218688"/>
            <a:ext cx="2423160" cy="640080"/>
          </a:xfrm>
          <a:prstGeom prst="rect">
            <a:avLst/>
          </a:prstGeom>
          <a:noFill/>
          <a:ln/>
        </p:spPr>
        <p:txBody>
          <a:bodyPr wrap="square" rtlCol="0" anchor="t"/>
          <a:lstStyle/>
          <a:p>
            <a:pPr marL="0" indent="0">
              <a:buNone/>
            </a:pPr>
            <a:r>
              <a:rPr lang="en-US" sz="900" dirty="0">
                <a:solidFill>
                  <a:srgbClr val="2D3748"/>
                </a:solidFill>
              </a:rPr>
              <a:t>Addresses UN SDG 11 (Sustainable Cities) and SDG 10 (Reduced Inequalities)</a:t>
            </a:r>
            <a:endParaRPr lang="en-US" sz="900" dirty="0"/>
          </a:p>
        </p:txBody>
      </p:sp>
      <p:sp>
        <p:nvSpPr>
          <p:cNvPr id="48" name="Shape 46"/>
          <p:cNvSpPr/>
          <p:nvPr/>
        </p:nvSpPr>
        <p:spPr>
          <a:xfrm>
            <a:off x="6227064" y="3959352"/>
            <a:ext cx="118872" cy="118872"/>
          </a:xfrm>
          <a:prstGeom prst="ellipse">
            <a:avLst/>
          </a:prstGeom>
          <a:solidFill>
            <a:srgbClr val="1B6B3A"/>
          </a:solidFill>
          <a:ln w="12700">
            <a:solidFill>
              <a:srgbClr val="1B6B3A"/>
            </a:solidFill>
            <a:prstDash val="solid"/>
          </a:ln>
        </p:spPr>
      </p:sp>
      <p:sp>
        <p:nvSpPr>
          <p:cNvPr id="49" name="Text 47"/>
          <p:cNvSpPr/>
          <p:nvPr/>
        </p:nvSpPr>
        <p:spPr>
          <a:xfrm>
            <a:off x="6409944" y="3904488"/>
            <a:ext cx="2423160" cy="640080"/>
          </a:xfrm>
          <a:prstGeom prst="rect">
            <a:avLst/>
          </a:prstGeom>
          <a:noFill/>
          <a:ln/>
        </p:spPr>
        <p:txBody>
          <a:bodyPr wrap="square" rtlCol="0" anchor="t"/>
          <a:lstStyle/>
          <a:p>
            <a:pPr marL="0" indent="0">
              <a:buNone/>
            </a:pPr>
            <a:r>
              <a:rPr lang="en-US" sz="900" dirty="0">
                <a:solidFill>
                  <a:srgbClr val="2D3748"/>
                </a:solidFill>
              </a:rPr>
              <a:t>Directly aligns with conference mandate: shaping a resilient, transparent economic future</a:t>
            </a:r>
            <a:endParaRPr lang="en-US" sz="900" dirty="0"/>
          </a:p>
        </p:txBody>
      </p:sp>
      <p:sp>
        <p:nvSpPr>
          <p:cNvPr id="50" name="Shape 48"/>
          <p:cNvSpPr/>
          <p:nvPr/>
        </p:nvSpPr>
        <p:spPr>
          <a:xfrm>
            <a:off x="228600" y="4754880"/>
            <a:ext cx="8686800" cy="274320"/>
          </a:xfrm>
          <a:prstGeom prst="rect">
            <a:avLst/>
          </a:prstGeom>
          <a:solidFill>
            <a:srgbClr val="D4A017"/>
          </a:solidFill>
          <a:ln w="12700">
            <a:solidFill>
              <a:srgbClr val="D4A017"/>
            </a:solidFill>
            <a:prstDash val="solid"/>
          </a:ln>
        </p:spPr>
      </p:sp>
      <p:sp>
        <p:nvSpPr>
          <p:cNvPr id="51" name="Text 49"/>
          <p:cNvSpPr/>
          <p:nvPr/>
        </p:nvSpPr>
        <p:spPr>
          <a:xfrm>
            <a:off x="320040" y="4754880"/>
            <a:ext cx="8503920" cy="274320"/>
          </a:xfrm>
          <a:prstGeom prst="rect">
            <a:avLst/>
          </a:prstGeom>
          <a:noFill/>
          <a:ln/>
        </p:spPr>
        <p:txBody>
          <a:bodyPr wrap="square" lIns="0" tIns="0" rIns="0" bIns="0" rtlCol="0" anchor="ctr"/>
          <a:lstStyle/>
          <a:p>
            <a:pPr marL="0" indent="0" algn="ctr">
              <a:buNone/>
            </a:pPr>
            <a:r>
              <a:rPr lang="en-US" sz="900" b="1" dirty="0">
                <a:solidFill>
                  <a:srgbClr val="1B2A4A"/>
                </a:solidFill>
              </a:rPr>
              <a:t>Conference Mandate Alignment: Shaping a Resilient Future through data transparency, equitable access, and sustainable regional economic management.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Shape 1"/>
          <p:cNvSpPr/>
          <p:nvPr/>
        </p:nvSpPr>
        <p:spPr>
          <a:xfrm>
            <a:off x="0" y="0"/>
            <a:ext cx="201168" cy="914400"/>
          </a:xfrm>
          <a:prstGeom prst="rect">
            <a:avLst/>
          </a:prstGeom>
          <a:solidFill>
            <a:srgbClr val="D4A017"/>
          </a:solidFill>
          <a:ln w="12700">
            <a:solidFill>
              <a:srgbClr val="D4A017"/>
            </a:solidFill>
            <a:prstDash val="solid"/>
          </a:ln>
        </p:spPr>
      </p:sp>
      <p:sp>
        <p:nvSpPr>
          <p:cNvPr id="4" name="Text 2"/>
          <p:cNvSpPr/>
          <p:nvPr/>
        </p:nvSpPr>
        <p:spPr>
          <a:xfrm>
            <a:off x="347472" y="0"/>
            <a:ext cx="8503920" cy="914400"/>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Limitations &amp; Future Work</a:t>
            </a:r>
            <a:endParaRPr lang="en-US" sz="2200" dirty="0"/>
          </a:p>
        </p:txBody>
      </p:sp>
      <p:sp>
        <p:nvSpPr>
          <p:cNvPr id="5" name="Shape 3"/>
          <p:cNvSpPr/>
          <p:nvPr/>
        </p:nvSpPr>
        <p:spPr>
          <a:xfrm>
            <a:off x="0" y="4919472"/>
            <a:ext cx="9144000" cy="224028"/>
          </a:xfrm>
          <a:prstGeom prst="rect">
            <a:avLst/>
          </a:prstGeom>
          <a:solidFill>
            <a:srgbClr val="1B2A4A"/>
          </a:solidFill>
          <a:ln w="12700">
            <a:solidFill>
              <a:srgbClr val="1B2A4A"/>
            </a:solidFill>
            <a:prstDash val="solid"/>
          </a:ln>
        </p:spPr>
      </p:sp>
      <p:sp>
        <p:nvSpPr>
          <p:cNvPr id="6" name="Text 4"/>
          <p:cNvSpPr/>
          <p:nvPr/>
        </p:nvSpPr>
        <p:spPr>
          <a:xfrm>
            <a:off x="182880" y="4919472"/>
            <a:ext cx="6400800" cy="224028"/>
          </a:xfrm>
          <a:prstGeom prst="rect">
            <a:avLst/>
          </a:prstGeom>
          <a:noFill/>
          <a:ln/>
        </p:spPr>
        <p:txBody>
          <a:bodyPr wrap="square" lIns="0" tIns="0" rIns="0" bIns="0" rtlCol="0" anchor="ctr"/>
          <a:lstStyle/>
          <a:p>
            <a:pPr marL="0" indent="0" algn="l">
              <a:buNone/>
            </a:pPr>
            <a:r>
              <a:rPr lang="en-US" sz="750" dirty="0">
                <a:solidFill>
                  <a:srgbClr val="F0C84A"/>
                </a:solidFill>
              </a:rPr>
              <a:t>ByteMe  |  Saigon Business School  |  2026</a:t>
            </a:r>
            <a:endParaRPr lang="en-US" sz="750" dirty="0"/>
          </a:p>
        </p:txBody>
      </p:sp>
      <p:sp>
        <p:nvSpPr>
          <p:cNvPr id="7" name="Text 5"/>
          <p:cNvSpPr/>
          <p:nvPr/>
        </p:nvSpPr>
        <p:spPr>
          <a:xfrm>
            <a:off x="8046720" y="4919472"/>
            <a:ext cx="914400" cy="224028"/>
          </a:xfrm>
          <a:prstGeom prst="rect">
            <a:avLst/>
          </a:prstGeom>
          <a:noFill/>
          <a:ln/>
        </p:spPr>
        <p:txBody>
          <a:bodyPr wrap="square" lIns="0" tIns="0" rIns="0" bIns="0" rtlCol="0" anchor="ctr"/>
          <a:lstStyle/>
          <a:p>
            <a:pPr marL="0" indent="0" algn="r">
              <a:buNone/>
            </a:pPr>
            <a:r>
              <a:rPr lang="en-US" sz="750" dirty="0">
                <a:solidFill>
                  <a:srgbClr val="94A3B8"/>
                </a:solidFill>
              </a:rPr>
              <a:t>14 / 16</a:t>
            </a:r>
            <a:endParaRPr lang="en-US" sz="750" dirty="0"/>
          </a:p>
        </p:txBody>
      </p:sp>
      <p:sp>
        <p:nvSpPr>
          <p:cNvPr id="8" name="Shape 6"/>
          <p:cNvSpPr/>
          <p:nvPr/>
        </p:nvSpPr>
        <p:spPr>
          <a:xfrm>
            <a:off x="228600" y="1005840"/>
            <a:ext cx="4160520" cy="37490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Shape 7"/>
          <p:cNvSpPr/>
          <p:nvPr/>
        </p:nvSpPr>
        <p:spPr>
          <a:xfrm>
            <a:off x="228600" y="1005840"/>
            <a:ext cx="4160520" cy="365760"/>
          </a:xfrm>
          <a:prstGeom prst="rect">
            <a:avLst/>
          </a:prstGeom>
          <a:solidFill>
            <a:srgbClr val="C0392B"/>
          </a:solidFill>
          <a:ln w="12700">
            <a:solidFill>
              <a:srgbClr val="C0392B"/>
            </a:solidFill>
            <a:prstDash val="solid"/>
          </a:ln>
        </p:spPr>
      </p:sp>
      <p:sp>
        <p:nvSpPr>
          <p:cNvPr id="10" name="Text 8"/>
          <p:cNvSpPr/>
          <p:nvPr/>
        </p:nvSpPr>
        <p:spPr>
          <a:xfrm>
            <a:off x="320040" y="1005840"/>
            <a:ext cx="3977640" cy="365760"/>
          </a:xfrm>
          <a:prstGeom prst="rect">
            <a:avLst/>
          </a:prstGeom>
          <a:noFill/>
          <a:ln/>
        </p:spPr>
        <p:txBody>
          <a:bodyPr wrap="square" lIns="0" tIns="0" rIns="0" bIns="0" rtlCol="0" anchor="ctr"/>
          <a:lstStyle/>
          <a:p>
            <a:pPr marL="0" indent="0">
              <a:buNone/>
            </a:pPr>
            <a:r>
              <a:rPr lang="en-US" sz="1300" b="1" dirty="0">
                <a:solidFill>
                  <a:srgbClr val="FFFFFF"/>
                </a:solidFill>
              </a:rPr>
              <a:t>Current Limitations</a:t>
            </a:r>
            <a:endParaRPr lang="en-US" sz="1300" dirty="0"/>
          </a:p>
        </p:txBody>
      </p:sp>
      <p:sp>
        <p:nvSpPr>
          <p:cNvPr id="11" name="Shape 9"/>
          <p:cNvSpPr/>
          <p:nvPr/>
        </p:nvSpPr>
        <p:spPr>
          <a:xfrm>
            <a:off x="292608" y="1444752"/>
            <a:ext cx="73152" cy="475488"/>
          </a:xfrm>
          <a:prstGeom prst="rect">
            <a:avLst/>
          </a:prstGeom>
          <a:solidFill>
            <a:srgbClr val="C0392B"/>
          </a:solidFill>
          <a:ln w="12700">
            <a:solidFill>
              <a:srgbClr val="C0392B"/>
            </a:solidFill>
            <a:prstDash val="solid"/>
          </a:ln>
        </p:spPr>
      </p:sp>
      <p:sp>
        <p:nvSpPr>
          <p:cNvPr id="12" name="Text 10"/>
          <p:cNvSpPr/>
          <p:nvPr/>
        </p:nvSpPr>
        <p:spPr>
          <a:xfrm>
            <a:off x="438912" y="1444752"/>
            <a:ext cx="3840480" cy="246888"/>
          </a:xfrm>
          <a:prstGeom prst="rect">
            <a:avLst/>
          </a:prstGeom>
          <a:noFill/>
          <a:ln/>
        </p:spPr>
        <p:txBody>
          <a:bodyPr wrap="square" rtlCol="0" anchor="ctr"/>
          <a:lstStyle/>
          <a:p>
            <a:pPr marL="0" indent="0">
              <a:buNone/>
            </a:pPr>
            <a:r>
              <a:rPr lang="en-US" sz="1000" b="1" dirty="0">
                <a:solidFill>
                  <a:srgbClr val="1B2A4A"/>
                </a:solidFill>
              </a:rPr>
              <a:t>Geographic Scope</a:t>
            </a:r>
            <a:endParaRPr lang="en-US" sz="1000" dirty="0"/>
          </a:p>
        </p:txBody>
      </p:sp>
      <p:sp>
        <p:nvSpPr>
          <p:cNvPr id="13" name="Text 11"/>
          <p:cNvSpPr/>
          <p:nvPr/>
        </p:nvSpPr>
        <p:spPr>
          <a:xfrm>
            <a:off x="438912" y="1682496"/>
            <a:ext cx="3840480" cy="338328"/>
          </a:xfrm>
          <a:prstGeom prst="rect">
            <a:avLst/>
          </a:prstGeom>
          <a:noFill/>
          <a:ln/>
        </p:spPr>
        <p:txBody>
          <a:bodyPr wrap="square" rtlCol="0" anchor="ctr"/>
          <a:lstStyle/>
          <a:p>
            <a:pPr marL="0" indent="0">
              <a:buNone/>
            </a:pPr>
            <a:r>
              <a:rPr lang="en-US" sz="900" dirty="0">
                <a:solidFill>
                  <a:srgbClr val="2D3748"/>
                </a:solidFill>
              </a:rPr>
              <a:t>Validated on La Union &amp; Iloilo only. Broader SE Asian generalizability requires additional validation studies per market.</a:t>
            </a:r>
            <a:endParaRPr lang="en-US" sz="900" dirty="0"/>
          </a:p>
        </p:txBody>
      </p:sp>
      <p:sp>
        <p:nvSpPr>
          <p:cNvPr id="14" name="Shape 12"/>
          <p:cNvSpPr/>
          <p:nvPr/>
        </p:nvSpPr>
        <p:spPr>
          <a:xfrm>
            <a:off x="292608" y="2084832"/>
            <a:ext cx="73152" cy="475488"/>
          </a:xfrm>
          <a:prstGeom prst="rect">
            <a:avLst/>
          </a:prstGeom>
          <a:solidFill>
            <a:srgbClr val="C0392B"/>
          </a:solidFill>
          <a:ln w="12700">
            <a:solidFill>
              <a:srgbClr val="C0392B"/>
            </a:solidFill>
            <a:prstDash val="solid"/>
          </a:ln>
        </p:spPr>
      </p:sp>
      <p:sp>
        <p:nvSpPr>
          <p:cNvPr id="15" name="Text 13"/>
          <p:cNvSpPr/>
          <p:nvPr/>
        </p:nvSpPr>
        <p:spPr>
          <a:xfrm>
            <a:off x="438912" y="2084832"/>
            <a:ext cx="3840480" cy="246888"/>
          </a:xfrm>
          <a:prstGeom prst="rect">
            <a:avLst/>
          </a:prstGeom>
          <a:noFill/>
          <a:ln/>
        </p:spPr>
        <p:txBody>
          <a:bodyPr wrap="square" rtlCol="0" anchor="ctr"/>
          <a:lstStyle/>
          <a:p>
            <a:pPr marL="0" indent="0">
              <a:buNone/>
            </a:pPr>
            <a:r>
              <a:rPr lang="en-US" sz="1000" b="1" dirty="0">
                <a:solidFill>
                  <a:srgbClr val="1B2A4A"/>
                </a:solidFill>
              </a:rPr>
              <a:t>Data Source Constraints</a:t>
            </a:r>
            <a:endParaRPr lang="en-US" sz="1000" dirty="0"/>
          </a:p>
        </p:txBody>
      </p:sp>
      <p:sp>
        <p:nvSpPr>
          <p:cNvPr id="16" name="Text 14"/>
          <p:cNvSpPr/>
          <p:nvPr/>
        </p:nvSpPr>
        <p:spPr>
          <a:xfrm>
            <a:off x="438912" y="2322576"/>
            <a:ext cx="3840480" cy="338328"/>
          </a:xfrm>
          <a:prstGeom prst="rect">
            <a:avLst/>
          </a:prstGeom>
          <a:noFill/>
          <a:ln/>
        </p:spPr>
        <p:txBody>
          <a:bodyPr wrap="square" rtlCol="0" anchor="ctr"/>
          <a:lstStyle/>
          <a:p>
            <a:pPr marL="0" indent="0">
              <a:buNone/>
            </a:pPr>
            <a:r>
              <a:rPr lang="en-US" sz="900" dirty="0">
                <a:solidFill>
                  <a:srgbClr val="2D3748"/>
                </a:solidFill>
              </a:rPr>
              <a:t>Relies on Lamudi listings; not all-market. Private transaction data and developer bulk sales are invisible to the model.</a:t>
            </a:r>
            <a:endParaRPr lang="en-US" sz="900" dirty="0"/>
          </a:p>
        </p:txBody>
      </p:sp>
      <p:sp>
        <p:nvSpPr>
          <p:cNvPr id="17" name="Shape 15"/>
          <p:cNvSpPr/>
          <p:nvPr/>
        </p:nvSpPr>
        <p:spPr>
          <a:xfrm>
            <a:off x="292608" y="2724912"/>
            <a:ext cx="73152" cy="475488"/>
          </a:xfrm>
          <a:prstGeom prst="rect">
            <a:avLst/>
          </a:prstGeom>
          <a:solidFill>
            <a:srgbClr val="C0392B"/>
          </a:solidFill>
          <a:ln w="12700">
            <a:solidFill>
              <a:srgbClr val="C0392B"/>
            </a:solidFill>
            <a:prstDash val="solid"/>
          </a:ln>
        </p:spPr>
      </p:sp>
      <p:sp>
        <p:nvSpPr>
          <p:cNvPr id="18" name="Text 16"/>
          <p:cNvSpPr/>
          <p:nvPr/>
        </p:nvSpPr>
        <p:spPr>
          <a:xfrm>
            <a:off x="438912" y="2724912"/>
            <a:ext cx="3840480" cy="246888"/>
          </a:xfrm>
          <a:prstGeom prst="rect">
            <a:avLst/>
          </a:prstGeom>
          <a:noFill/>
          <a:ln/>
        </p:spPr>
        <p:txBody>
          <a:bodyPr wrap="square" rtlCol="0" anchor="ctr"/>
          <a:lstStyle/>
          <a:p>
            <a:pPr marL="0" indent="0">
              <a:buNone/>
            </a:pPr>
            <a:r>
              <a:rPr lang="en-US" sz="1000" b="1" dirty="0">
                <a:solidFill>
                  <a:srgbClr val="1B2A4A"/>
                </a:solidFill>
              </a:rPr>
              <a:t>Language Coverage</a:t>
            </a:r>
            <a:endParaRPr lang="en-US" sz="1000" dirty="0"/>
          </a:p>
        </p:txBody>
      </p:sp>
      <p:sp>
        <p:nvSpPr>
          <p:cNvPr id="19" name="Text 17"/>
          <p:cNvSpPr/>
          <p:nvPr/>
        </p:nvSpPr>
        <p:spPr>
          <a:xfrm>
            <a:off x="438912" y="2962656"/>
            <a:ext cx="3840480" cy="338328"/>
          </a:xfrm>
          <a:prstGeom prst="rect">
            <a:avLst/>
          </a:prstGeom>
          <a:noFill/>
          <a:ln/>
        </p:spPr>
        <p:txBody>
          <a:bodyPr wrap="square" rtlCol="0" anchor="ctr"/>
          <a:lstStyle/>
          <a:p>
            <a:pPr marL="0" indent="0">
              <a:buNone/>
            </a:pPr>
            <a:r>
              <a:rPr lang="en-US" sz="900" dirty="0">
                <a:solidFill>
                  <a:srgbClr val="2D3748"/>
                </a:solidFill>
              </a:rPr>
              <a:t>Sentiment NLP optimized for Filipino/Tagalog. Bisaya and other Visayan dialects have partial coverage only.</a:t>
            </a:r>
            <a:endParaRPr lang="en-US" sz="900" dirty="0"/>
          </a:p>
        </p:txBody>
      </p:sp>
      <p:sp>
        <p:nvSpPr>
          <p:cNvPr id="20" name="Shape 18"/>
          <p:cNvSpPr/>
          <p:nvPr/>
        </p:nvSpPr>
        <p:spPr>
          <a:xfrm>
            <a:off x="292608" y="3364992"/>
            <a:ext cx="73152" cy="475488"/>
          </a:xfrm>
          <a:prstGeom prst="rect">
            <a:avLst/>
          </a:prstGeom>
          <a:solidFill>
            <a:srgbClr val="C0392B"/>
          </a:solidFill>
          <a:ln w="12700">
            <a:solidFill>
              <a:srgbClr val="C0392B"/>
            </a:solidFill>
            <a:prstDash val="solid"/>
          </a:ln>
        </p:spPr>
      </p:sp>
      <p:sp>
        <p:nvSpPr>
          <p:cNvPr id="21" name="Text 19"/>
          <p:cNvSpPr/>
          <p:nvPr/>
        </p:nvSpPr>
        <p:spPr>
          <a:xfrm>
            <a:off x="438912" y="3364992"/>
            <a:ext cx="3840480" cy="246888"/>
          </a:xfrm>
          <a:prstGeom prst="rect">
            <a:avLst/>
          </a:prstGeom>
          <a:noFill/>
          <a:ln/>
        </p:spPr>
        <p:txBody>
          <a:bodyPr wrap="square" rtlCol="0" anchor="ctr"/>
          <a:lstStyle/>
          <a:p>
            <a:pPr marL="0" indent="0">
              <a:buNone/>
            </a:pPr>
            <a:r>
              <a:rPr lang="en-US" sz="1000" b="1" dirty="0">
                <a:solidFill>
                  <a:srgbClr val="1B2A4A"/>
                </a:solidFill>
              </a:rPr>
              <a:t>Temporal Scope</a:t>
            </a:r>
            <a:endParaRPr lang="en-US" sz="1000" dirty="0"/>
          </a:p>
        </p:txBody>
      </p:sp>
      <p:sp>
        <p:nvSpPr>
          <p:cNvPr id="22" name="Text 20"/>
          <p:cNvSpPr/>
          <p:nvPr/>
        </p:nvSpPr>
        <p:spPr>
          <a:xfrm>
            <a:off x="438912" y="3602736"/>
            <a:ext cx="3840480" cy="338328"/>
          </a:xfrm>
          <a:prstGeom prst="rect">
            <a:avLst/>
          </a:prstGeom>
          <a:noFill/>
          <a:ln/>
        </p:spPr>
        <p:txBody>
          <a:bodyPr wrap="square" rtlCol="0" anchor="ctr"/>
          <a:lstStyle/>
          <a:p>
            <a:pPr marL="0" indent="0">
              <a:buNone/>
            </a:pPr>
            <a:r>
              <a:rPr lang="en-US" sz="900" dirty="0">
                <a:solidFill>
                  <a:srgbClr val="2D3748"/>
                </a:solidFill>
              </a:rPr>
              <a:t>Trained on 2024 data; not yet stress-tested through a full economic cycle or major market downturn scenario.</a:t>
            </a:r>
            <a:endParaRPr lang="en-US" sz="900" dirty="0"/>
          </a:p>
        </p:txBody>
      </p:sp>
      <p:sp>
        <p:nvSpPr>
          <p:cNvPr id="23" name="Shape 21"/>
          <p:cNvSpPr/>
          <p:nvPr/>
        </p:nvSpPr>
        <p:spPr>
          <a:xfrm>
            <a:off x="292608" y="4005072"/>
            <a:ext cx="73152" cy="475488"/>
          </a:xfrm>
          <a:prstGeom prst="rect">
            <a:avLst/>
          </a:prstGeom>
          <a:solidFill>
            <a:srgbClr val="C0392B"/>
          </a:solidFill>
          <a:ln w="12700">
            <a:solidFill>
              <a:srgbClr val="C0392B"/>
            </a:solidFill>
            <a:prstDash val="solid"/>
          </a:ln>
        </p:spPr>
      </p:sp>
      <p:sp>
        <p:nvSpPr>
          <p:cNvPr id="24" name="Text 22"/>
          <p:cNvSpPr/>
          <p:nvPr/>
        </p:nvSpPr>
        <p:spPr>
          <a:xfrm>
            <a:off x="438912" y="4005072"/>
            <a:ext cx="3840480" cy="246888"/>
          </a:xfrm>
          <a:prstGeom prst="rect">
            <a:avLst/>
          </a:prstGeom>
          <a:noFill/>
          <a:ln/>
        </p:spPr>
        <p:txBody>
          <a:bodyPr wrap="square" rtlCol="0" anchor="ctr"/>
          <a:lstStyle/>
          <a:p>
            <a:pPr marL="0" indent="0">
              <a:buNone/>
            </a:pPr>
            <a:r>
              <a:rPr lang="en-US" sz="1000" b="1" dirty="0">
                <a:solidFill>
                  <a:srgbClr val="1B2A4A"/>
                </a:solidFill>
              </a:rPr>
              <a:t>Cultural Weight Calibration</a:t>
            </a:r>
            <a:endParaRPr lang="en-US" sz="1000" dirty="0"/>
          </a:p>
        </p:txBody>
      </p:sp>
      <p:sp>
        <p:nvSpPr>
          <p:cNvPr id="25" name="Text 23"/>
          <p:cNvSpPr/>
          <p:nvPr/>
        </p:nvSpPr>
        <p:spPr>
          <a:xfrm>
            <a:off x="438912" y="4242816"/>
            <a:ext cx="3840480" cy="338328"/>
          </a:xfrm>
          <a:prstGeom prst="rect">
            <a:avLst/>
          </a:prstGeom>
          <a:noFill/>
          <a:ln/>
        </p:spPr>
        <p:txBody>
          <a:bodyPr wrap="square" rtlCol="0" anchor="ctr"/>
          <a:lstStyle/>
          <a:p>
            <a:pPr marL="0" indent="0">
              <a:buNone/>
            </a:pPr>
            <a:r>
              <a:rPr lang="en-US" sz="900" dirty="0">
                <a:solidFill>
                  <a:srgbClr val="2D3748"/>
                </a:solidFill>
              </a:rPr>
              <a:t>Cultural premium/discount weights calibrated via expert consultation but lack full empirical cross-regional validation.</a:t>
            </a:r>
            <a:endParaRPr lang="en-US" sz="900" dirty="0"/>
          </a:p>
        </p:txBody>
      </p:sp>
      <p:sp>
        <p:nvSpPr>
          <p:cNvPr id="26" name="Shape 24"/>
          <p:cNvSpPr/>
          <p:nvPr/>
        </p:nvSpPr>
        <p:spPr>
          <a:xfrm>
            <a:off x="4617720" y="1005840"/>
            <a:ext cx="4297680" cy="37490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7" name="Shape 25"/>
          <p:cNvSpPr/>
          <p:nvPr/>
        </p:nvSpPr>
        <p:spPr>
          <a:xfrm>
            <a:off x="4617720" y="1005840"/>
            <a:ext cx="4297680" cy="365760"/>
          </a:xfrm>
          <a:prstGeom prst="rect">
            <a:avLst/>
          </a:prstGeom>
          <a:solidFill>
            <a:srgbClr val="1B6B3A"/>
          </a:solidFill>
          <a:ln w="12700">
            <a:solidFill>
              <a:srgbClr val="1B6B3A"/>
            </a:solidFill>
            <a:prstDash val="solid"/>
          </a:ln>
        </p:spPr>
      </p:sp>
      <p:sp>
        <p:nvSpPr>
          <p:cNvPr id="28" name="Text 26"/>
          <p:cNvSpPr/>
          <p:nvPr/>
        </p:nvSpPr>
        <p:spPr>
          <a:xfrm>
            <a:off x="4709160" y="1005840"/>
            <a:ext cx="4114800" cy="365760"/>
          </a:xfrm>
          <a:prstGeom prst="rect">
            <a:avLst/>
          </a:prstGeom>
          <a:noFill/>
          <a:ln/>
        </p:spPr>
        <p:txBody>
          <a:bodyPr wrap="square" lIns="0" tIns="0" rIns="0" bIns="0" rtlCol="0" anchor="ctr"/>
          <a:lstStyle/>
          <a:p>
            <a:pPr marL="0" indent="0">
              <a:buNone/>
            </a:pPr>
            <a:r>
              <a:rPr lang="en-US" sz="1300" b="1" dirty="0">
                <a:solidFill>
                  <a:srgbClr val="FFFFFF"/>
                </a:solidFill>
              </a:rPr>
              <a:t>Future Directions</a:t>
            </a:r>
            <a:endParaRPr lang="en-US" sz="1300" dirty="0"/>
          </a:p>
        </p:txBody>
      </p:sp>
      <p:sp>
        <p:nvSpPr>
          <p:cNvPr id="29" name="Shape 27"/>
          <p:cNvSpPr/>
          <p:nvPr/>
        </p:nvSpPr>
        <p:spPr>
          <a:xfrm>
            <a:off x="4709160" y="1444752"/>
            <a:ext cx="621792" cy="246888"/>
          </a:xfrm>
          <a:prstGeom prst="rect">
            <a:avLst/>
          </a:prstGeom>
          <a:solidFill>
            <a:srgbClr val="D4A017"/>
          </a:solidFill>
          <a:ln w="12700">
            <a:solidFill>
              <a:srgbClr val="D4A017"/>
            </a:solidFill>
            <a:prstDash val="solid"/>
          </a:ln>
        </p:spPr>
      </p:sp>
      <p:sp>
        <p:nvSpPr>
          <p:cNvPr id="30" name="Text 28"/>
          <p:cNvSpPr/>
          <p:nvPr/>
        </p:nvSpPr>
        <p:spPr>
          <a:xfrm>
            <a:off x="4709160" y="1444752"/>
            <a:ext cx="621792" cy="246888"/>
          </a:xfrm>
          <a:prstGeom prst="rect">
            <a:avLst/>
          </a:prstGeom>
          <a:noFill/>
          <a:ln/>
        </p:spPr>
        <p:txBody>
          <a:bodyPr wrap="square" lIns="0" tIns="0" rIns="0" bIns="0" rtlCol="0" anchor="ctr"/>
          <a:lstStyle/>
          <a:p>
            <a:pPr marL="0" indent="0" algn="ctr">
              <a:buNone/>
            </a:pPr>
            <a:r>
              <a:rPr lang="en-US" sz="750" b="1" dirty="0">
                <a:solidFill>
                  <a:srgbClr val="1B2A4A"/>
                </a:solidFill>
              </a:rPr>
              <a:t>Phase 2</a:t>
            </a:r>
            <a:endParaRPr lang="en-US" sz="750" dirty="0"/>
          </a:p>
        </p:txBody>
      </p:sp>
      <p:sp>
        <p:nvSpPr>
          <p:cNvPr id="31" name="Text 29"/>
          <p:cNvSpPr/>
          <p:nvPr/>
        </p:nvSpPr>
        <p:spPr>
          <a:xfrm>
            <a:off x="5394960" y="1444752"/>
            <a:ext cx="3429000" cy="246888"/>
          </a:xfrm>
          <a:prstGeom prst="rect">
            <a:avLst/>
          </a:prstGeom>
          <a:noFill/>
          <a:ln/>
        </p:spPr>
        <p:txBody>
          <a:bodyPr wrap="square" rtlCol="0" anchor="ctr"/>
          <a:lstStyle/>
          <a:p>
            <a:pPr marL="0" indent="0">
              <a:buNone/>
            </a:pPr>
            <a:r>
              <a:rPr lang="en-US" sz="1000" b="1" dirty="0">
                <a:solidFill>
                  <a:srgbClr val="1B2A4A"/>
                </a:solidFill>
              </a:rPr>
              <a:t>ASEAN Expansion</a:t>
            </a:r>
            <a:endParaRPr lang="en-US" sz="1000" dirty="0"/>
          </a:p>
        </p:txBody>
      </p:sp>
      <p:sp>
        <p:nvSpPr>
          <p:cNvPr id="32" name="Text 30"/>
          <p:cNvSpPr/>
          <p:nvPr/>
        </p:nvSpPr>
        <p:spPr>
          <a:xfrm>
            <a:off x="4709160" y="1682496"/>
            <a:ext cx="4069080" cy="338328"/>
          </a:xfrm>
          <a:prstGeom prst="rect">
            <a:avLst/>
          </a:prstGeom>
          <a:noFill/>
          <a:ln/>
        </p:spPr>
        <p:txBody>
          <a:bodyPr wrap="square" rtlCol="0" anchor="ctr"/>
          <a:lstStyle/>
          <a:p>
            <a:pPr marL="0" indent="0">
              <a:buNone/>
            </a:pPr>
            <a:r>
              <a:rPr lang="en-US" sz="900" dirty="0">
                <a:solidFill>
                  <a:srgbClr val="2D3748"/>
                </a:solidFill>
              </a:rPr>
              <a:t>Vietnam (HCMC secondary markets), Indonesia (Tier-2 cities), Thailand (Chiang Mai, Hua Hin). Multi-language NLP pipeline.</a:t>
            </a:r>
            <a:endParaRPr lang="en-US" sz="900" dirty="0"/>
          </a:p>
        </p:txBody>
      </p:sp>
      <p:sp>
        <p:nvSpPr>
          <p:cNvPr id="33" name="Shape 31"/>
          <p:cNvSpPr/>
          <p:nvPr/>
        </p:nvSpPr>
        <p:spPr>
          <a:xfrm>
            <a:off x="4709160" y="2084832"/>
            <a:ext cx="621792" cy="246888"/>
          </a:xfrm>
          <a:prstGeom prst="rect">
            <a:avLst/>
          </a:prstGeom>
          <a:solidFill>
            <a:srgbClr val="D4A017"/>
          </a:solidFill>
          <a:ln w="12700">
            <a:solidFill>
              <a:srgbClr val="D4A017"/>
            </a:solidFill>
            <a:prstDash val="solid"/>
          </a:ln>
        </p:spPr>
      </p:sp>
      <p:sp>
        <p:nvSpPr>
          <p:cNvPr id="34" name="Text 32"/>
          <p:cNvSpPr/>
          <p:nvPr/>
        </p:nvSpPr>
        <p:spPr>
          <a:xfrm>
            <a:off x="4709160" y="2084832"/>
            <a:ext cx="621792" cy="246888"/>
          </a:xfrm>
          <a:prstGeom prst="rect">
            <a:avLst/>
          </a:prstGeom>
          <a:noFill/>
          <a:ln/>
        </p:spPr>
        <p:txBody>
          <a:bodyPr wrap="square" lIns="0" tIns="0" rIns="0" bIns="0" rtlCol="0" anchor="ctr"/>
          <a:lstStyle/>
          <a:p>
            <a:pPr marL="0" indent="0" algn="ctr">
              <a:buNone/>
            </a:pPr>
            <a:r>
              <a:rPr lang="en-US" sz="750" b="1" dirty="0">
                <a:solidFill>
                  <a:srgbClr val="1B2A4A"/>
                </a:solidFill>
              </a:rPr>
              <a:t>Phase 3</a:t>
            </a:r>
            <a:endParaRPr lang="en-US" sz="750" dirty="0"/>
          </a:p>
        </p:txBody>
      </p:sp>
      <p:sp>
        <p:nvSpPr>
          <p:cNvPr id="35" name="Text 33"/>
          <p:cNvSpPr/>
          <p:nvPr/>
        </p:nvSpPr>
        <p:spPr>
          <a:xfrm>
            <a:off x="5394960" y="2084832"/>
            <a:ext cx="3429000" cy="246888"/>
          </a:xfrm>
          <a:prstGeom prst="rect">
            <a:avLst/>
          </a:prstGeom>
          <a:noFill/>
          <a:ln/>
        </p:spPr>
        <p:txBody>
          <a:bodyPr wrap="square" rtlCol="0" anchor="ctr"/>
          <a:lstStyle/>
          <a:p>
            <a:pPr marL="0" indent="0">
              <a:buNone/>
            </a:pPr>
            <a:r>
              <a:rPr lang="en-US" sz="1000" b="1" dirty="0">
                <a:solidFill>
                  <a:srgbClr val="1B2A4A"/>
                </a:solidFill>
              </a:rPr>
              <a:t>Real-Time Data Feeds</a:t>
            </a:r>
            <a:endParaRPr lang="en-US" sz="1000" dirty="0"/>
          </a:p>
        </p:txBody>
      </p:sp>
      <p:sp>
        <p:nvSpPr>
          <p:cNvPr id="36" name="Text 34"/>
          <p:cNvSpPr/>
          <p:nvPr/>
        </p:nvSpPr>
        <p:spPr>
          <a:xfrm>
            <a:off x="4709160" y="2322576"/>
            <a:ext cx="4069080" cy="338328"/>
          </a:xfrm>
          <a:prstGeom prst="rect">
            <a:avLst/>
          </a:prstGeom>
          <a:noFill/>
          <a:ln/>
        </p:spPr>
        <p:txBody>
          <a:bodyPr wrap="square" rtlCol="0" anchor="ctr"/>
          <a:lstStyle/>
          <a:p>
            <a:pPr marL="0" indent="0">
              <a:buNone/>
            </a:pPr>
            <a:r>
              <a:rPr lang="en-US" sz="900" dirty="0">
                <a:solidFill>
                  <a:srgbClr val="2D3748"/>
                </a:solidFill>
              </a:rPr>
              <a:t>Live listing ingestion, real-time sentiment monitoring, and dynamic 30-day rolling model re-training.</a:t>
            </a:r>
            <a:endParaRPr lang="en-US" sz="900" dirty="0"/>
          </a:p>
        </p:txBody>
      </p:sp>
      <p:sp>
        <p:nvSpPr>
          <p:cNvPr id="37" name="Shape 35"/>
          <p:cNvSpPr/>
          <p:nvPr/>
        </p:nvSpPr>
        <p:spPr>
          <a:xfrm>
            <a:off x="4709160" y="2724912"/>
            <a:ext cx="621792" cy="246888"/>
          </a:xfrm>
          <a:prstGeom prst="rect">
            <a:avLst/>
          </a:prstGeom>
          <a:solidFill>
            <a:srgbClr val="D4A017"/>
          </a:solidFill>
          <a:ln w="12700">
            <a:solidFill>
              <a:srgbClr val="D4A017"/>
            </a:solidFill>
            <a:prstDash val="solid"/>
          </a:ln>
        </p:spPr>
      </p:sp>
      <p:sp>
        <p:nvSpPr>
          <p:cNvPr id="38" name="Text 36"/>
          <p:cNvSpPr/>
          <p:nvPr/>
        </p:nvSpPr>
        <p:spPr>
          <a:xfrm>
            <a:off x="4709160" y="2724912"/>
            <a:ext cx="621792" cy="246888"/>
          </a:xfrm>
          <a:prstGeom prst="rect">
            <a:avLst/>
          </a:prstGeom>
          <a:noFill/>
          <a:ln/>
        </p:spPr>
        <p:txBody>
          <a:bodyPr wrap="square" lIns="0" tIns="0" rIns="0" bIns="0" rtlCol="0" anchor="ctr"/>
          <a:lstStyle/>
          <a:p>
            <a:pPr marL="0" indent="0" algn="ctr">
              <a:buNone/>
            </a:pPr>
            <a:r>
              <a:rPr lang="en-US" sz="750" b="1" dirty="0">
                <a:solidFill>
                  <a:srgbClr val="1B2A4A"/>
                </a:solidFill>
              </a:rPr>
              <a:t>Phase 4</a:t>
            </a:r>
            <a:endParaRPr lang="en-US" sz="750" dirty="0"/>
          </a:p>
        </p:txBody>
      </p:sp>
      <p:sp>
        <p:nvSpPr>
          <p:cNvPr id="39" name="Text 37"/>
          <p:cNvSpPr/>
          <p:nvPr/>
        </p:nvSpPr>
        <p:spPr>
          <a:xfrm>
            <a:off x="5394960" y="2724912"/>
            <a:ext cx="3429000" cy="246888"/>
          </a:xfrm>
          <a:prstGeom prst="rect">
            <a:avLst/>
          </a:prstGeom>
          <a:noFill/>
          <a:ln/>
        </p:spPr>
        <p:txBody>
          <a:bodyPr wrap="square" rtlCol="0" anchor="ctr"/>
          <a:lstStyle/>
          <a:p>
            <a:pPr marL="0" indent="0">
              <a:buNone/>
            </a:pPr>
            <a:r>
              <a:rPr lang="en-US" sz="1000" b="1" dirty="0">
                <a:solidFill>
                  <a:srgbClr val="1B2A4A"/>
                </a:solidFill>
              </a:rPr>
              <a:t>Mobile Platform</a:t>
            </a:r>
            <a:endParaRPr lang="en-US" sz="1000" dirty="0"/>
          </a:p>
        </p:txBody>
      </p:sp>
      <p:sp>
        <p:nvSpPr>
          <p:cNvPr id="40" name="Text 38"/>
          <p:cNvSpPr/>
          <p:nvPr/>
        </p:nvSpPr>
        <p:spPr>
          <a:xfrm>
            <a:off x="4709160" y="2962656"/>
            <a:ext cx="4069080" cy="338328"/>
          </a:xfrm>
          <a:prstGeom prst="rect">
            <a:avLst/>
          </a:prstGeom>
          <a:noFill/>
          <a:ln/>
        </p:spPr>
        <p:txBody>
          <a:bodyPr wrap="square" rtlCol="0" anchor="ctr"/>
          <a:lstStyle/>
          <a:p>
            <a:pPr marL="0" indent="0">
              <a:buNone/>
            </a:pPr>
            <a:r>
              <a:rPr lang="en-US" sz="900" dirty="0">
                <a:solidFill>
                  <a:srgbClr val="2D3748"/>
                </a:solidFill>
              </a:rPr>
              <a:t>iOS/Android app with location-based scanning, AR property overlay, and push alerts for divergence signals.</a:t>
            </a:r>
            <a:endParaRPr lang="en-US" sz="900" dirty="0"/>
          </a:p>
        </p:txBody>
      </p:sp>
      <p:sp>
        <p:nvSpPr>
          <p:cNvPr id="41" name="Shape 39"/>
          <p:cNvSpPr/>
          <p:nvPr/>
        </p:nvSpPr>
        <p:spPr>
          <a:xfrm>
            <a:off x="4709160" y="3364992"/>
            <a:ext cx="621792" cy="246888"/>
          </a:xfrm>
          <a:prstGeom prst="rect">
            <a:avLst/>
          </a:prstGeom>
          <a:solidFill>
            <a:srgbClr val="D4A017"/>
          </a:solidFill>
          <a:ln w="12700">
            <a:solidFill>
              <a:srgbClr val="D4A017"/>
            </a:solidFill>
            <a:prstDash val="solid"/>
          </a:ln>
        </p:spPr>
      </p:sp>
      <p:sp>
        <p:nvSpPr>
          <p:cNvPr id="42" name="Text 40"/>
          <p:cNvSpPr/>
          <p:nvPr/>
        </p:nvSpPr>
        <p:spPr>
          <a:xfrm>
            <a:off x="4709160" y="3364992"/>
            <a:ext cx="621792" cy="246888"/>
          </a:xfrm>
          <a:prstGeom prst="rect">
            <a:avLst/>
          </a:prstGeom>
          <a:noFill/>
          <a:ln/>
        </p:spPr>
        <p:txBody>
          <a:bodyPr wrap="square" lIns="0" tIns="0" rIns="0" bIns="0" rtlCol="0" anchor="ctr"/>
          <a:lstStyle/>
          <a:p>
            <a:pPr marL="0" indent="0" algn="ctr">
              <a:buNone/>
            </a:pPr>
            <a:r>
              <a:rPr lang="en-US" sz="750" b="1" dirty="0">
                <a:solidFill>
                  <a:srgbClr val="1B2A4A"/>
                </a:solidFill>
              </a:rPr>
              <a:t>Phase 5</a:t>
            </a:r>
            <a:endParaRPr lang="en-US" sz="750" dirty="0"/>
          </a:p>
        </p:txBody>
      </p:sp>
      <p:sp>
        <p:nvSpPr>
          <p:cNvPr id="43" name="Text 41"/>
          <p:cNvSpPr/>
          <p:nvPr/>
        </p:nvSpPr>
        <p:spPr>
          <a:xfrm>
            <a:off x="5394960" y="3364992"/>
            <a:ext cx="3429000" cy="246888"/>
          </a:xfrm>
          <a:prstGeom prst="rect">
            <a:avLst/>
          </a:prstGeom>
          <a:noFill/>
          <a:ln/>
        </p:spPr>
        <p:txBody>
          <a:bodyPr wrap="square" rtlCol="0" anchor="ctr"/>
          <a:lstStyle/>
          <a:p>
            <a:pPr marL="0" indent="0">
              <a:buNone/>
            </a:pPr>
            <a:r>
              <a:rPr lang="en-US" sz="1000" b="1" dirty="0">
                <a:solidFill>
                  <a:srgbClr val="1B2A4A"/>
                </a:solidFill>
              </a:rPr>
              <a:t>Open-Source Release</a:t>
            </a:r>
            <a:endParaRPr lang="en-US" sz="1000" dirty="0"/>
          </a:p>
        </p:txBody>
      </p:sp>
      <p:sp>
        <p:nvSpPr>
          <p:cNvPr id="44" name="Text 42"/>
          <p:cNvSpPr/>
          <p:nvPr/>
        </p:nvSpPr>
        <p:spPr>
          <a:xfrm>
            <a:off x="4709160" y="3602736"/>
            <a:ext cx="4069080" cy="338328"/>
          </a:xfrm>
          <a:prstGeom prst="rect">
            <a:avLst/>
          </a:prstGeom>
          <a:noFill/>
          <a:ln/>
        </p:spPr>
        <p:txBody>
          <a:bodyPr wrap="square" rtlCol="0" anchor="ctr"/>
          <a:lstStyle/>
          <a:p>
            <a:pPr marL="0" indent="0">
              <a:buNone/>
            </a:pPr>
            <a:r>
              <a:rPr lang="en-US" sz="900" dirty="0">
                <a:solidFill>
                  <a:srgbClr val="2D3748"/>
                </a:solidFill>
              </a:rPr>
              <a:t>Release transfer learning framework and Proxy Yield methodology under open-source license for academic use.</a:t>
            </a:r>
            <a:endParaRPr lang="en-US" sz="900" dirty="0"/>
          </a:p>
        </p:txBody>
      </p:sp>
      <p:sp>
        <p:nvSpPr>
          <p:cNvPr id="45" name="Shape 43"/>
          <p:cNvSpPr/>
          <p:nvPr/>
        </p:nvSpPr>
        <p:spPr>
          <a:xfrm>
            <a:off x="4709160" y="4005072"/>
            <a:ext cx="621792" cy="246888"/>
          </a:xfrm>
          <a:prstGeom prst="rect">
            <a:avLst/>
          </a:prstGeom>
          <a:solidFill>
            <a:srgbClr val="D4A017"/>
          </a:solidFill>
          <a:ln w="12700">
            <a:solidFill>
              <a:srgbClr val="D4A017"/>
            </a:solidFill>
            <a:prstDash val="solid"/>
          </a:ln>
        </p:spPr>
      </p:sp>
      <p:sp>
        <p:nvSpPr>
          <p:cNvPr id="46" name="Text 44"/>
          <p:cNvSpPr/>
          <p:nvPr/>
        </p:nvSpPr>
        <p:spPr>
          <a:xfrm>
            <a:off x="4709160" y="4005072"/>
            <a:ext cx="621792" cy="246888"/>
          </a:xfrm>
          <a:prstGeom prst="rect">
            <a:avLst/>
          </a:prstGeom>
          <a:noFill/>
          <a:ln/>
        </p:spPr>
        <p:txBody>
          <a:bodyPr wrap="square" lIns="0" tIns="0" rIns="0" bIns="0" rtlCol="0" anchor="ctr"/>
          <a:lstStyle/>
          <a:p>
            <a:pPr marL="0" indent="0" algn="ctr">
              <a:buNone/>
            </a:pPr>
            <a:r>
              <a:rPr lang="en-US" sz="750" b="1" dirty="0">
                <a:solidFill>
                  <a:srgbClr val="1B2A4A"/>
                </a:solidFill>
              </a:rPr>
              <a:t>Ongoing</a:t>
            </a:r>
            <a:endParaRPr lang="en-US" sz="750" dirty="0"/>
          </a:p>
        </p:txBody>
      </p:sp>
      <p:sp>
        <p:nvSpPr>
          <p:cNvPr id="47" name="Text 45"/>
          <p:cNvSpPr/>
          <p:nvPr/>
        </p:nvSpPr>
        <p:spPr>
          <a:xfrm>
            <a:off x="5394960" y="4005072"/>
            <a:ext cx="3429000" cy="246888"/>
          </a:xfrm>
          <a:prstGeom prst="rect">
            <a:avLst/>
          </a:prstGeom>
          <a:noFill/>
          <a:ln/>
        </p:spPr>
        <p:txBody>
          <a:bodyPr wrap="square" rtlCol="0" anchor="ctr"/>
          <a:lstStyle/>
          <a:p>
            <a:pPr marL="0" indent="0">
              <a:buNone/>
            </a:pPr>
            <a:r>
              <a:rPr lang="en-US" sz="1000" b="1" dirty="0">
                <a:solidFill>
                  <a:srgbClr val="1B2A4A"/>
                </a:solidFill>
              </a:rPr>
              <a:t>Longitudinal Benchmark</a:t>
            </a:r>
            <a:endParaRPr lang="en-US" sz="1000" dirty="0"/>
          </a:p>
        </p:txBody>
      </p:sp>
      <p:sp>
        <p:nvSpPr>
          <p:cNvPr id="48" name="Text 46"/>
          <p:cNvSpPr/>
          <p:nvPr/>
        </p:nvSpPr>
        <p:spPr>
          <a:xfrm>
            <a:off x="4709160" y="4242816"/>
            <a:ext cx="4069080" cy="338328"/>
          </a:xfrm>
          <a:prstGeom prst="rect">
            <a:avLst/>
          </a:prstGeom>
          <a:noFill/>
          <a:ln/>
        </p:spPr>
        <p:txBody>
          <a:bodyPr wrap="square" rtlCol="0" anchor="ctr"/>
          <a:lstStyle/>
          <a:p>
            <a:pPr marL="0" indent="0">
              <a:buNone/>
            </a:pPr>
            <a:r>
              <a:rPr lang="en-US" sz="900" dirty="0">
                <a:solidFill>
                  <a:srgbClr val="2D3748"/>
                </a:solidFill>
              </a:rPr>
              <a:t>Continue 2024→2025→2026 validation cycle — building SE Asia's longest-running property prediction benchmark.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sp>
      <p:sp>
        <p:nvSpPr>
          <p:cNvPr id="3" name="Shape 1"/>
          <p:cNvSpPr/>
          <p:nvPr/>
        </p:nvSpPr>
        <p:spPr>
          <a:xfrm>
            <a:off x="0" y="5033772"/>
            <a:ext cx="9144000" cy="109728"/>
          </a:xfrm>
          <a:prstGeom prst="rect">
            <a:avLst/>
          </a:prstGeom>
          <a:solidFill>
            <a:srgbClr val="D4A017"/>
          </a:solidFill>
          <a:ln w="12700">
            <a:solidFill>
              <a:srgbClr val="D4A017"/>
            </a:solidFill>
            <a:prstDash val="solid"/>
          </a:ln>
        </p:spPr>
      </p:sp>
      <p:sp>
        <p:nvSpPr>
          <p:cNvPr id="4" name="Text 2"/>
          <p:cNvSpPr/>
          <p:nvPr/>
        </p:nvSpPr>
        <p:spPr>
          <a:xfrm>
            <a:off x="457200" y="256032"/>
            <a:ext cx="8229600" cy="402336"/>
          </a:xfrm>
          <a:prstGeom prst="rect">
            <a:avLst/>
          </a:prstGeom>
          <a:noFill/>
          <a:ln/>
        </p:spPr>
        <p:txBody>
          <a:bodyPr wrap="square" rtlCol="0" anchor="ctr"/>
          <a:lstStyle/>
          <a:p>
            <a:pPr marL="0" indent="0" algn="ctr">
              <a:buNone/>
            </a:pPr>
            <a:r>
              <a:rPr lang="en-US" sz="1300" kern="0" spc="400" dirty="0">
                <a:solidFill>
                  <a:srgbClr val="94A3B8"/>
                </a:solidFill>
                <a:latin typeface="Trebuchet MS" pitchFamily="34" charset="0"/>
                <a:ea typeface="Trebuchet MS" pitchFamily="34" charset="-122"/>
                <a:cs typeface="Trebuchet MS" pitchFamily="34" charset="-120"/>
              </a:rPr>
              <a:t>Conclusion</a:t>
            </a:r>
            <a:endParaRPr lang="en-US" sz="1300" dirty="0"/>
          </a:p>
        </p:txBody>
      </p:sp>
      <p:sp>
        <p:nvSpPr>
          <p:cNvPr id="5" name="Text 3"/>
          <p:cNvSpPr/>
          <p:nvPr/>
        </p:nvSpPr>
        <p:spPr>
          <a:xfrm>
            <a:off x="457200" y="621792"/>
            <a:ext cx="8229600" cy="640080"/>
          </a:xfrm>
          <a:prstGeom prst="rect">
            <a:avLst/>
          </a:prstGeom>
          <a:noFill/>
          <a:ln/>
        </p:spPr>
        <p:txBody>
          <a:bodyPr wrap="square" rtlCol="0" anchor="ctr"/>
          <a:lstStyle/>
          <a:p>
            <a:pPr marL="0" indent="0" algn="ctr">
              <a:buNone/>
            </a:pPr>
            <a:r>
              <a:rPr lang="en-US" sz="2600" b="1" dirty="0">
                <a:solidFill>
                  <a:srgbClr val="D4A017"/>
                </a:solidFill>
                <a:latin typeface="Trebuchet MS" pitchFamily="34" charset="0"/>
                <a:ea typeface="Trebuchet MS" pitchFamily="34" charset="-122"/>
                <a:cs typeface="Trebuchet MS" pitchFamily="34" charset="-120"/>
              </a:rPr>
              <a:t>The data void is real. The solution is here.</a:t>
            </a:r>
            <a:endParaRPr lang="en-US" sz="2600" dirty="0"/>
          </a:p>
        </p:txBody>
      </p:sp>
      <p:sp>
        <p:nvSpPr>
          <p:cNvPr id="6" name="Shape 4"/>
          <p:cNvSpPr/>
          <p:nvPr/>
        </p:nvSpPr>
        <p:spPr>
          <a:xfrm>
            <a:off x="2286000" y="1316736"/>
            <a:ext cx="4572000" cy="50292"/>
          </a:xfrm>
          <a:prstGeom prst="rect">
            <a:avLst/>
          </a:prstGeom>
          <a:solidFill>
            <a:srgbClr val="D4A017"/>
          </a:solidFill>
          <a:ln w="12700">
            <a:solidFill>
              <a:srgbClr val="D4A017"/>
            </a:solidFill>
            <a:prstDash val="solid"/>
          </a:ln>
        </p:spPr>
      </p:sp>
      <p:sp>
        <p:nvSpPr>
          <p:cNvPr id="7" name="Shape 5"/>
          <p:cNvSpPr/>
          <p:nvPr/>
        </p:nvSpPr>
        <p:spPr>
          <a:xfrm>
            <a:off x="438912" y="1508760"/>
            <a:ext cx="4187952" cy="1024128"/>
          </a:xfrm>
          <a:prstGeom prst="rect">
            <a:avLst/>
          </a:prstGeom>
          <a:solidFill>
            <a:srgbClr val="2A3F6F"/>
          </a:solidFill>
          <a:ln w="12700">
            <a:solidFill>
              <a:srgbClr val="3D5A8A"/>
            </a:solidFill>
            <a:prstDash val="solid"/>
          </a:ln>
        </p:spPr>
      </p:sp>
      <p:sp>
        <p:nvSpPr>
          <p:cNvPr id="8" name="Shape 6"/>
          <p:cNvSpPr/>
          <p:nvPr/>
        </p:nvSpPr>
        <p:spPr>
          <a:xfrm>
            <a:off x="438912" y="1508760"/>
            <a:ext cx="530352" cy="1024128"/>
          </a:xfrm>
          <a:prstGeom prst="rect">
            <a:avLst/>
          </a:prstGeom>
          <a:solidFill>
            <a:srgbClr val="D4A017"/>
          </a:solidFill>
          <a:ln w="12700">
            <a:solidFill>
              <a:srgbClr val="D4A017"/>
            </a:solidFill>
            <a:prstDash val="solid"/>
          </a:ln>
        </p:spPr>
      </p:sp>
      <p:sp>
        <p:nvSpPr>
          <p:cNvPr id="9" name="Text 7"/>
          <p:cNvSpPr/>
          <p:nvPr/>
        </p:nvSpPr>
        <p:spPr>
          <a:xfrm>
            <a:off x="438912" y="1508760"/>
            <a:ext cx="530352" cy="1024128"/>
          </a:xfrm>
          <a:prstGeom prst="rect">
            <a:avLst/>
          </a:prstGeom>
          <a:noFill/>
          <a:ln/>
        </p:spPr>
        <p:txBody>
          <a:bodyPr wrap="square" lIns="0" tIns="0" rIns="0" bIns="0" rtlCol="0" anchor="ctr"/>
          <a:lstStyle/>
          <a:p>
            <a:pPr marL="0" indent="0" algn="ctr">
              <a:buNone/>
            </a:pPr>
            <a:r>
              <a:rPr lang="en-US" sz="2000" b="1" dirty="0">
                <a:solidFill>
                  <a:srgbClr val="1B2A4A"/>
                </a:solidFill>
              </a:rPr>
              <a:t>01</a:t>
            </a:r>
            <a:endParaRPr lang="en-US" sz="2000" dirty="0"/>
          </a:p>
        </p:txBody>
      </p:sp>
      <p:sp>
        <p:nvSpPr>
          <p:cNvPr id="10" name="Text 8"/>
          <p:cNvSpPr/>
          <p:nvPr/>
        </p:nvSpPr>
        <p:spPr>
          <a:xfrm>
            <a:off x="1033272" y="1581912"/>
            <a:ext cx="3520440" cy="877824"/>
          </a:xfrm>
          <a:prstGeom prst="rect">
            <a:avLst/>
          </a:prstGeom>
          <a:noFill/>
          <a:ln/>
        </p:spPr>
        <p:txBody>
          <a:bodyPr wrap="square" rtlCol="0" anchor="ctr"/>
          <a:lstStyle/>
          <a:p>
            <a:pPr marL="0" indent="0">
              <a:buNone/>
            </a:pPr>
            <a:r>
              <a:rPr lang="en-US" sz="1000" dirty="0">
                <a:solidFill>
                  <a:srgbClr val="FFFFFF"/>
                </a:solidFill>
              </a:rPr>
              <a:t>ByteMe demonstrates that cultural intelligence + computational rigor = genuine market transparency in SE Asian real estate.</a:t>
            </a:r>
            <a:endParaRPr lang="en-US" sz="1000" dirty="0"/>
          </a:p>
        </p:txBody>
      </p:sp>
      <p:sp>
        <p:nvSpPr>
          <p:cNvPr id="11" name="Shape 9"/>
          <p:cNvSpPr/>
          <p:nvPr/>
        </p:nvSpPr>
        <p:spPr>
          <a:xfrm>
            <a:off x="4846320" y="1508760"/>
            <a:ext cx="4187952" cy="1024128"/>
          </a:xfrm>
          <a:prstGeom prst="rect">
            <a:avLst/>
          </a:prstGeom>
          <a:solidFill>
            <a:srgbClr val="2A3F6F"/>
          </a:solidFill>
          <a:ln w="12700">
            <a:solidFill>
              <a:srgbClr val="3D5A8A"/>
            </a:solidFill>
            <a:prstDash val="solid"/>
          </a:ln>
        </p:spPr>
      </p:sp>
      <p:sp>
        <p:nvSpPr>
          <p:cNvPr id="12" name="Shape 10"/>
          <p:cNvSpPr/>
          <p:nvPr/>
        </p:nvSpPr>
        <p:spPr>
          <a:xfrm>
            <a:off x="4846320" y="1508760"/>
            <a:ext cx="530352" cy="1024128"/>
          </a:xfrm>
          <a:prstGeom prst="rect">
            <a:avLst/>
          </a:prstGeom>
          <a:solidFill>
            <a:srgbClr val="D4A017"/>
          </a:solidFill>
          <a:ln w="12700">
            <a:solidFill>
              <a:srgbClr val="D4A017"/>
            </a:solidFill>
            <a:prstDash val="solid"/>
          </a:ln>
        </p:spPr>
      </p:sp>
      <p:sp>
        <p:nvSpPr>
          <p:cNvPr id="13" name="Text 11"/>
          <p:cNvSpPr/>
          <p:nvPr/>
        </p:nvSpPr>
        <p:spPr>
          <a:xfrm>
            <a:off x="4846320" y="1508760"/>
            <a:ext cx="530352" cy="1024128"/>
          </a:xfrm>
          <a:prstGeom prst="rect">
            <a:avLst/>
          </a:prstGeom>
          <a:noFill/>
          <a:ln/>
        </p:spPr>
        <p:txBody>
          <a:bodyPr wrap="square" lIns="0" tIns="0" rIns="0" bIns="0" rtlCol="0" anchor="ctr"/>
          <a:lstStyle/>
          <a:p>
            <a:pPr marL="0" indent="0" algn="ctr">
              <a:buNone/>
            </a:pPr>
            <a:r>
              <a:rPr lang="en-US" sz="2000" b="1" dirty="0">
                <a:solidFill>
                  <a:srgbClr val="1B2A4A"/>
                </a:solidFill>
              </a:rPr>
              <a:t>02</a:t>
            </a:r>
            <a:endParaRPr lang="en-US" sz="2000" dirty="0"/>
          </a:p>
        </p:txBody>
      </p:sp>
      <p:sp>
        <p:nvSpPr>
          <p:cNvPr id="14" name="Text 12"/>
          <p:cNvSpPr/>
          <p:nvPr/>
        </p:nvSpPr>
        <p:spPr>
          <a:xfrm>
            <a:off x="5440680" y="1581912"/>
            <a:ext cx="3520440" cy="877824"/>
          </a:xfrm>
          <a:prstGeom prst="rect">
            <a:avLst/>
          </a:prstGeom>
          <a:noFill/>
          <a:ln/>
        </p:spPr>
        <p:txBody>
          <a:bodyPr wrap="square" rtlCol="0" anchor="ctr"/>
          <a:lstStyle/>
          <a:p>
            <a:pPr marL="0" indent="0">
              <a:buNone/>
            </a:pPr>
            <a:r>
              <a:rPr lang="en-US" sz="1000" dirty="0">
                <a:solidFill>
                  <a:srgbClr val="FFFFFF"/>
                </a:solidFill>
              </a:rPr>
              <a:t>With σ &lt; 0.05 predictive stability and 68% false-positive reduction, the framework delivers institutional-grade reliability in data-sparse environments.</a:t>
            </a:r>
            <a:endParaRPr lang="en-US" sz="1000" dirty="0"/>
          </a:p>
        </p:txBody>
      </p:sp>
      <p:sp>
        <p:nvSpPr>
          <p:cNvPr id="15" name="Shape 13"/>
          <p:cNvSpPr/>
          <p:nvPr/>
        </p:nvSpPr>
        <p:spPr>
          <a:xfrm>
            <a:off x="438912" y="2679192"/>
            <a:ext cx="4187952" cy="1024128"/>
          </a:xfrm>
          <a:prstGeom prst="rect">
            <a:avLst/>
          </a:prstGeom>
          <a:solidFill>
            <a:srgbClr val="2A3F6F"/>
          </a:solidFill>
          <a:ln w="12700">
            <a:solidFill>
              <a:srgbClr val="3D5A8A"/>
            </a:solidFill>
            <a:prstDash val="solid"/>
          </a:ln>
        </p:spPr>
      </p:sp>
      <p:sp>
        <p:nvSpPr>
          <p:cNvPr id="16" name="Shape 14"/>
          <p:cNvSpPr/>
          <p:nvPr/>
        </p:nvSpPr>
        <p:spPr>
          <a:xfrm>
            <a:off x="438912" y="2679192"/>
            <a:ext cx="530352" cy="1024128"/>
          </a:xfrm>
          <a:prstGeom prst="rect">
            <a:avLst/>
          </a:prstGeom>
          <a:solidFill>
            <a:srgbClr val="D4A017"/>
          </a:solidFill>
          <a:ln w="12700">
            <a:solidFill>
              <a:srgbClr val="D4A017"/>
            </a:solidFill>
            <a:prstDash val="solid"/>
          </a:ln>
        </p:spPr>
      </p:sp>
      <p:sp>
        <p:nvSpPr>
          <p:cNvPr id="17" name="Text 15"/>
          <p:cNvSpPr/>
          <p:nvPr/>
        </p:nvSpPr>
        <p:spPr>
          <a:xfrm>
            <a:off x="438912" y="2679192"/>
            <a:ext cx="530352" cy="1024128"/>
          </a:xfrm>
          <a:prstGeom prst="rect">
            <a:avLst/>
          </a:prstGeom>
          <a:noFill/>
          <a:ln/>
        </p:spPr>
        <p:txBody>
          <a:bodyPr wrap="square" lIns="0" tIns="0" rIns="0" bIns="0" rtlCol="0" anchor="ctr"/>
          <a:lstStyle/>
          <a:p>
            <a:pPr marL="0" indent="0" algn="ctr">
              <a:buNone/>
            </a:pPr>
            <a:r>
              <a:rPr lang="en-US" sz="2000" b="1" dirty="0">
                <a:solidFill>
                  <a:srgbClr val="1B2A4A"/>
                </a:solidFill>
              </a:rPr>
              <a:t>03</a:t>
            </a:r>
            <a:endParaRPr lang="en-US" sz="2000" dirty="0"/>
          </a:p>
        </p:txBody>
      </p:sp>
      <p:sp>
        <p:nvSpPr>
          <p:cNvPr id="18" name="Text 16"/>
          <p:cNvSpPr/>
          <p:nvPr/>
        </p:nvSpPr>
        <p:spPr>
          <a:xfrm>
            <a:off x="1033272" y="2752344"/>
            <a:ext cx="3520440" cy="877824"/>
          </a:xfrm>
          <a:prstGeom prst="rect">
            <a:avLst/>
          </a:prstGeom>
          <a:noFill/>
          <a:ln/>
        </p:spPr>
        <p:txBody>
          <a:bodyPr wrap="square" rtlCol="0" anchor="ctr"/>
          <a:lstStyle/>
          <a:p>
            <a:pPr marL="0" indent="0">
              <a:buNone/>
            </a:pPr>
            <a:r>
              <a:rPr lang="en-US" sz="1000" dirty="0">
                <a:solidFill>
                  <a:srgbClr val="FFFFFF"/>
                </a:solidFill>
              </a:rPr>
              <a:t>Transfer learning from mature markets resolves the cold-start problem — enabling actionable insights with fewer than 500 local transactions.</a:t>
            </a:r>
            <a:endParaRPr lang="en-US" sz="1000" dirty="0"/>
          </a:p>
        </p:txBody>
      </p:sp>
      <p:sp>
        <p:nvSpPr>
          <p:cNvPr id="19" name="Shape 17"/>
          <p:cNvSpPr/>
          <p:nvPr/>
        </p:nvSpPr>
        <p:spPr>
          <a:xfrm>
            <a:off x="4846320" y="2679192"/>
            <a:ext cx="4187952" cy="1024128"/>
          </a:xfrm>
          <a:prstGeom prst="rect">
            <a:avLst/>
          </a:prstGeom>
          <a:solidFill>
            <a:srgbClr val="2A3F6F"/>
          </a:solidFill>
          <a:ln w="12700">
            <a:solidFill>
              <a:srgbClr val="3D5A8A"/>
            </a:solidFill>
            <a:prstDash val="solid"/>
          </a:ln>
        </p:spPr>
      </p:sp>
      <p:sp>
        <p:nvSpPr>
          <p:cNvPr id="20" name="Shape 18"/>
          <p:cNvSpPr/>
          <p:nvPr/>
        </p:nvSpPr>
        <p:spPr>
          <a:xfrm>
            <a:off x="4846320" y="2679192"/>
            <a:ext cx="530352" cy="1024128"/>
          </a:xfrm>
          <a:prstGeom prst="rect">
            <a:avLst/>
          </a:prstGeom>
          <a:solidFill>
            <a:srgbClr val="D4A017"/>
          </a:solidFill>
          <a:ln w="12700">
            <a:solidFill>
              <a:srgbClr val="D4A017"/>
            </a:solidFill>
            <a:prstDash val="solid"/>
          </a:ln>
        </p:spPr>
      </p:sp>
      <p:sp>
        <p:nvSpPr>
          <p:cNvPr id="21" name="Text 19"/>
          <p:cNvSpPr/>
          <p:nvPr/>
        </p:nvSpPr>
        <p:spPr>
          <a:xfrm>
            <a:off x="4846320" y="2679192"/>
            <a:ext cx="530352" cy="1024128"/>
          </a:xfrm>
          <a:prstGeom prst="rect">
            <a:avLst/>
          </a:prstGeom>
          <a:noFill/>
          <a:ln/>
        </p:spPr>
        <p:txBody>
          <a:bodyPr wrap="square" lIns="0" tIns="0" rIns="0" bIns="0" rtlCol="0" anchor="ctr"/>
          <a:lstStyle/>
          <a:p>
            <a:pPr marL="0" indent="0" algn="ctr">
              <a:buNone/>
            </a:pPr>
            <a:r>
              <a:rPr lang="en-US" sz="2000" b="1" dirty="0">
                <a:solidFill>
                  <a:srgbClr val="1B2A4A"/>
                </a:solidFill>
              </a:rPr>
              <a:t>04</a:t>
            </a:r>
            <a:endParaRPr lang="en-US" sz="2000" dirty="0"/>
          </a:p>
        </p:txBody>
      </p:sp>
      <p:sp>
        <p:nvSpPr>
          <p:cNvPr id="22" name="Text 20"/>
          <p:cNvSpPr/>
          <p:nvPr/>
        </p:nvSpPr>
        <p:spPr>
          <a:xfrm>
            <a:off x="5440680" y="2752344"/>
            <a:ext cx="3520440" cy="877824"/>
          </a:xfrm>
          <a:prstGeom prst="rect">
            <a:avLst/>
          </a:prstGeom>
          <a:noFill/>
          <a:ln/>
        </p:spPr>
        <p:txBody>
          <a:bodyPr wrap="square" rtlCol="0" anchor="ctr"/>
          <a:lstStyle/>
          <a:p>
            <a:pPr marL="0" indent="0">
              <a:buNone/>
            </a:pPr>
            <a:r>
              <a:rPr lang="en-US" sz="1000" dirty="0">
                <a:solidFill>
                  <a:srgbClr val="FFFFFF"/>
                </a:solidFill>
              </a:rPr>
              <a:t>The cultural layer is not optional — removing it caused 2.8× more false positives, confirming that computation alone is insufficient in SE Asia.</a:t>
            </a:r>
            <a:endParaRPr lang="en-US" sz="1000" dirty="0"/>
          </a:p>
        </p:txBody>
      </p:sp>
      <p:sp>
        <p:nvSpPr>
          <p:cNvPr id="23" name="Shape 21"/>
          <p:cNvSpPr/>
          <p:nvPr/>
        </p:nvSpPr>
        <p:spPr>
          <a:xfrm>
            <a:off x="457200" y="3931920"/>
            <a:ext cx="8229600" cy="749808"/>
          </a:xfrm>
          <a:prstGeom prst="rect">
            <a:avLst/>
          </a:prstGeom>
          <a:solidFill>
            <a:srgbClr val="0D1929"/>
          </a:solidFill>
          <a:ln w="12700">
            <a:solidFill>
              <a:srgbClr val="D4A017"/>
            </a:solidFill>
            <a:prstDash val="solid"/>
          </a:ln>
        </p:spPr>
      </p:sp>
      <p:sp>
        <p:nvSpPr>
          <p:cNvPr id="24" name="Text 22"/>
          <p:cNvSpPr/>
          <p:nvPr/>
        </p:nvSpPr>
        <p:spPr>
          <a:xfrm>
            <a:off x="594360" y="3931920"/>
            <a:ext cx="7955280" cy="749808"/>
          </a:xfrm>
          <a:prstGeom prst="rect">
            <a:avLst/>
          </a:prstGeom>
          <a:noFill/>
          <a:ln/>
        </p:spPr>
        <p:txBody>
          <a:bodyPr wrap="square" rtlCol="0" anchor="ctr"/>
          <a:lstStyle/>
          <a:p>
            <a:pPr marL="0" indent="0" algn="ctr">
              <a:buNone/>
            </a:pPr>
            <a:r>
              <a:rPr lang="en-US" sz="1200" i="1" dirty="0">
                <a:solidFill>
                  <a:srgbClr val="F0C84A"/>
                </a:solidFill>
              </a:rPr>
              <a:t>A resilient future for Southeast Asia's communities requires transparent, equitable, and culturally-grounded market intelligence. ByteMe is our contribution to that future.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sp>
      <p:sp>
        <p:nvSpPr>
          <p:cNvPr id="3" name="Shape 1"/>
          <p:cNvSpPr/>
          <p:nvPr/>
        </p:nvSpPr>
        <p:spPr>
          <a:xfrm>
            <a:off x="228600" y="228600"/>
            <a:ext cx="5074920" cy="4572000"/>
          </a:xfrm>
          <a:prstGeom prst="rect">
            <a:avLst/>
          </a:prstGeom>
          <a:solidFill>
            <a:srgbClr val="2A3F6F"/>
          </a:solidFill>
          <a:ln w="12700">
            <a:solidFill>
              <a:srgbClr val="3D5A8A"/>
            </a:solidFill>
            <a:prstDash val="solid"/>
          </a:ln>
        </p:spPr>
      </p:sp>
      <p:sp>
        <p:nvSpPr>
          <p:cNvPr id="4" name="Text 2"/>
          <p:cNvSpPr/>
          <p:nvPr/>
        </p:nvSpPr>
        <p:spPr>
          <a:xfrm>
            <a:off x="365760" y="256032"/>
            <a:ext cx="4754880" cy="402336"/>
          </a:xfrm>
          <a:prstGeom prst="rect">
            <a:avLst/>
          </a:prstGeom>
          <a:noFill/>
          <a:ln/>
        </p:spPr>
        <p:txBody>
          <a:bodyPr wrap="square" rtlCol="0" anchor="ctr"/>
          <a:lstStyle/>
          <a:p>
            <a:pPr marL="0" indent="0">
              <a:buNone/>
            </a:pPr>
            <a:r>
              <a:rPr lang="en-US" sz="1400" b="1" dirty="0">
                <a:solidFill>
                  <a:srgbClr val="D4A017"/>
                </a:solidFill>
                <a:latin typeface="Trebuchet MS" pitchFamily="34" charset="0"/>
                <a:ea typeface="Trebuchet MS" pitchFamily="34" charset="-122"/>
                <a:cs typeface="Trebuchet MS" pitchFamily="34" charset="-120"/>
              </a:rPr>
              <a:t>References</a:t>
            </a:r>
            <a:endParaRPr lang="en-US" sz="1400" dirty="0"/>
          </a:p>
        </p:txBody>
      </p:sp>
      <p:sp>
        <p:nvSpPr>
          <p:cNvPr id="5" name="Text 3"/>
          <p:cNvSpPr/>
          <p:nvPr/>
        </p:nvSpPr>
        <p:spPr>
          <a:xfrm>
            <a:off x="347472" y="713232"/>
            <a:ext cx="4846320" cy="347472"/>
          </a:xfrm>
          <a:prstGeom prst="rect">
            <a:avLst/>
          </a:prstGeom>
          <a:noFill/>
          <a:ln/>
        </p:spPr>
        <p:txBody>
          <a:bodyPr wrap="square" rtlCol="0" anchor="ctr"/>
          <a:lstStyle/>
          <a:p>
            <a:pPr marL="0" indent="0" algn="l">
              <a:buNone/>
            </a:pPr>
            <a:r>
              <a:rPr lang="en-US" sz="850" dirty="0">
                <a:solidFill>
                  <a:srgbClr val="FFFFFF"/>
                </a:solidFill>
              </a:rPr>
              <a:t>[1]  Ke, G. et al. (2017). LightGBM: A Highly Efficient GBDT. NeurIPS.</a:t>
            </a:r>
            <a:endParaRPr lang="en-US" sz="850" dirty="0"/>
          </a:p>
        </p:txBody>
      </p:sp>
      <p:sp>
        <p:nvSpPr>
          <p:cNvPr id="6" name="Text 4"/>
          <p:cNvSpPr/>
          <p:nvPr/>
        </p:nvSpPr>
        <p:spPr>
          <a:xfrm>
            <a:off x="347472" y="1097280"/>
            <a:ext cx="4846320" cy="347472"/>
          </a:xfrm>
          <a:prstGeom prst="rect">
            <a:avLst/>
          </a:prstGeom>
          <a:noFill/>
          <a:ln/>
        </p:spPr>
        <p:txBody>
          <a:bodyPr wrap="square" rtlCol="0" anchor="ctr"/>
          <a:lstStyle/>
          <a:p>
            <a:pPr marL="0" indent="0" algn="l">
              <a:buNone/>
            </a:pPr>
            <a:r>
              <a:rPr lang="en-US" sz="850" dirty="0">
                <a:solidFill>
                  <a:srgbClr val="FFFFFF"/>
                </a:solidFill>
              </a:rPr>
              <a:t>[2]  Pan, S.J. &amp; Yang, Q. (2010). A Survey on Transfer Learning. IEEE TKDE.</a:t>
            </a:r>
            <a:endParaRPr lang="en-US" sz="850" dirty="0"/>
          </a:p>
        </p:txBody>
      </p:sp>
      <p:sp>
        <p:nvSpPr>
          <p:cNvPr id="7" name="Text 5"/>
          <p:cNvSpPr/>
          <p:nvPr/>
        </p:nvSpPr>
        <p:spPr>
          <a:xfrm>
            <a:off x="347472" y="1481328"/>
            <a:ext cx="4846320" cy="347472"/>
          </a:xfrm>
          <a:prstGeom prst="rect">
            <a:avLst/>
          </a:prstGeom>
          <a:noFill/>
          <a:ln/>
        </p:spPr>
        <p:txBody>
          <a:bodyPr wrap="square" rtlCol="0" anchor="ctr"/>
          <a:lstStyle/>
          <a:p>
            <a:pPr marL="0" indent="0" algn="l">
              <a:buNone/>
            </a:pPr>
            <a:r>
              <a:rPr lang="en-US" sz="850" dirty="0">
                <a:solidFill>
                  <a:srgbClr val="FFFFFF"/>
                </a:solidFill>
              </a:rPr>
              <a:t>[3]  Malpezzi, S. (2003). Hedonic Pricing Models. Housing Economics (Wiley).</a:t>
            </a:r>
            <a:endParaRPr lang="en-US" sz="850" dirty="0"/>
          </a:p>
        </p:txBody>
      </p:sp>
      <p:sp>
        <p:nvSpPr>
          <p:cNvPr id="8" name="Text 6"/>
          <p:cNvSpPr/>
          <p:nvPr/>
        </p:nvSpPr>
        <p:spPr>
          <a:xfrm>
            <a:off x="347472" y="1865376"/>
            <a:ext cx="4846320" cy="347472"/>
          </a:xfrm>
          <a:prstGeom prst="rect">
            <a:avLst/>
          </a:prstGeom>
          <a:noFill/>
          <a:ln/>
        </p:spPr>
        <p:txBody>
          <a:bodyPr wrap="square" rtlCol="0" anchor="ctr"/>
          <a:lstStyle/>
          <a:p>
            <a:pPr marL="0" indent="0" algn="l">
              <a:buNone/>
            </a:pPr>
            <a:r>
              <a:rPr lang="en-US" sz="850" dirty="0">
                <a:solidFill>
                  <a:srgbClr val="FFFFFF"/>
                </a:solidFill>
              </a:rPr>
              <a:t>[4]  Philippine Statistics Authority (2024). Regional Price Indices &amp; Housing.</a:t>
            </a:r>
            <a:endParaRPr lang="en-US" sz="850" dirty="0"/>
          </a:p>
        </p:txBody>
      </p:sp>
      <p:sp>
        <p:nvSpPr>
          <p:cNvPr id="9" name="Text 7"/>
          <p:cNvSpPr/>
          <p:nvPr/>
        </p:nvSpPr>
        <p:spPr>
          <a:xfrm>
            <a:off x="347472" y="2249424"/>
            <a:ext cx="4846320" cy="347472"/>
          </a:xfrm>
          <a:prstGeom prst="rect">
            <a:avLst/>
          </a:prstGeom>
          <a:noFill/>
          <a:ln/>
        </p:spPr>
        <p:txBody>
          <a:bodyPr wrap="square" rtlCol="0" anchor="ctr"/>
          <a:lstStyle/>
          <a:p>
            <a:pPr marL="0" indent="0" algn="l">
              <a:buNone/>
            </a:pPr>
            <a:r>
              <a:rPr lang="en-US" sz="850" dirty="0">
                <a:solidFill>
                  <a:srgbClr val="94A3B8"/>
                </a:solidFill>
              </a:rPr>
              <a:t>[5]  Land Registration Authority Philippines (2024). Property Transfer Stats.</a:t>
            </a:r>
            <a:endParaRPr lang="en-US" sz="850" dirty="0"/>
          </a:p>
        </p:txBody>
      </p:sp>
      <p:sp>
        <p:nvSpPr>
          <p:cNvPr id="10" name="Text 8"/>
          <p:cNvSpPr/>
          <p:nvPr/>
        </p:nvSpPr>
        <p:spPr>
          <a:xfrm>
            <a:off x="347472" y="2633472"/>
            <a:ext cx="4846320" cy="347472"/>
          </a:xfrm>
          <a:prstGeom prst="rect">
            <a:avLst/>
          </a:prstGeom>
          <a:noFill/>
          <a:ln/>
        </p:spPr>
        <p:txBody>
          <a:bodyPr wrap="square" rtlCol="0" anchor="ctr"/>
          <a:lstStyle/>
          <a:p>
            <a:pPr marL="0" indent="0" algn="l">
              <a:buNone/>
            </a:pPr>
            <a:r>
              <a:rPr lang="en-US" sz="850" dirty="0">
                <a:solidFill>
                  <a:srgbClr val="94A3B8"/>
                </a:solidFill>
              </a:rPr>
              <a:t>[6]  Lamudi Philippines (2024). Secondary Cities Property Market Report.</a:t>
            </a:r>
            <a:endParaRPr lang="en-US" sz="850" dirty="0"/>
          </a:p>
        </p:txBody>
      </p:sp>
      <p:sp>
        <p:nvSpPr>
          <p:cNvPr id="11" name="Text 9"/>
          <p:cNvSpPr/>
          <p:nvPr/>
        </p:nvSpPr>
        <p:spPr>
          <a:xfrm>
            <a:off x="347472" y="3017520"/>
            <a:ext cx="4846320" cy="347472"/>
          </a:xfrm>
          <a:prstGeom prst="rect">
            <a:avLst/>
          </a:prstGeom>
          <a:noFill/>
          <a:ln/>
        </p:spPr>
        <p:txBody>
          <a:bodyPr wrap="square" rtlCol="0" anchor="ctr"/>
          <a:lstStyle/>
          <a:p>
            <a:pPr marL="0" indent="0" algn="l">
              <a:buNone/>
            </a:pPr>
            <a:r>
              <a:rPr lang="en-US" sz="850" dirty="0">
                <a:solidFill>
                  <a:srgbClr val="94A3B8"/>
                </a:solidFill>
              </a:rPr>
              <a:t>[7]  JLL Philippines (2025). Real Estate Market Overview — Q1 2025.</a:t>
            </a:r>
            <a:endParaRPr lang="en-US" sz="850" dirty="0"/>
          </a:p>
        </p:txBody>
      </p:sp>
      <p:sp>
        <p:nvSpPr>
          <p:cNvPr id="12" name="Text 10"/>
          <p:cNvSpPr/>
          <p:nvPr/>
        </p:nvSpPr>
        <p:spPr>
          <a:xfrm>
            <a:off x="347472" y="3401568"/>
            <a:ext cx="4846320" cy="347472"/>
          </a:xfrm>
          <a:prstGeom prst="rect">
            <a:avLst/>
          </a:prstGeom>
          <a:noFill/>
          <a:ln/>
        </p:spPr>
        <p:txBody>
          <a:bodyPr wrap="square" rtlCol="0" anchor="ctr"/>
          <a:lstStyle/>
          <a:p>
            <a:pPr marL="0" indent="0" algn="l">
              <a:buNone/>
            </a:pPr>
            <a:r>
              <a:rPr lang="en-US" sz="850" dirty="0">
                <a:solidFill>
                  <a:srgbClr val="94A3B8"/>
                </a:solidFill>
              </a:rPr>
              <a:t>[8]  CBRE Philippines (2025). Iloilo &amp; Secondary City Market Intelligence.</a:t>
            </a:r>
            <a:endParaRPr lang="en-US" sz="850" dirty="0"/>
          </a:p>
        </p:txBody>
      </p:sp>
      <p:sp>
        <p:nvSpPr>
          <p:cNvPr id="13" name="Text 11"/>
          <p:cNvSpPr/>
          <p:nvPr/>
        </p:nvSpPr>
        <p:spPr>
          <a:xfrm>
            <a:off x="347472" y="3785616"/>
            <a:ext cx="4846320" cy="347472"/>
          </a:xfrm>
          <a:prstGeom prst="rect">
            <a:avLst/>
          </a:prstGeom>
          <a:noFill/>
          <a:ln/>
        </p:spPr>
        <p:txBody>
          <a:bodyPr wrap="square" rtlCol="0" anchor="ctr"/>
          <a:lstStyle/>
          <a:p>
            <a:pPr marL="0" indent="0" algn="l">
              <a:buNone/>
            </a:pPr>
            <a:r>
              <a:rPr lang="en-US" sz="850" dirty="0">
                <a:solidFill>
                  <a:srgbClr val="94A3B8"/>
                </a:solidFill>
              </a:rPr>
              <a:t>[9]  UN-Habitat (2022). Urbanization in Southeast Asia: Data Gaps &amp; Solutions.</a:t>
            </a:r>
            <a:endParaRPr lang="en-US" sz="850" dirty="0"/>
          </a:p>
        </p:txBody>
      </p:sp>
      <p:sp>
        <p:nvSpPr>
          <p:cNvPr id="14" name="Text 12"/>
          <p:cNvSpPr/>
          <p:nvPr/>
        </p:nvSpPr>
        <p:spPr>
          <a:xfrm>
            <a:off x="347472" y="4169664"/>
            <a:ext cx="4846320" cy="347472"/>
          </a:xfrm>
          <a:prstGeom prst="rect">
            <a:avLst/>
          </a:prstGeom>
          <a:noFill/>
          <a:ln/>
        </p:spPr>
        <p:txBody>
          <a:bodyPr wrap="square" rtlCol="0" anchor="ctr"/>
          <a:lstStyle/>
          <a:p>
            <a:pPr marL="0" indent="0" algn="l">
              <a:buNone/>
            </a:pPr>
            <a:r>
              <a:rPr lang="en-US" sz="850" dirty="0">
                <a:solidFill>
                  <a:srgbClr val="94A3B8"/>
                </a:solidFill>
              </a:rPr>
              <a:t>[10]  Goodfellow, I. et al. (2016). Deep Learning (Transfer Learning Chapter).</a:t>
            </a:r>
            <a:endParaRPr lang="en-US" sz="850" dirty="0"/>
          </a:p>
        </p:txBody>
      </p:sp>
      <p:sp>
        <p:nvSpPr>
          <p:cNvPr id="15" name="Text 13"/>
          <p:cNvSpPr/>
          <p:nvPr/>
        </p:nvSpPr>
        <p:spPr>
          <a:xfrm>
            <a:off x="5577840" y="347472"/>
            <a:ext cx="3383280" cy="640080"/>
          </a:xfrm>
          <a:prstGeom prst="rect">
            <a:avLst/>
          </a:prstGeom>
          <a:noFill/>
          <a:ln/>
        </p:spPr>
        <p:txBody>
          <a:bodyPr wrap="square" rtlCol="0" anchor="ctr"/>
          <a:lstStyle/>
          <a:p>
            <a:pPr marL="0" indent="0" algn="ctr">
              <a:buNone/>
            </a:pPr>
            <a:r>
              <a:rPr lang="en-US" sz="3400" b="1" dirty="0">
                <a:solidFill>
                  <a:srgbClr val="D4A017"/>
                </a:solidFill>
                <a:latin typeface="Trebuchet MS" pitchFamily="34" charset="0"/>
                <a:ea typeface="Trebuchet MS" pitchFamily="34" charset="-122"/>
                <a:cs typeface="Trebuchet MS" pitchFamily="34" charset="-120"/>
              </a:rPr>
              <a:t>Thank You</a:t>
            </a:r>
            <a:endParaRPr lang="en-US" sz="3400" dirty="0"/>
          </a:p>
        </p:txBody>
      </p:sp>
      <p:sp>
        <p:nvSpPr>
          <p:cNvPr id="16" name="Shape 14"/>
          <p:cNvSpPr/>
          <p:nvPr/>
        </p:nvSpPr>
        <p:spPr>
          <a:xfrm>
            <a:off x="5577840" y="1024128"/>
            <a:ext cx="3383280" cy="50292"/>
          </a:xfrm>
          <a:prstGeom prst="rect">
            <a:avLst/>
          </a:prstGeom>
          <a:solidFill>
            <a:srgbClr val="D4A017"/>
          </a:solidFill>
          <a:ln w="12700">
            <a:solidFill>
              <a:srgbClr val="D4A017"/>
            </a:solidFill>
            <a:prstDash val="solid"/>
          </a:ln>
        </p:spPr>
      </p:sp>
      <p:sp>
        <p:nvSpPr>
          <p:cNvPr id="17" name="Shape 15"/>
          <p:cNvSpPr/>
          <p:nvPr/>
        </p:nvSpPr>
        <p:spPr>
          <a:xfrm>
            <a:off x="5577840" y="1133856"/>
            <a:ext cx="3383280" cy="1572768"/>
          </a:xfrm>
          <a:prstGeom prst="rect">
            <a:avLst/>
          </a:prstGeom>
          <a:solidFill>
            <a:srgbClr val="0D1929"/>
          </a:solidFill>
          <a:ln w="12700">
            <a:solidFill>
              <a:srgbClr val="3D5A8A"/>
            </a:solidFill>
            <a:prstDash val="solid"/>
          </a:ln>
        </p:spPr>
      </p:sp>
      <p:sp>
        <p:nvSpPr>
          <p:cNvPr id="18" name="Text 16"/>
          <p:cNvSpPr/>
          <p:nvPr/>
        </p:nvSpPr>
        <p:spPr>
          <a:xfrm>
            <a:off x="5715000" y="1170432"/>
            <a:ext cx="3154680" cy="1508760"/>
          </a:xfrm>
          <a:prstGeom prst="rect">
            <a:avLst/>
          </a:prstGeom>
          <a:noFill/>
          <a:ln/>
        </p:spPr>
        <p:txBody>
          <a:bodyPr wrap="square" rtlCol="0" anchor="t"/>
          <a:lstStyle/>
          <a:p>
            <a:pPr marL="0" indent="0" algn="l">
              <a:buNone/>
            </a:pPr>
            <a:r>
              <a:rPr lang="en-US" sz="1300" b="1" dirty="0">
                <a:solidFill>
                  <a:srgbClr val="D4A017"/>
                </a:solidFill>
              </a:rPr>
              <a:t>Team ByteMe</a:t>
            </a:r>
            <a:endParaRPr lang="en-US" sz="1300" dirty="0"/>
          </a:p>
          <a:p>
            <a:pPr marL="0" indent="0" algn="l">
              <a:buNone/>
            </a:pPr>
            <a:r>
              <a:rPr lang="en-US" sz="1000" dirty="0">
                <a:solidFill>
                  <a:srgbClr val="FFFFFF"/>
                </a:solidFill>
              </a:rPr>
              <a:t>Honey Thet Htar Zin</a:t>
            </a:r>
            <a:endParaRPr lang="en-US" sz="1300" dirty="0"/>
          </a:p>
          <a:p>
            <a:pPr marL="0" indent="0" algn="l">
              <a:buNone/>
            </a:pPr>
            <a:r>
              <a:rPr lang="en-US" sz="850" dirty="0">
                <a:solidFill>
                  <a:srgbClr val="94A3B8"/>
                </a:solidFill>
              </a:rPr>
              <a:t>honeyzin513@gmail.com</a:t>
            </a:r>
            <a:endParaRPr lang="en-US" sz="1300" dirty="0"/>
          </a:p>
          <a:p>
            <a:pPr marL="0" indent="0" algn="l">
              <a:buNone/>
            </a:pPr>
            <a:r>
              <a:rPr lang="en-US" sz="1000" dirty="0">
                <a:solidFill>
                  <a:srgbClr val="FFFFFF"/>
                </a:solidFill>
              </a:rPr>
              <a:t>Sitt Min Thar</a:t>
            </a:r>
            <a:endParaRPr lang="en-US" sz="1300" dirty="0"/>
          </a:p>
          <a:p>
            <a:pPr marL="0" indent="0" algn="l">
              <a:buNone/>
            </a:pPr>
            <a:r>
              <a:rPr lang="en-US" sz="850" dirty="0">
                <a:solidFill>
                  <a:srgbClr val="94A3B8"/>
                </a:solidFill>
              </a:rPr>
              <a:t>sittminthar005@gmail.com</a:t>
            </a:r>
            <a:endParaRPr lang="en-US" sz="1300" dirty="0"/>
          </a:p>
          <a:p>
            <a:pPr marL="0" indent="0" algn="l">
              <a:buNone/>
            </a:pPr>
            <a:r>
              <a:rPr lang="en-US" sz="1000" dirty="0">
                <a:solidFill>
                  <a:srgbClr val="FFFFFF"/>
                </a:solidFill>
              </a:rPr>
              <a:t>Thu Htet Naing</a:t>
            </a:r>
            <a:endParaRPr lang="en-US" sz="1300" dirty="0"/>
          </a:p>
          <a:p>
            <a:pPr marL="0" indent="0" algn="l">
              <a:buNone/>
            </a:pPr>
            <a:r>
              <a:rPr lang="en-US" sz="850" dirty="0">
                <a:solidFill>
                  <a:srgbClr val="94A3B8"/>
                </a:solidFill>
              </a:rPr>
              <a:t>kukue014@gmail.com</a:t>
            </a:r>
            <a:endParaRPr lang="en-US" sz="1300" dirty="0"/>
          </a:p>
        </p:txBody>
      </p:sp>
      <p:sp>
        <p:nvSpPr>
          <p:cNvPr id="19" name="Shape 17"/>
          <p:cNvSpPr/>
          <p:nvPr/>
        </p:nvSpPr>
        <p:spPr>
          <a:xfrm>
            <a:off x="5577840" y="2834640"/>
            <a:ext cx="3383280" cy="1993392"/>
          </a:xfrm>
          <a:prstGeom prst="rect">
            <a:avLst/>
          </a:prstGeom>
          <a:solidFill>
            <a:srgbClr val="D4A017"/>
          </a:solidFill>
          <a:ln w="12700">
            <a:solidFill>
              <a:srgbClr val="D4A017"/>
            </a:solidFill>
            <a:prstDash val="solid"/>
          </a:ln>
        </p:spPr>
      </p:sp>
      <p:sp>
        <p:nvSpPr>
          <p:cNvPr id="20" name="Text 18"/>
          <p:cNvSpPr/>
          <p:nvPr/>
        </p:nvSpPr>
        <p:spPr>
          <a:xfrm>
            <a:off x="5669280" y="2944368"/>
            <a:ext cx="3200400" cy="822960"/>
          </a:xfrm>
          <a:prstGeom prst="rect">
            <a:avLst/>
          </a:prstGeom>
          <a:noFill/>
          <a:ln/>
        </p:spPr>
        <p:txBody>
          <a:bodyPr wrap="square" rtlCol="0" anchor="ctr"/>
          <a:lstStyle/>
          <a:p>
            <a:pPr marL="0" indent="0" algn="ctr">
              <a:buNone/>
            </a:pPr>
            <a:r>
              <a:rPr lang="en-US" sz="2400" b="1" dirty="0">
                <a:solidFill>
                  <a:srgbClr val="1B2A4A"/>
                </a:solidFill>
                <a:latin typeface="Trebuchet MS" pitchFamily="34" charset="0"/>
                <a:ea typeface="Trebuchet MS" pitchFamily="34" charset="-122"/>
                <a:cs typeface="Trebuchet MS" pitchFamily="34" charset="-120"/>
              </a:rPr>
              <a:t>Questions &amp;</a:t>
            </a:r>
            <a:endParaRPr lang="en-US" sz="2400" dirty="0"/>
          </a:p>
          <a:p>
            <a:pPr marL="0" indent="0" algn="ctr">
              <a:buNone/>
            </a:pPr>
            <a:r>
              <a:rPr lang="en-US" sz="2400" b="1" dirty="0">
                <a:solidFill>
                  <a:srgbClr val="1B2A4A"/>
                </a:solidFill>
                <a:latin typeface="Trebuchet MS" pitchFamily="34" charset="0"/>
                <a:ea typeface="Trebuchet MS" pitchFamily="34" charset="-122"/>
                <a:cs typeface="Trebuchet MS" pitchFamily="34" charset="-120"/>
              </a:rPr>
              <a:t>Discussion</a:t>
            </a:r>
            <a:endParaRPr lang="en-US" sz="2400" dirty="0"/>
          </a:p>
        </p:txBody>
      </p:sp>
      <p:sp>
        <p:nvSpPr>
          <p:cNvPr id="21" name="Text 19"/>
          <p:cNvSpPr/>
          <p:nvPr/>
        </p:nvSpPr>
        <p:spPr>
          <a:xfrm>
            <a:off x="5669280" y="3822192"/>
            <a:ext cx="3200400" cy="868680"/>
          </a:xfrm>
          <a:prstGeom prst="rect">
            <a:avLst/>
          </a:prstGeom>
          <a:noFill/>
          <a:ln/>
        </p:spPr>
        <p:txBody>
          <a:bodyPr wrap="square" rtlCol="0" anchor="ctr"/>
          <a:lstStyle/>
          <a:p>
            <a:pPr marL="0" indent="0" algn="ctr">
              <a:buNone/>
            </a:pPr>
            <a:r>
              <a:rPr lang="en-US" sz="950" b="1" dirty="0">
                <a:solidFill>
                  <a:srgbClr val="1B2A4A"/>
                </a:solidFill>
              </a:rPr>
              <a:t>Saigon Business School</a:t>
            </a:r>
            <a:endParaRPr lang="en-US" sz="950" dirty="0"/>
          </a:p>
          <a:p>
            <a:pPr marL="0" indent="0" algn="ctr">
              <a:buNone/>
            </a:pPr>
            <a:r>
              <a:rPr lang="en-US" sz="950" dirty="0">
                <a:solidFill>
                  <a:srgbClr val="1B2A4A"/>
                </a:solidFill>
              </a:rPr>
              <a:t>Management Track  ·  April 2026</a:t>
            </a:r>
            <a:endParaRPr lang="en-US" sz="950" dirty="0"/>
          </a:p>
          <a:p>
            <a:pPr marL="0" indent="0" algn="ctr">
              <a:buNone/>
            </a:pPr>
            <a:r>
              <a:rPr lang="en-US" sz="800" dirty="0">
                <a:solidFill>
                  <a:srgbClr val="1B2A4A"/>
                </a:solidFill>
              </a:rPr>
              <a:t>LightGBM · Transfer Learning · Proxy Yield · SE Asia 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5033</Words>
  <Application>Microsoft Macintosh PowerPoint</Application>
  <PresentationFormat>On-screen Show (16:9)</PresentationFormat>
  <Paragraphs>431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the Data Void</dc:title>
  <dc:subject>PptxGenJS Presentation</dc:subject>
  <dc:creator>Team ByteMe</dc:creator>
  <cp:lastModifiedBy>M2</cp:lastModifiedBy>
  <cp:revision>3</cp:revision>
  <dcterms:created xsi:type="dcterms:W3CDTF">2026-04-17T09:24:18Z</dcterms:created>
  <dcterms:modified xsi:type="dcterms:W3CDTF">2026-04-17T10:11:26Z</dcterms:modified>
</cp:coreProperties>
</file>